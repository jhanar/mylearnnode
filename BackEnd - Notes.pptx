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80" r:id="rId5"/>
    <p:sldId id="301" r:id="rId6"/>
    <p:sldId id="307" r:id="rId7"/>
    <p:sldId id="308" r:id="rId8"/>
    <p:sldId id="281" r:id="rId9"/>
    <p:sldId id="282" r:id="rId10"/>
    <p:sldId id="283" r:id="rId11"/>
    <p:sldId id="284" r:id="rId12"/>
    <p:sldId id="285" r:id="rId13"/>
    <p:sldId id="288" r:id="rId14"/>
    <p:sldId id="286" r:id="rId15"/>
    <p:sldId id="287" r:id="rId16"/>
    <p:sldId id="303" r:id="rId17"/>
    <p:sldId id="289" r:id="rId18"/>
    <p:sldId id="302" r:id="rId19"/>
    <p:sldId id="304" r:id="rId20"/>
    <p:sldId id="305" r:id="rId21"/>
    <p:sldId id="306" r:id="rId22"/>
    <p:sldId id="310" r:id="rId23"/>
    <p:sldId id="311" r:id="rId24"/>
    <p:sldId id="299" r:id="rId25"/>
    <p:sldId id="300" r:id="rId26"/>
    <p:sldId id="309" r:id="rId27"/>
    <p:sldId id="291" r:id="rId28"/>
    <p:sldId id="295" r:id="rId29"/>
    <p:sldId id="297" r:id="rId30"/>
    <p:sldId id="293" r:id="rId31"/>
    <p:sldId id="29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8BC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902981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06277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64205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5774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11/17/2025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0315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11/17/2025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34334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11/17/2025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51585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058149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11/17/2025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2512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19809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68192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520980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06324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11/17/2025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97586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11/17/2025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2545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11/17/2025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01274407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hyperlink" Target="http://localhost:5000/home" TargetMode="Externa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6" name="Picture 5" descr="A picture containing large, sitting, white, numbers">
            <a:extLst>
              <a:ext uri="{FF2B5EF4-FFF2-40B4-BE49-F238E27FC236}">
                <a16:creationId xmlns:a16="http://schemas.microsoft.com/office/drawing/2014/main" id="{9A5D9ED1-DFCC-4799-89E2-D118451B98DF}"/>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322" y="0"/>
            <a:ext cx="12191356" cy="6858000"/>
          </a:xfrm>
          <a:prstGeom prst="rect">
            <a:avLst/>
          </a:prstGeom>
        </p:spPr>
      </p:pic>
      <p:sp useBgFill="1">
        <p:nvSpPr>
          <p:cNvPr id="96"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Nova"/>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a:bodyPr>
          <a:lstStyle/>
          <a:p>
            <a:pPr algn="l"/>
            <a:r>
              <a:rPr lang="en-US" sz="4000" dirty="0" err="1"/>
              <a:t>BackEnd</a:t>
            </a:r>
            <a:endParaRPr lang="en-US" sz="4000" dirty="0"/>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097306" y="4157933"/>
            <a:ext cx="4100417" cy="1026544"/>
          </a:xfrm>
        </p:spPr>
        <p:txBody>
          <a:bodyPr>
            <a:normAutofit/>
          </a:bodyPr>
          <a:lstStyle/>
          <a:p>
            <a:pPr algn="l"/>
            <a:r>
              <a:rPr lang="en-US" dirty="0" err="1">
                <a:solidFill>
                  <a:srgbClr val="5792BA"/>
                </a:solidFill>
              </a:rPr>
              <a:t>NodeJs</a:t>
            </a:r>
            <a:r>
              <a:rPr lang="en-US" dirty="0">
                <a:solidFill>
                  <a:srgbClr val="5792BA"/>
                </a:solidFill>
              </a:rPr>
              <a:t>, </a:t>
            </a:r>
            <a:r>
              <a:rPr lang="en-US" dirty="0" err="1">
                <a:solidFill>
                  <a:srgbClr val="5792BA"/>
                </a:solidFill>
              </a:rPr>
              <a:t>ExpressJs</a:t>
            </a:r>
            <a:r>
              <a:rPr lang="en-US" dirty="0">
                <a:solidFill>
                  <a:srgbClr val="5792BA"/>
                </a:solidFill>
              </a:rPr>
              <a:t>, MongoDB</a:t>
            </a:r>
            <a:endParaRPr lang="en-US" sz="2300" dirty="0">
              <a:solidFill>
                <a:srgbClr val="5792BA"/>
              </a:solidFill>
            </a:endParaRPr>
          </a:p>
        </p:txBody>
      </p:sp>
    </p:spTree>
    <p:extLst>
      <p:ext uri="{BB962C8B-B14F-4D97-AF65-F5344CB8AC3E}">
        <p14:creationId xmlns:p14="http://schemas.microsoft.com/office/powerpoint/2010/main" val="1583120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C1566-0F87-EF5C-FF27-B9E2A265C1CA}"/>
              </a:ext>
            </a:extLst>
          </p:cNvPr>
          <p:cNvSpPr>
            <a:spLocks noGrp="1"/>
          </p:cNvSpPr>
          <p:nvPr>
            <p:ph type="title"/>
          </p:nvPr>
        </p:nvSpPr>
        <p:spPr>
          <a:xfrm>
            <a:off x="0" y="0"/>
            <a:ext cx="11267557" cy="1866900"/>
          </a:xfrm>
        </p:spPr>
        <p:txBody>
          <a:bodyPr anchor="t">
            <a:normAutofit/>
          </a:bodyPr>
          <a:lstStyle/>
          <a:p>
            <a:pPr algn="l"/>
            <a:r>
              <a:rPr lang="en-IN" sz="2800" dirty="0"/>
              <a:t>What is Node JS</a:t>
            </a:r>
          </a:p>
        </p:txBody>
      </p:sp>
      <p:sp>
        <p:nvSpPr>
          <p:cNvPr id="3" name="Content Placeholder 2">
            <a:extLst>
              <a:ext uri="{FF2B5EF4-FFF2-40B4-BE49-F238E27FC236}">
                <a16:creationId xmlns:a16="http://schemas.microsoft.com/office/drawing/2014/main" id="{419B829C-D4D0-FBDF-5098-B72B7A32C0E3}"/>
              </a:ext>
            </a:extLst>
          </p:cNvPr>
          <p:cNvSpPr>
            <a:spLocks noGrp="1"/>
          </p:cNvSpPr>
          <p:nvPr>
            <p:ph idx="1"/>
          </p:nvPr>
        </p:nvSpPr>
        <p:spPr>
          <a:xfrm>
            <a:off x="0" y="688368"/>
            <a:ext cx="12191999" cy="6169631"/>
          </a:xfrm>
        </p:spPr>
        <p:txBody>
          <a:bodyPr>
            <a:normAutofit lnSpcReduction="10000"/>
          </a:bodyPr>
          <a:lstStyle/>
          <a:p>
            <a:r>
              <a:rPr lang="en-IN" sz="2000" dirty="0">
                <a:solidFill>
                  <a:schemeClr val="accent6">
                    <a:lumMod val="40000"/>
                    <a:lumOff val="60000"/>
                  </a:schemeClr>
                </a:solidFill>
              </a:rPr>
              <a:t>Node JS is </a:t>
            </a:r>
            <a:r>
              <a:rPr lang="en-IN" sz="2000" dirty="0">
                <a:solidFill>
                  <a:srgbClr val="FFFF00"/>
                </a:solidFill>
              </a:rPr>
              <a:t>Free, open source</a:t>
            </a:r>
            <a:r>
              <a:rPr lang="en-IN" sz="2000" dirty="0">
                <a:solidFill>
                  <a:schemeClr val="accent6">
                    <a:lumMod val="40000"/>
                    <a:lumOff val="60000"/>
                  </a:schemeClr>
                </a:solidFill>
              </a:rPr>
              <a:t>, </a:t>
            </a:r>
            <a:r>
              <a:rPr lang="en-IN" sz="2000" dirty="0">
                <a:solidFill>
                  <a:srgbClr val="FFFF00"/>
                </a:solidFill>
              </a:rPr>
              <a:t>cross platform</a:t>
            </a:r>
            <a:r>
              <a:rPr lang="en-IN" sz="2000" dirty="0">
                <a:solidFill>
                  <a:schemeClr val="accent6">
                    <a:lumMod val="40000"/>
                    <a:lumOff val="60000"/>
                  </a:schemeClr>
                </a:solidFill>
              </a:rPr>
              <a:t>, </a:t>
            </a:r>
            <a:r>
              <a:rPr lang="en-IN" sz="2000" dirty="0">
                <a:solidFill>
                  <a:srgbClr val="FFFF00"/>
                </a:solidFill>
              </a:rPr>
              <a:t>JavaScript runtime Environment</a:t>
            </a:r>
            <a:r>
              <a:rPr lang="en-IN" sz="2000" dirty="0">
                <a:solidFill>
                  <a:schemeClr val="accent6">
                    <a:lumMod val="40000"/>
                    <a:lumOff val="60000"/>
                  </a:schemeClr>
                </a:solidFill>
              </a:rPr>
              <a:t>.</a:t>
            </a:r>
          </a:p>
          <a:p>
            <a:pPr marL="36900" indent="0">
              <a:buNone/>
            </a:pPr>
            <a:r>
              <a:rPr lang="en-IN" sz="2000" b="1" dirty="0">
                <a:solidFill>
                  <a:srgbClr val="F8BCF1"/>
                </a:solidFill>
              </a:rPr>
              <a:t>Free: </a:t>
            </a:r>
            <a:r>
              <a:rPr lang="en-US" sz="2000" b="1" dirty="0">
                <a:solidFill>
                  <a:schemeClr val="bg2">
                    <a:lumMod val="40000"/>
                    <a:lumOff val="60000"/>
                  </a:schemeClr>
                </a:solidFill>
              </a:rPr>
              <a:t>Node.js is completely free to use. There is no need to purchase any license or subscription.</a:t>
            </a:r>
          </a:p>
          <a:p>
            <a:pPr marL="36900" indent="0">
              <a:buNone/>
            </a:pPr>
            <a:r>
              <a:rPr lang="en-IN" sz="2000" b="1" dirty="0">
                <a:solidFill>
                  <a:srgbClr val="F8BCF1"/>
                </a:solidFill>
              </a:rPr>
              <a:t>Open Source: </a:t>
            </a:r>
            <a:r>
              <a:rPr lang="en-US" sz="2000" b="1" dirty="0">
                <a:solidFill>
                  <a:schemeClr val="bg2">
                    <a:lumMod val="40000"/>
                    <a:lumOff val="60000"/>
                  </a:schemeClr>
                </a:solidFill>
              </a:rPr>
              <a:t>The entire source code of Node.js is publicly available. Developers can view, modify, or use it based on their needs.</a:t>
            </a:r>
            <a:endParaRPr lang="en-IN" sz="2000" b="1" dirty="0">
              <a:solidFill>
                <a:schemeClr val="bg2">
                  <a:lumMod val="40000"/>
                  <a:lumOff val="60000"/>
                </a:schemeClr>
              </a:solidFill>
            </a:endParaRPr>
          </a:p>
          <a:p>
            <a:pPr marL="36900" indent="0">
              <a:buNone/>
            </a:pPr>
            <a:r>
              <a:rPr lang="en-IN" sz="2000" b="1" dirty="0">
                <a:solidFill>
                  <a:srgbClr val="F8BCF1"/>
                </a:solidFill>
              </a:rPr>
              <a:t>Cross platform: </a:t>
            </a:r>
            <a:r>
              <a:rPr lang="en-IN" sz="2000" b="1" dirty="0">
                <a:solidFill>
                  <a:schemeClr val="bg2">
                    <a:lumMod val="40000"/>
                    <a:lumOff val="60000"/>
                  </a:schemeClr>
                </a:solidFill>
              </a:rPr>
              <a:t>It </a:t>
            </a:r>
            <a:r>
              <a:rPr lang="en-US" sz="2000" b="1" dirty="0">
                <a:solidFill>
                  <a:schemeClr val="bg2">
                    <a:lumMod val="40000"/>
                    <a:lumOff val="60000"/>
                  </a:schemeClr>
                </a:solidFill>
              </a:rPr>
              <a:t>Node.js can run on multiple operating systems such as Linux, Windows, and macOS.</a:t>
            </a:r>
          </a:p>
          <a:p>
            <a:pPr marL="36900" indent="0">
              <a:buNone/>
            </a:pPr>
            <a:r>
              <a:rPr lang="en-IN" sz="2000" b="1" dirty="0">
                <a:solidFill>
                  <a:srgbClr val="F8BCF1"/>
                </a:solidFill>
              </a:rPr>
              <a:t>JavaScript runtime Environment: </a:t>
            </a:r>
            <a:r>
              <a:rPr lang="en-US" sz="2000" b="1" dirty="0">
                <a:solidFill>
                  <a:schemeClr val="bg2">
                    <a:lumMod val="40000"/>
                    <a:lumOff val="60000"/>
                  </a:schemeClr>
                </a:solidFill>
              </a:rPr>
              <a:t>Node.js uses the V8 engine to execute JavaScript outside the browser. It also offers many built-in functions in the form of</a:t>
            </a:r>
            <a:r>
              <a:rPr lang="en-IN" sz="2000" b="1" dirty="0">
                <a:solidFill>
                  <a:schemeClr val="bg2">
                    <a:lumMod val="40000"/>
                    <a:lumOff val="60000"/>
                  </a:schemeClr>
                </a:solidFill>
              </a:rPr>
              <a:t> </a:t>
            </a:r>
            <a:r>
              <a:rPr lang="en-IN" sz="2000" dirty="0">
                <a:solidFill>
                  <a:srgbClr val="FFFF00"/>
                </a:solidFill>
              </a:rPr>
              <a:t>Modules.</a:t>
            </a:r>
          </a:p>
          <a:p>
            <a:pPr marL="36900" indent="0">
              <a:buNone/>
            </a:pPr>
            <a:r>
              <a:rPr lang="en-US" sz="2000" b="1" dirty="0"/>
              <a:t>		</a:t>
            </a:r>
            <a:r>
              <a:rPr lang="en-US" sz="2000" dirty="0">
                <a:solidFill>
                  <a:schemeClr val="accent2">
                    <a:lumMod val="60000"/>
                    <a:lumOff val="40000"/>
                  </a:schemeClr>
                </a:solidFill>
              </a:rPr>
              <a:t>Note: JavaScript handles both business logic and system-level logic (dealing with system 	</a:t>
            </a:r>
            <a:r>
              <a:rPr lang="en-US" sz="2000" dirty="0"/>
              <a:t>			                 </a:t>
            </a:r>
            <a:r>
              <a:rPr lang="en-US" sz="2000" dirty="0">
                <a:solidFill>
                  <a:schemeClr val="accent2">
                    <a:lumMod val="60000"/>
                    <a:lumOff val="40000"/>
                  </a:schemeClr>
                </a:solidFill>
              </a:rPr>
              <a:t>components), which is why it is used on the backend.</a:t>
            </a:r>
          </a:p>
          <a:p>
            <a:pPr marL="36900" indent="0">
              <a:buNone/>
            </a:pPr>
            <a:r>
              <a:rPr lang="en-IN" sz="2000" dirty="0">
                <a:solidFill>
                  <a:srgbClr val="FFFF00"/>
                </a:solidFill>
              </a:rPr>
              <a:t>Inbuilt Modules: </a:t>
            </a:r>
            <a:r>
              <a:rPr lang="en-IN" sz="2000" dirty="0">
                <a:solidFill>
                  <a:schemeClr val="bg2">
                    <a:lumMod val="40000"/>
                    <a:lumOff val="60000"/>
                  </a:schemeClr>
                </a:solidFill>
              </a:rPr>
              <a:t>JS file which contains predefined functions, classes, objects.</a:t>
            </a:r>
          </a:p>
          <a:p>
            <a:pPr marL="36900" indent="0">
              <a:buNone/>
            </a:pPr>
            <a:r>
              <a:rPr lang="en-US" sz="2000" dirty="0">
                <a:solidFill>
                  <a:srgbClr val="FFFF00"/>
                </a:solidFill>
              </a:rPr>
              <a:t>Custom Modules: </a:t>
            </a:r>
            <a:r>
              <a:rPr lang="en-US" sz="2000" dirty="0">
                <a:solidFill>
                  <a:schemeClr val="bg2">
                    <a:lumMod val="40000"/>
                    <a:lumOff val="60000"/>
                  </a:schemeClr>
                </a:solidFill>
              </a:rPr>
              <a:t>Third party modules or packages.(Mongo, </a:t>
            </a:r>
            <a:r>
              <a:rPr lang="en-US" sz="2000" dirty="0" err="1">
                <a:solidFill>
                  <a:schemeClr val="bg2">
                    <a:lumMod val="40000"/>
                    <a:lumOff val="60000"/>
                  </a:schemeClr>
                </a:solidFill>
              </a:rPr>
              <a:t>axios</a:t>
            </a:r>
            <a:r>
              <a:rPr lang="en-US" sz="2000" dirty="0">
                <a:solidFill>
                  <a:schemeClr val="bg2">
                    <a:lumMod val="40000"/>
                    <a:lumOff val="60000"/>
                  </a:schemeClr>
                </a:solidFill>
              </a:rPr>
              <a:t>, Mongo, jsonWebtoken) under </a:t>
            </a:r>
            <a:r>
              <a:rPr lang="en-US" sz="2000" dirty="0" err="1">
                <a:solidFill>
                  <a:schemeClr val="bg2">
                    <a:lumMod val="40000"/>
                    <a:lumOff val="60000"/>
                  </a:schemeClr>
                </a:solidFill>
              </a:rPr>
              <a:t>npm</a:t>
            </a:r>
            <a:r>
              <a:rPr lang="en-US" sz="2000" dirty="0">
                <a:solidFill>
                  <a:schemeClr val="bg2">
                    <a:lumMod val="40000"/>
                    <a:lumOff val="60000"/>
                  </a:schemeClr>
                </a:solidFill>
              </a:rPr>
              <a:t> registry</a:t>
            </a:r>
          </a:p>
          <a:p>
            <a:pPr marL="36900" indent="0">
              <a:lnSpc>
                <a:spcPct val="90000"/>
              </a:lnSpc>
              <a:spcBef>
                <a:spcPct val="0"/>
              </a:spcBef>
              <a:buNone/>
            </a:pPr>
            <a:r>
              <a:rPr lang="en-IN" sz="2800" dirty="0">
                <a:latin typeface="+mj-lt"/>
                <a:ea typeface="+mj-ea"/>
              </a:rPr>
              <a:t>Purpose of NODE JS:</a:t>
            </a:r>
          </a:p>
          <a:p>
            <a:pPr marL="36900" indent="0">
              <a:lnSpc>
                <a:spcPct val="90000"/>
              </a:lnSpc>
              <a:spcBef>
                <a:spcPct val="0"/>
              </a:spcBef>
              <a:buNone/>
            </a:pPr>
            <a:r>
              <a:rPr lang="en-IN" sz="2800" dirty="0">
                <a:solidFill>
                  <a:schemeClr val="accent1">
                    <a:lumMod val="60000"/>
                    <a:lumOff val="40000"/>
                  </a:schemeClr>
                </a:solidFill>
                <a:latin typeface="+mj-lt"/>
                <a:ea typeface="+mj-ea"/>
              </a:rPr>
              <a:t>	</a:t>
            </a:r>
            <a:r>
              <a:rPr lang="en-IN" sz="2000" b="1" dirty="0">
                <a:solidFill>
                  <a:schemeClr val="accent1">
                    <a:lumMod val="60000"/>
                    <a:lumOff val="40000"/>
                  </a:schemeClr>
                </a:solidFill>
              </a:rPr>
              <a:t>It is used to create backend of web app, rest Api's, Web server, scripts to automate process.</a:t>
            </a:r>
          </a:p>
          <a:p>
            <a:pPr marL="36900" indent="0">
              <a:buNone/>
            </a:pPr>
            <a:endParaRPr lang="en-IN" dirty="0">
              <a:solidFill>
                <a:schemeClr val="bg2">
                  <a:lumMod val="60000"/>
                  <a:lumOff val="40000"/>
                </a:schemeClr>
              </a:solidFill>
            </a:endParaRPr>
          </a:p>
        </p:txBody>
      </p:sp>
    </p:spTree>
    <p:extLst>
      <p:ext uri="{BB962C8B-B14F-4D97-AF65-F5344CB8AC3E}">
        <p14:creationId xmlns:p14="http://schemas.microsoft.com/office/powerpoint/2010/main" val="1567991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7648AD-DF64-A696-B7CE-0AA766204CBA}"/>
              </a:ext>
            </a:extLst>
          </p:cNvPr>
          <p:cNvSpPr>
            <a:spLocks noGrp="1"/>
          </p:cNvSpPr>
          <p:nvPr>
            <p:ph idx="1"/>
          </p:nvPr>
        </p:nvSpPr>
        <p:spPr>
          <a:xfrm>
            <a:off x="0" y="0"/>
            <a:ext cx="12287892" cy="6744984"/>
          </a:xfrm>
        </p:spPr>
        <p:txBody>
          <a:bodyPr>
            <a:normAutofit/>
          </a:bodyPr>
          <a:lstStyle/>
          <a:p>
            <a:pPr marL="36900" indent="0">
              <a:buNone/>
            </a:pPr>
            <a:r>
              <a:rPr lang="en-IN" b="1" dirty="0">
                <a:effectLst/>
              </a:rPr>
              <a:t>Real-Time Examples </a:t>
            </a:r>
          </a:p>
          <a:p>
            <a:pPr marL="36900" indent="0">
              <a:buNone/>
            </a:pPr>
            <a:r>
              <a:rPr lang="en-IN" sz="2000" b="1" dirty="0">
                <a:solidFill>
                  <a:schemeClr val="accent2">
                    <a:lumMod val="60000"/>
                    <a:lumOff val="40000"/>
                  </a:schemeClr>
                </a:solidFill>
                <a:effectLst/>
              </a:rPr>
              <a:t>Instagram (Social Media):</a:t>
            </a:r>
            <a:endParaRPr lang="en-IN" sz="2000" dirty="0">
              <a:solidFill>
                <a:schemeClr val="accent2">
                  <a:lumMod val="60000"/>
                  <a:lumOff val="40000"/>
                </a:schemeClr>
              </a:solidFill>
              <a:effectLst/>
            </a:endParaRPr>
          </a:p>
          <a:p>
            <a:pPr lvl="0"/>
            <a:r>
              <a:rPr lang="en-IN" sz="2000" dirty="0">
                <a:effectLst/>
              </a:rPr>
              <a:t>post: Creating a new post</a:t>
            </a:r>
          </a:p>
          <a:p>
            <a:pPr lvl="0"/>
            <a:r>
              <a:rPr lang="en-IN" sz="2000" dirty="0">
                <a:effectLst/>
              </a:rPr>
              <a:t>comment: Adding comments on posts</a:t>
            </a:r>
          </a:p>
          <a:p>
            <a:pPr lvl="0"/>
            <a:r>
              <a:rPr lang="en-IN" sz="2000" dirty="0">
                <a:effectLst/>
              </a:rPr>
              <a:t>like/dislike: Reacting to posts</a:t>
            </a:r>
          </a:p>
          <a:p>
            <a:pPr lvl="0"/>
            <a:r>
              <a:rPr lang="en-IN" sz="2000" dirty="0">
                <a:effectLst/>
              </a:rPr>
              <a:t>follow: Connecting with other users</a:t>
            </a:r>
          </a:p>
          <a:p>
            <a:r>
              <a:rPr lang="en-IN" sz="2000" dirty="0">
                <a:effectLst/>
              </a:rPr>
              <a:t>All of these involve </a:t>
            </a:r>
            <a:r>
              <a:rPr lang="en-IN" sz="2000" b="1" dirty="0">
                <a:effectLst/>
              </a:rPr>
              <a:t>server-side processing</a:t>
            </a:r>
            <a:r>
              <a:rPr lang="en-IN" sz="2000" dirty="0">
                <a:effectLst/>
              </a:rPr>
              <a:t>, storing in databases, and applying logic (e.g., one user can’t follow themselves, etc.)</a:t>
            </a:r>
          </a:p>
          <a:p>
            <a:pPr marL="36900" indent="0">
              <a:buNone/>
            </a:pPr>
            <a:r>
              <a:rPr lang="en-IN" sz="2000" b="1" dirty="0">
                <a:solidFill>
                  <a:schemeClr val="accent2">
                    <a:lumMod val="60000"/>
                    <a:lumOff val="40000"/>
                  </a:schemeClr>
                </a:solidFill>
                <a:effectLst/>
              </a:rPr>
              <a:t>Flipkart (E-Commerce):</a:t>
            </a:r>
            <a:endParaRPr lang="en-IN" sz="2000" dirty="0">
              <a:solidFill>
                <a:schemeClr val="accent2">
                  <a:lumMod val="60000"/>
                  <a:lumOff val="40000"/>
                </a:schemeClr>
              </a:solidFill>
              <a:effectLst/>
            </a:endParaRPr>
          </a:p>
          <a:p>
            <a:pPr lvl="0"/>
            <a:r>
              <a:rPr lang="en-IN" sz="2000" dirty="0">
                <a:effectLst/>
              </a:rPr>
              <a:t>payment: Handling secure transactions</a:t>
            </a:r>
          </a:p>
          <a:p>
            <a:pPr lvl="0"/>
            <a:r>
              <a:rPr lang="en-IN" sz="2000" dirty="0">
                <a:effectLst/>
              </a:rPr>
              <a:t>filters, sort: Business logic for displaying products</a:t>
            </a:r>
          </a:p>
          <a:p>
            <a:pPr lvl="0"/>
            <a:r>
              <a:rPr lang="en-IN" sz="2000" dirty="0">
                <a:effectLst/>
              </a:rPr>
              <a:t>PD (Product Details): Backend fetches product info</a:t>
            </a:r>
          </a:p>
          <a:p>
            <a:pPr lvl="0"/>
            <a:r>
              <a:rPr lang="en-IN" sz="2000" dirty="0">
                <a:effectLst/>
              </a:rPr>
              <a:t>orders: Creating and managing user orders</a:t>
            </a:r>
          </a:p>
          <a:p>
            <a:pPr marL="36900" indent="0">
              <a:buNone/>
            </a:pPr>
            <a:endParaRPr lang="en-IN" dirty="0"/>
          </a:p>
        </p:txBody>
      </p:sp>
    </p:spTree>
    <p:extLst>
      <p:ext uri="{BB962C8B-B14F-4D97-AF65-F5344CB8AC3E}">
        <p14:creationId xmlns:p14="http://schemas.microsoft.com/office/powerpoint/2010/main" val="2439388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7D6F3E-511D-BC31-945B-85E15EF29B22}"/>
              </a:ext>
            </a:extLst>
          </p:cNvPr>
          <p:cNvSpPr>
            <a:spLocks noGrp="1"/>
          </p:cNvSpPr>
          <p:nvPr>
            <p:ph idx="1"/>
          </p:nvPr>
        </p:nvSpPr>
        <p:spPr>
          <a:xfrm>
            <a:off x="0" y="195210"/>
            <a:ext cx="12192000" cy="6662790"/>
          </a:xfrm>
        </p:spPr>
        <p:txBody>
          <a:bodyPr>
            <a:normAutofit fontScale="77500" lnSpcReduction="20000"/>
          </a:bodyPr>
          <a:lstStyle/>
          <a:p>
            <a:r>
              <a:rPr lang="en-IN" sz="2100" b="1" dirty="0">
                <a:effectLst/>
              </a:rPr>
              <a:t>For installation:</a:t>
            </a:r>
            <a:r>
              <a:rPr lang="en-IN" sz="2100" dirty="0">
                <a:effectLst/>
              </a:rPr>
              <a:t> </a:t>
            </a:r>
            <a:r>
              <a:rPr lang="en-IN" sz="2100" dirty="0" err="1">
                <a:effectLst/>
              </a:rPr>
              <a:t>npm</a:t>
            </a:r>
            <a:r>
              <a:rPr lang="en-IN" sz="2100" dirty="0">
                <a:effectLst/>
              </a:rPr>
              <a:t> </a:t>
            </a:r>
            <a:r>
              <a:rPr lang="en-IN" sz="2100" dirty="0" err="1">
                <a:effectLst/>
              </a:rPr>
              <a:t>init</a:t>
            </a:r>
            <a:r>
              <a:rPr lang="en-IN" sz="2100" dirty="0">
                <a:effectLst/>
              </a:rPr>
              <a:t>-- (node setup will take place, </a:t>
            </a:r>
            <a:r>
              <a:rPr lang="en-IN" sz="2100" dirty="0" err="1">
                <a:effectLst/>
              </a:rPr>
              <a:t>package.json</a:t>
            </a:r>
            <a:r>
              <a:rPr lang="en-IN" sz="2100" dirty="0">
                <a:effectLst/>
              </a:rPr>
              <a:t> will create)</a:t>
            </a:r>
          </a:p>
          <a:p>
            <a:pPr marL="450000" lvl="1" indent="0">
              <a:buNone/>
            </a:pPr>
            <a:r>
              <a:rPr lang="en-IN" dirty="0"/>
              <a:t>{</a:t>
            </a:r>
          </a:p>
          <a:p>
            <a:pPr marL="450000" lvl="1" indent="0">
              <a:buNone/>
            </a:pPr>
            <a:r>
              <a:rPr lang="en-IN" dirty="0"/>
              <a:t>  "name": "backend",</a:t>
            </a:r>
          </a:p>
          <a:p>
            <a:pPr marL="450000" lvl="1" indent="0">
              <a:buNone/>
            </a:pPr>
            <a:r>
              <a:rPr lang="en-IN" dirty="0"/>
              <a:t>  "version": "1.0.0",</a:t>
            </a:r>
          </a:p>
          <a:p>
            <a:pPr marL="450000" lvl="1" indent="0">
              <a:buNone/>
            </a:pPr>
            <a:r>
              <a:rPr lang="en-IN" dirty="0"/>
              <a:t>  "description": "learning </a:t>
            </a:r>
            <a:r>
              <a:rPr lang="en-IN" dirty="0" err="1"/>
              <a:t>nodejs</a:t>
            </a:r>
            <a:r>
              <a:rPr lang="en-IN" dirty="0"/>
              <a:t>",</a:t>
            </a:r>
          </a:p>
          <a:p>
            <a:pPr marL="450000" lvl="1" indent="0">
              <a:buNone/>
            </a:pPr>
            <a:r>
              <a:rPr lang="en-IN" dirty="0"/>
              <a:t>  "main": "index.js", </a:t>
            </a:r>
            <a:r>
              <a:rPr lang="en-IN" b="1" dirty="0">
                <a:solidFill>
                  <a:srgbClr val="00B0F0"/>
                </a:solidFill>
                <a:effectLst/>
              </a:rPr>
              <a:t>//renamed as server.js, we can modify as per our wish</a:t>
            </a:r>
          </a:p>
          <a:p>
            <a:pPr marL="450000" lvl="1" indent="0">
              <a:buNone/>
            </a:pPr>
            <a:r>
              <a:rPr lang="en-IN" dirty="0"/>
              <a:t>  "scripts": {</a:t>
            </a:r>
          </a:p>
          <a:p>
            <a:pPr marL="450000" lvl="1" indent="0">
              <a:buNone/>
            </a:pPr>
            <a:r>
              <a:rPr lang="en-IN" dirty="0"/>
              <a:t>    "test": "echo \"Error: no test specified\" &amp;&amp; exit 1"</a:t>
            </a:r>
          </a:p>
          <a:p>
            <a:pPr marL="450000" lvl="1" indent="0">
              <a:buNone/>
            </a:pPr>
            <a:r>
              <a:rPr lang="en-IN" dirty="0"/>
              <a:t>  },</a:t>
            </a:r>
          </a:p>
          <a:p>
            <a:pPr marL="450000" lvl="1" indent="0">
              <a:buNone/>
            </a:pPr>
            <a:r>
              <a:rPr lang="en-IN" dirty="0"/>
              <a:t>"repository": {</a:t>
            </a:r>
          </a:p>
          <a:p>
            <a:pPr marL="450000" lvl="1" indent="0">
              <a:buNone/>
            </a:pPr>
            <a:r>
              <a:rPr lang="en-IN" dirty="0"/>
              <a:t>    "type": "git",</a:t>
            </a:r>
          </a:p>
          <a:p>
            <a:pPr marL="450000" lvl="1" indent="0">
              <a:buNone/>
            </a:pPr>
            <a:r>
              <a:rPr lang="en-IN" dirty="0"/>
              <a:t>    "</a:t>
            </a:r>
            <a:r>
              <a:rPr lang="en-IN" dirty="0" err="1"/>
              <a:t>url</a:t>
            </a:r>
            <a:r>
              <a:rPr lang="en-IN" dirty="0"/>
              <a:t>": "</a:t>
            </a:r>
            <a:r>
              <a:rPr lang="en-IN" b="1" dirty="0">
                <a:effectLst/>
              </a:rPr>
              <a:t> </a:t>
            </a:r>
            <a:r>
              <a:rPr lang="en-IN" b="1" dirty="0" err="1">
                <a:effectLst/>
              </a:rPr>
              <a:t>git+https</a:t>
            </a:r>
            <a:r>
              <a:rPr lang="en-IN" b="1" dirty="0">
                <a:effectLst/>
              </a:rPr>
              <a:t>://github.com/</a:t>
            </a:r>
            <a:r>
              <a:rPr lang="en-IN" b="1" dirty="0" err="1">
                <a:effectLst/>
              </a:rPr>
              <a:t>JhanaR</a:t>
            </a:r>
            <a:r>
              <a:rPr lang="en-IN" b="1" dirty="0">
                <a:effectLst/>
              </a:rPr>
              <a:t>/</a:t>
            </a:r>
            <a:r>
              <a:rPr lang="en-IN" b="1" dirty="0" err="1">
                <a:effectLst/>
              </a:rPr>
              <a:t>Node.js_Class.git</a:t>
            </a:r>
            <a:r>
              <a:rPr lang="en-IN" b="1" dirty="0">
                <a:effectLst/>
              </a:rPr>
              <a:t>"</a:t>
            </a:r>
            <a:r>
              <a:rPr lang="en-IN" b="1" dirty="0">
                <a:solidFill>
                  <a:srgbClr val="00B0F0"/>
                </a:solidFill>
                <a:effectLst/>
                <a:sym typeface="Wingdings" panose="05000000000000000000" pitchFamily="2" charset="2"/>
              </a:rPr>
              <a:t> //git hub link</a:t>
            </a:r>
            <a:endParaRPr lang="en-IN" b="1" dirty="0">
              <a:solidFill>
                <a:srgbClr val="00B0F0"/>
              </a:solidFill>
              <a:effectLst/>
            </a:endParaRPr>
          </a:p>
          <a:p>
            <a:pPr marL="450000" lvl="1" indent="0">
              <a:buNone/>
            </a:pPr>
            <a:r>
              <a:rPr lang="en-IN" dirty="0"/>
              <a:t>  },</a:t>
            </a:r>
          </a:p>
          <a:p>
            <a:pPr marL="450000" lvl="1" indent="0">
              <a:buNone/>
            </a:pPr>
            <a:r>
              <a:rPr lang="en-IN" dirty="0"/>
              <a:t>  "author": "jhana",</a:t>
            </a:r>
          </a:p>
          <a:p>
            <a:pPr marL="450000" lvl="1" indent="0">
              <a:buNone/>
            </a:pPr>
            <a:r>
              <a:rPr lang="en-IN" dirty="0"/>
              <a:t>  "license": "ISC",</a:t>
            </a:r>
          </a:p>
          <a:p>
            <a:pPr marL="450000" lvl="1" indent="0">
              <a:buNone/>
            </a:pPr>
            <a:r>
              <a:rPr lang="en-IN" dirty="0"/>
              <a:t>  "dependencies": { </a:t>
            </a:r>
            <a:r>
              <a:rPr lang="en-IN" b="1" dirty="0">
                <a:solidFill>
                  <a:srgbClr val="00B0F0"/>
                </a:solidFill>
                <a:effectLst/>
              </a:rPr>
              <a:t>//</a:t>
            </a:r>
            <a:r>
              <a:rPr lang="en-IN" b="1" dirty="0" err="1">
                <a:solidFill>
                  <a:srgbClr val="00B0F0"/>
                </a:solidFill>
                <a:effectLst/>
              </a:rPr>
              <a:t>npm</a:t>
            </a:r>
            <a:r>
              <a:rPr lang="en-IN" b="1" dirty="0">
                <a:solidFill>
                  <a:srgbClr val="00B0F0"/>
                </a:solidFill>
                <a:effectLst/>
              </a:rPr>
              <a:t> install express, </a:t>
            </a:r>
            <a:r>
              <a:rPr lang="en-IN" b="1" dirty="0" err="1">
                <a:solidFill>
                  <a:srgbClr val="00B0F0"/>
                </a:solidFill>
                <a:effectLst/>
              </a:rPr>
              <a:t>npm</a:t>
            </a:r>
            <a:r>
              <a:rPr lang="en-IN" b="1" dirty="0">
                <a:solidFill>
                  <a:srgbClr val="00B0F0"/>
                </a:solidFill>
                <a:effectLst/>
              </a:rPr>
              <a:t> install mongoose</a:t>
            </a:r>
            <a:endParaRPr lang="en-IN" b="1" dirty="0">
              <a:solidFill>
                <a:srgbClr val="00B0F0"/>
              </a:solidFill>
            </a:endParaRPr>
          </a:p>
          <a:p>
            <a:pPr marL="450000" lvl="1" indent="0">
              <a:buNone/>
            </a:pPr>
            <a:r>
              <a:rPr lang="en-IN" dirty="0"/>
              <a:t>"express": "^5.1.0",</a:t>
            </a:r>
          </a:p>
          <a:p>
            <a:pPr marL="450000" lvl="1" indent="0">
              <a:buNone/>
            </a:pPr>
            <a:r>
              <a:rPr lang="en-IN" dirty="0"/>
              <a:t>    "mongoose": "^8.16.4"</a:t>
            </a:r>
          </a:p>
          <a:p>
            <a:pPr marL="450000" lvl="1" indent="0">
              <a:buNone/>
            </a:pPr>
            <a:r>
              <a:rPr lang="en-IN" dirty="0"/>
              <a:t>  }</a:t>
            </a:r>
          </a:p>
          <a:p>
            <a:pPr marL="450000" lvl="1" indent="0">
              <a:buNone/>
            </a:pPr>
            <a:r>
              <a:rPr lang="en-IN" dirty="0"/>
              <a:t>}</a:t>
            </a:r>
          </a:p>
          <a:p>
            <a:pPr lvl="1"/>
            <a:endParaRPr lang="en-IN" dirty="0"/>
          </a:p>
        </p:txBody>
      </p:sp>
    </p:spTree>
    <p:extLst>
      <p:ext uri="{BB962C8B-B14F-4D97-AF65-F5344CB8AC3E}">
        <p14:creationId xmlns:p14="http://schemas.microsoft.com/office/powerpoint/2010/main" val="938263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38E1CD2-DC64-76E7-D468-CDF5857409A0}"/>
              </a:ext>
            </a:extLst>
          </p:cNvPr>
          <p:cNvSpPr>
            <a:spLocks noGrp="1"/>
          </p:cNvSpPr>
          <p:nvPr>
            <p:ph idx="1"/>
          </p:nvPr>
        </p:nvSpPr>
        <p:spPr>
          <a:xfrm>
            <a:off x="71438" y="174625"/>
            <a:ext cx="11196637" cy="5616575"/>
          </a:xfrm>
        </p:spPr>
        <p:txBody>
          <a:bodyPr/>
          <a:lstStyle/>
          <a:p>
            <a:pPr>
              <a:buNone/>
            </a:pPr>
            <a:r>
              <a:rPr lang="en-IN" dirty="0">
                <a:effectLst/>
                <a:latin typeface="fkGrotesk"/>
              </a:rPr>
              <a:t>Refresh JavaScript Concept</a:t>
            </a:r>
          </a:p>
          <a:p>
            <a:pPr>
              <a:buFont typeface="Arial" panose="020B0604020202020204" pitchFamily="34" charset="0"/>
              <a:buChar char="•"/>
            </a:pPr>
            <a:r>
              <a:rPr lang="en-IN" dirty="0">
                <a:effectLst/>
                <a:latin typeface="fkGroteskNeue"/>
              </a:rPr>
              <a:t>Object</a:t>
            </a:r>
          </a:p>
          <a:p>
            <a:pPr>
              <a:buFont typeface="Arial" panose="020B0604020202020204" pitchFamily="34" charset="0"/>
              <a:buChar char="•"/>
            </a:pPr>
            <a:r>
              <a:rPr lang="en-IN" dirty="0">
                <a:effectLst/>
                <a:latin typeface="fkGroteskNeue"/>
              </a:rPr>
              <a:t>Callback</a:t>
            </a:r>
          </a:p>
          <a:p>
            <a:pPr>
              <a:buFont typeface="Arial" panose="020B0604020202020204" pitchFamily="34" charset="0"/>
              <a:buChar char="•"/>
            </a:pPr>
            <a:r>
              <a:rPr lang="en-IN" dirty="0">
                <a:effectLst/>
                <a:latin typeface="fkGroteskNeue"/>
              </a:rPr>
              <a:t>Promises</a:t>
            </a:r>
          </a:p>
          <a:p>
            <a:pPr>
              <a:buFont typeface="Arial" panose="020B0604020202020204" pitchFamily="34" charset="0"/>
              <a:buChar char="•"/>
            </a:pPr>
            <a:r>
              <a:rPr lang="en-IN" dirty="0">
                <a:effectLst/>
                <a:latin typeface="fkGroteskNeue"/>
              </a:rPr>
              <a:t>Callback hell</a:t>
            </a:r>
          </a:p>
          <a:p>
            <a:pPr>
              <a:buFont typeface="Arial" panose="020B0604020202020204" pitchFamily="34" charset="0"/>
              <a:buChar char="•"/>
            </a:pPr>
            <a:r>
              <a:rPr lang="en-IN" dirty="0">
                <a:effectLst/>
                <a:latin typeface="fkGroteskNeue"/>
              </a:rPr>
              <a:t>Currying</a:t>
            </a:r>
          </a:p>
          <a:p>
            <a:pPr>
              <a:buFont typeface="Arial" panose="020B0604020202020204" pitchFamily="34" charset="0"/>
              <a:buChar char="•"/>
            </a:pPr>
            <a:r>
              <a:rPr lang="en-IN" dirty="0">
                <a:effectLst/>
                <a:latin typeface="fkGroteskNeue"/>
              </a:rPr>
              <a:t>Asynchronous programming</a:t>
            </a:r>
          </a:p>
          <a:p>
            <a:pPr>
              <a:buFont typeface="Arial" panose="020B0604020202020204" pitchFamily="34" charset="0"/>
              <a:buChar char="•"/>
            </a:pPr>
            <a:r>
              <a:rPr lang="en-IN" dirty="0">
                <a:effectLst/>
                <a:latin typeface="fkGroteskNeue"/>
              </a:rPr>
              <a:t>JavaScript Engine Architecture</a:t>
            </a:r>
          </a:p>
          <a:p>
            <a:pPr>
              <a:buFont typeface="Arial" panose="020B0604020202020204" pitchFamily="34" charset="0"/>
              <a:buChar char="•"/>
            </a:pPr>
            <a:r>
              <a:rPr lang="en-IN" dirty="0">
                <a:effectLst/>
                <a:latin typeface="fkGroteskNeue"/>
              </a:rPr>
              <a:t>ES6 Module pattern</a:t>
            </a:r>
          </a:p>
          <a:p>
            <a:pPr>
              <a:buFont typeface="Arial" panose="020B0604020202020204" pitchFamily="34" charset="0"/>
              <a:buChar char="•"/>
            </a:pPr>
            <a:r>
              <a:rPr lang="en-IN" dirty="0">
                <a:effectLst/>
                <a:latin typeface="fkGroteskNeue"/>
              </a:rPr>
              <a:t>Node JS Architecture</a:t>
            </a:r>
          </a:p>
        </p:txBody>
      </p:sp>
    </p:spTree>
    <p:extLst>
      <p:ext uri="{BB962C8B-B14F-4D97-AF65-F5344CB8AC3E}">
        <p14:creationId xmlns:p14="http://schemas.microsoft.com/office/powerpoint/2010/main" val="2455105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44C5F-CC7C-BC68-08D2-B620AF9014E1}"/>
              </a:ext>
            </a:extLst>
          </p:cNvPr>
          <p:cNvSpPr>
            <a:spLocks noGrp="1"/>
          </p:cNvSpPr>
          <p:nvPr>
            <p:ph type="title"/>
          </p:nvPr>
        </p:nvSpPr>
        <p:spPr>
          <a:xfrm>
            <a:off x="0" y="0"/>
            <a:ext cx="11267557" cy="1866900"/>
          </a:xfrm>
        </p:spPr>
        <p:txBody>
          <a:bodyPr anchor="t"/>
          <a:lstStyle/>
          <a:p>
            <a:pPr algn="l"/>
            <a:r>
              <a:rPr lang="en-IN" dirty="0">
                <a:solidFill>
                  <a:schemeClr val="accent6">
                    <a:lumMod val="60000"/>
                    <a:lumOff val="40000"/>
                  </a:schemeClr>
                </a:solidFill>
              </a:rPr>
              <a:t>Object</a:t>
            </a:r>
          </a:p>
        </p:txBody>
      </p:sp>
      <p:sp>
        <p:nvSpPr>
          <p:cNvPr id="3" name="Content Placeholder 2">
            <a:extLst>
              <a:ext uri="{FF2B5EF4-FFF2-40B4-BE49-F238E27FC236}">
                <a16:creationId xmlns:a16="http://schemas.microsoft.com/office/drawing/2014/main" id="{6CC5BD4E-DB46-E258-486D-065FADE512E8}"/>
              </a:ext>
            </a:extLst>
          </p:cNvPr>
          <p:cNvSpPr>
            <a:spLocks noGrp="1"/>
          </p:cNvSpPr>
          <p:nvPr>
            <p:ph idx="1"/>
          </p:nvPr>
        </p:nvSpPr>
        <p:spPr>
          <a:xfrm>
            <a:off x="92466" y="636998"/>
            <a:ext cx="12099533" cy="6380251"/>
          </a:xfrm>
        </p:spPr>
        <p:txBody>
          <a:bodyPr/>
          <a:lstStyle/>
          <a:p>
            <a:pPr marL="36900" indent="0">
              <a:buNone/>
            </a:pPr>
            <a:r>
              <a:rPr lang="en-IN" sz="2000" dirty="0">
                <a:solidFill>
                  <a:schemeClr val="tx1">
                    <a:lumMod val="95000"/>
                  </a:schemeClr>
                </a:solidFill>
                <a:effectLst/>
                <a:latin typeface="fkGroteskNeue"/>
              </a:rPr>
              <a:t>O</a:t>
            </a:r>
            <a:r>
              <a:rPr lang="en-US" sz="2000" dirty="0" err="1"/>
              <a:t>bject</a:t>
            </a:r>
            <a:r>
              <a:rPr lang="en-US" sz="2000" dirty="0"/>
              <a:t> is a pattern to store and manage the data</a:t>
            </a:r>
          </a:p>
          <a:p>
            <a:pPr lvl="1"/>
            <a:r>
              <a:rPr lang="en-US" sz="2000" dirty="0"/>
              <a:t>property format (</a:t>
            </a:r>
            <a:r>
              <a:rPr lang="en-US" sz="2000" dirty="0">
                <a:solidFill>
                  <a:srgbClr val="00B0F0"/>
                </a:solidFill>
              </a:rPr>
              <a:t>key value pair format</a:t>
            </a:r>
            <a:r>
              <a:rPr lang="en-US" sz="2000" dirty="0"/>
              <a:t>)</a:t>
            </a:r>
          </a:p>
          <a:p>
            <a:pPr lvl="1"/>
            <a:r>
              <a:rPr lang="en-US" sz="2000" dirty="0"/>
              <a:t>access, insert, update, remove </a:t>
            </a:r>
          </a:p>
          <a:p>
            <a:pPr marL="450000" lvl="1" indent="0">
              <a:buNone/>
            </a:pPr>
            <a:r>
              <a:rPr lang="en-US" sz="2000" dirty="0"/>
              <a:t>Best way to create object is </a:t>
            </a:r>
            <a:r>
              <a:rPr lang="en-US" sz="2000" dirty="0">
                <a:solidFill>
                  <a:schemeClr val="bg2">
                    <a:lumMod val="40000"/>
                    <a:lumOff val="60000"/>
                  </a:schemeClr>
                </a:solidFill>
              </a:rPr>
              <a:t>Literal Notation.</a:t>
            </a:r>
          </a:p>
          <a:p>
            <a:pPr lvl="1"/>
            <a:endParaRPr lang="en-US" sz="2400" dirty="0"/>
          </a:p>
          <a:p>
            <a:pPr lvl="1"/>
            <a:endParaRPr lang="en-US" sz="2400" dirty="0"/>
          </a:p>
          <a:p>
            <a:endParaRPr lang="en-IN" dirty="0">
              <a:effectLst/>
              <a:latin typeface="fkGroteskNeue"/>
            </a:endParaRPr>
          </a:p>
          <a:p>
            <a:endParaRPr lang="en-IN" dirty="0"/>
          </a:p>
        </p:txBody>
      </p:sp>
    </p:spTree>
    <p:extLst>
      <p:ext uri="{BB962C8B-B14F-4D97-AF65-F5344CB8AC3E}">
        <p14:creationId xmlns:p14="http://schemas.microsoft.com/office/powerpoint/2010/main" val="1443039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21309-F66B-9F35-A6EF-F63930B71629}"/>
              </a:ext>
            </a:extLst>
          </p:cNvPr>
          <p:cNvSpPr>
            <a:spLocks noGrp="1"/>
          </p:cNvSpPr>
          <p:nvPr>
            <p:ph type="title"/>
          </p:nvPr>
        </p:nvSpPr>
        <p:spPr>
          <a:xfrm>
            <a:off x="-82193" y="0"/>
            <a:ext cx="11349750" cy="1866900"/>
          </a:xfrm>
        </p:spPr>
        <p:txBody>
          <a:bodyPr anchor="t"/>
          <a:lstStyle/>
          <a:p>
            <a:pPr algn="l"/>
            <a:r>
              <a:rPr lang="en-IN" dirty="0" err="1">
                <a:solidFill>
                  <a:schemeClr val="accent6">
                    <a:lumMod val="60000"/>
                    <a:lumOff val="40000"/>
                  </a:schemeClr>
                </a:solidFill>
              </a:rPr>
              <a:t>CallBack</a:t>
            </a:r>
            <a:endParaRPr lang="en-IN" dirty="0">
              <a:solidFill>
                <a:schemeClr val="accent6">
                  <a:lumMod val="60000"/>
                  <a:lumOff val="40000"/>
                </a:schemeClr>
              </a:solidFill>
            </a:endParaRPr>
          </a:p>
        </p:txBody>
      </p:sp>
      <p:sp>
        <p:nvSpPr>
          <p:cNvPr id="3" name="Content Placeholder 2">
            <a:extLst>
              <a:ext uri="{FF2B5EF4-FFF2-40B4-BE49-F238E27FC236}">
                <a16:creationId xmlns:a16="http://schemas.microsoft.com/office/drawing/2014/main" id="{29B1658D-1BF0-1904-65B1-D003D7834A19}"/>
              </a:ext>
            </a:extLst>
          </p:cNvPr>
          <p:cNvSpPr>
            <a:spLocks noGrp="1"/>
          </p:cNvSpPr>
          <p:nvPr>
            <p:ph idx="1"/>
          </p:nvPr>
        </p:nvSpPr>
        <p:spPr>
          <a:xfrm>
            <a:off x="82192" y="688370"/>
            <a:ext cx="12109807" cy="6169630"/>
          </a:xfrm>
        </p:spPr>
        <p:txBody>
          <a:bodyPr>
            <a:normAutofit/>
          </a:bodyPr>
          <a:lstStyle/>
          <a:p>
            <a:r>
              <a:rPr lang="en-IN" sz="2000" dirty="0"/>
              <a:t>Introduction to Callbacks</a:t>
            </a:r>
          </a:p>
          <a:p>
            <a:r>
              <a:rPr lang="en-IN" sz="2000" dirty="0"/>
              <a:t>Definition of a Callback</a:t>
            </a:r>
          </a:p>
          <a:p>
            <a:r>
              <a:rPr lang="en-IN" sz="2000" dirty="0"/>
              <a:t>Why Callbacks are Important in JavaScript</a:t>
            </a:r>
          </a:p>
          <a:p>
            <a:r>
              <a:rPr lang="en-IN" sz="2000" dirty="0"/>
              <a:t>Passing Functions as Arguments</a:t>
            </a:r>
          </a:p>
          <a:p>
            <a:r>
              <a:rPr lang="en-IN" sz="2000" dirty="0"/>
              <a:t>Writing a Callback Function</a:t>
            </a:r>
          </a:p>
          <a:p>
            <a:r>
              <a:rPr lang="en-IN" sz="2000" dirty="0"/>
              <a:t>Simulating Asynchronous </a:t>
            </a:r>
            <a:r>
              <a:rPr lang="en-IN" sz="2000" dirty="0" err="1"/>
              <a:t>Behavior</a:t>
            </a:r>
            <a:r>
              <a:rPr lang="en-IN" sz="2000" dirty="0"/>
              <a:t> with Callbacks</a:t>
            </a:r>
          </a:p>
          <a:p>
            <a:r>
              <a:rPr lang="en-IN" sz="2000" dirty="0"/>
              <a:t>Refactoring Callback Hell into Promises or async/await</a:t>
            </a:r>
          </a:p>
        </p:txBody>
      </p:sp>
    </p:spTree>
    <p:extLst>
      <p:ext uri="{BB962C8B-B14F-4D97-AF65-F5344CB8AC3E}">
        <p14:creationId xmlns:p14="http://schemas.microsoft.com/office/powerpoint/2010/main" val="537914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49DE5-D3CE-7339-D9D5-A645EA020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BABA9-B87A-CD10-F53E-0EAFE4D0508D}"/>
              </a:ext>
            </a:extLst>
          </p:cNvPr>
          <p:cNvSpPr>
            <a:spLocks noGrp="1"/>
          </p:cNvSpPr>
          <p:nvPr>
            <p:ph type="title"/>
          </p:nvPr>
        </p:nvSpPr>
        <p:spPr>
          <a:xfrm>
            <a:off x="0" y="0"/>
            <a:ext cx="11267557" cy="1866900"/>
          </a:xfrm>
        </p:spPr>
        <p:txBody>
          <a:bodyPr anchor="t"/>
          <a:lstStyle/>
          <a:p>
            <a:pPr algn="l"/>
            <a:r>
              <a:rPr lang="en-IN" dirty="0">
                <a:solidFill>
                  <a:schemeClr val="accent6">
                    <a:lumMod val="60000"/>
                    <a:lumOff val="40000"/>
                  </a:schemeClr>
                </a:solidFill>
              </a:rPr>
              <a:t>Promise</a:t>
            </a:r>
          </a:p>
        </p:txBody>
      </p:sp>
      <p:sp>
        <p:nvSpPr>
          <p:cNvPr id="3" name="Content Placeholder 2">
            <a:extLst>
              <a:ext uri="{FF2B5EF4-FFF2-40B4-BE49-F238E27FC236}">
                <a16:creationId xmlns:a16="http://schemas.microsoft.com/office/drawing/2014/main" id="{81C50B20-2D4C-BEF9-F84B-91C33A2B728F}"/>
              </a:ext>
            </a:extLst>
          </p:cNvPr>
          <p:cNvSpPr>
            <a:spLocks noGrp="1"/>
          </p:cNvSpPr>
          <p:nvPr>
            <p:ph idx="1"/>
          </p:nvPr>
        </p:nvSpPr>
        <p:spPr>
          <a:xfrm>
            <a:off x="113016" y="667820"/>
            <a:ext cx="12078984" cy="6082301"/>
          </a:xfrm>
        </p:spPr>
        <p:txBody>
          <a:bodyPr/>
          <a:lstStyle/>
          <a:p>
            <a:endParaRPr lang="en-IN" dirty="0"/>
          </a:p>
        </p:txBody>
      </p:sp>
    </p:spTree>
    <p:extLst>
      <p:ext uri="{BB962C8B-B14F-4D97-AF65-F5344CB8AC3E}">
        <p14:creationId xmlns:p14="http://schemas.microsoft.com/office/powerpoint/2010/main" val="1506344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F08B9-3C6C-4E17-3E91-6324A86881D9}"/>
              </a:ext>
            </a:extLst>
          </p:cNvPr>
          <p:cNvSpPr>
            <a:spLocks noGrp="1"/>
          </p:cNvSpPr>
          <p:nvPr>
            <p:ph type="title"/>
          </p:nvPr>
        </p:nvSpPr>
        <p:spPr>
          <a:xfrm>
            <a:off x="0" y="0"/>
            <a:ext cx="11267557" cy="1866900"/>
          </a:xfrm>
        </p:spPr>
        <p:txBody>
          <a:bodyPr anchor="t"/>
          <a:lstStyle/>
          <a:p>
            <a:pPr algn="l"/>
            <a:r>
              <a:rPr lang="en-IN" dirty="0" err="1">
                <a:solidFill>
                  <a:schemeClr val="accent6">
                    <a:lumMod val="60000"/>
                    <a:lumOff val="40000"/>
                  </a:schemeClr>
                </a:solidFill>
              </a:rPr>
              <a:t>CallBack</a:t>
            </a:r>
            <a:r>
              <a:rPr lang="en-IN" dirty="0">
                <a:solidFill>
                  <a:schemeClr val="accent6">
                    <a:lumMod val="60000"/>
                    <a:lumOff val="40000"/>
                  </a:schemeClr>
                </a:solidFill>
              </a:rPr>
              <a:t> Hell</a:t>
            </a:r>
          </a:p>
        </p:txBody>
      </p:sp>
      <p:sp>
        <p:nvSpPr>
          <p:cNvPr id="3" name="Content Placeholder 2">
            <a:extLst>
              <a:ext uri="{FF2B5EF4-FFF2-40B4-BE49-F238E27FC236}">
                <a16:creationId xmlns:a16="http://schemas.microsoft.com/office/drawing/2014/main" id="{BE879AF4-9AFA-D4EF-1770-2B1C0E4A71D5}"/>
              </a:ext>
            </a:extLst>
          </p:cNvPr>
          <p:cNvSpPr>
            <a:spLocks noGrp="1"/>
          </p:cNvSpPr>
          <p:nvPr>
            <p:ph idx="1"/>
          </p:nvPr>
        </p:nvSpPr>
        <p:spPr>
          <a:xfrm>
            <a:off x="0" y="791110"/>
            <a:ext cx="12192000" cy="6066890"/>
          </a:xfrm>
        </p:spPr>
        <p:txBody>
          <a:bodyPr/>
          <a:lstStyle/>
          <a:p>
            <a:r>
              <a:rPr lang="en-IN" dirty="0"/>
              <a:t>What is Callback hell </a:t>
            </a:r>
          </a:p>
          <a:p>
            <a:r>
              <a:rPr lang="en-IN" dirty="0"/>
              <a:t>How to implement it </a:t>
            </a:r>
          </a:p>
          <a:p>
            <a:r>
              <a:rPr lang="en-IN" dirty="0"/>
              <a:t>Problems with Callback hell </a:t>
            </a:r>
          </a:p>
          <a:p>
            <a:r>
              <a:rPr lang="en-US" dirty="0"/>
              <a:t>2 Use Cases of callback hell </a:t>
            </a:r>
          </a:p>
          <a:p>
            <a:pPr marL="36900" indent="0">
              <a:buNone/>
            </a:pPr>
            <a:endParaRPr lang="en-US" dirty="0"/>
          </a:p>
          <a:p>
            <a:r>
              <a:rPr lang="en-US" dirty="0"/>
              <a:t>Difference between callback hell and Promises</a:t>
            </a:r>
          </a:p>
          <a:p>
            <a:endParaRPr lang="en-IN" dirty="0"/>
          </a:p>
          <a:p>
            <a:endParaRPr lang="en-IN" dirty="0"/>
          </a:p>
        </p:txBody>
      </p:sp>
    </p:spTree>
    <p:extLst>
      <p:ext uri="{BB962C8B-B14F-4D97-AF65-F5344CB8AC3E}">
        <p14:creationId xmlns:p14="http://schemas.microsoft.com/office/powerpoint/2010/main" val="1529058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9939F3-A1A3-9FD0-812F-12C225642202}"/>
              </a:ext>
            </a:extLst>
          </p:cNvPr>
          <p:cNvSpPr>
            <a:spLocks noGrp="1"/>
          </p:cNvSpPr>
          <p:nvPr>
            <p:ph idx="1"/>
          </p:nvPr>
        </p:nvSpPr>
        <p:spPr/>
        <p:txBody>
          <a:bodyPr/>
          <a:lstStyle/>
          <a:p>
            <a:endParaRPr lang="en-IN"/>
          </a:p>
        </p:txBody>
      </p:sp>
      <p:sp>
        <p:nvSpPr>
          <p:cNvPr id="4" name="Title 3">
            <a:extLst>
              <a:ext uri="{FF2B5EF4-FFF2-40B4-BE49-F238E27FC236}">
                <a16:creationId xmlns:a16="http://schemas.microsoft.com/office/drawing/2014/main" id="{C09ED3BA-F861-1157-167B-15A3A339D069}"/>
              </a:ext>
            </a:extLst>
          </p:cNvPr>
          <p:cNvSpPr txBox="1">
            <a:spLocks noGrp="1"/>
          </p:cNvSpPr>
          <p:nvPr>
            <p:ph type="title"/>
          </p:nvPr>
        </p:nvSpPr>
        <p:spPr>
          <a:xfrm>
            <a:off x="-82192" y="0"/>
            <a:ext cx="11350268" cy="729430"/>
          </a:xfrm>
          <a:prstGeom prst="rect">
            <a:avLst/>
          </a:prstGeom>
          <a:noFill/>
        </p:spPr>
        <p:txBody>
          <a:bodyPr wrap="square" anchor="t">
            <a:spAutoFit/>
          </a:bodyPr>
          <a:lstStyle/>
          <a:p>
            <a:pPr algn="l"/>
            <a:r>
              <a:rPr lang="en-IN" dirty="0">
                <a:solidFill>
                  <a:schemeClr val="accent6">
                    <a:lumMod val="60000"/>
                    <a:lumOff val="40000"/>
                  </a:schemeClr>
                </a:solidFill>
              </a:rPr>
              <a:t>Currying</a:t>
            </a:r>
          </a:p>
        </p:txBody>
      </p:sp>
    </p:spTree>
    <p:extLst>
      <p:ext uri="{BB962C8B-B14F-4D97-AF65-F5344CB8AC3E}">
        <p14:creationId xmlns:p14="http://schemas.microsoft.com/office/powerpoint/2010/main" val="38211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B3D0CF-60A2-B7C8-663C-8F705A22951E}"/>
              </a:ext>
            </a:extLst>
          </p:cNvPr>
          <p:cNvSpPr>
            <a:spLocks noGrp="1"/>
          </p:cNvSpPr>
          <p:nvPr>
            <p:ph idx="1"/>
          </p:nvPr>
        </p:nvSpPr>
        <p:spPr>
          <a:xfrm>
            <a:off x="143838" y="729430"/>
            <a:ext cx="12048162" cy="6041240"/>
          </a:xfrm>
        </p:spPr>
        <p:txBody>
          <a:bodyPr/>
          <a:lstStyle/>
          <a:p>
            <a:r>
              <a:rPr lang="en-US" dirty="0"/>
              <a:t>Node.js follows a </a:t>
            </a:r>
            <a:r>
              <a:rPr lang="en-US" b="1" dirty="0"/>
              <a:t>non-blocking, asynchronous</a:t>
            </a:r>
            <a:r>
              <a:rPr lang="en-US" dirty="0"/>
              <a:t> model.</a:t>
            </a:r>
            <a:br>
              <a:rPr lang="en-US" dirty="0"/>
            </a:br>
            <a:r>
              <a:rPr lang="en-US" dirty="0"/>
              <a:t>This allows Node.js to handle multiple client requests at the same time without waiting for previous operations to finish.</a:t>
            </a:r>
          </a:p>
          <a:p>
            <a:pPr lvl="0"/>
            <a:r>
              <a:rPr lang="en-IN" dirty="0"/>
              <a:t>Single-Threaded but Asynchronous</a:t>
            </a:r>
          </a:p>
          <a:p>
            <a:pPr marL="342900" lvl="1" indent="-306000">
              <a:lnSpc>
                <a:spcPct val="110000"/>
              </a:lnSpc>
              <a:buFont typeface="Wingdings 2" charset="2"/>
              <a:buChar char=""/>
            </a:pPr>
            <a:r>
              <a:rPr lang="en-IN" sz="2300" dirty="0"/>
              <a:t>Node.js uses an event-driven, non-blocking I/O model.</a:t>
            </a:r>
          </a:p>
          <a:p>
            <a:pPr marL="342900" lvl="1" indent="-306000">
              <a:lnSpc>
                <a:spcPct val="110000"/>
              </a:lnSpc>
              <a:buFont typeface="Wingdings 2" charset="2"/>
              <a:buChar char=""/>
            </a:pPr>
            <a:r>
              <a:rPr lang="en-IN" sz="2300" dirty="0"/>
              <a:t>Though single-threaded, it can handle thousands of requests concurrently.</a:t>
            </a:r>
          </a:p>
          <a:p>
            <a:endParaRPr lang="en-IN" dirty="0"/>
          </a:p>
        </p:txBody>
      </p:sp>
      <p:sp>
        <p:nvSpPr>
          <p:cNvPr id="4" name="Title 3">
            <a:extLst>
              <a:ext uri="{FF2B5EF4-FFF2-40B4-BE49-F238E27FC236}">
                <a16:creationId xmlns:a16="http://schemas.microsoft.com/office/drawing/2014/main" id="{F0D3CD42-E0FE-5F39-906A-6688B6C15031}"/>
              </a:ext>
            </a:extLst>
          </p:cNvPr>
          <p:cNvSpPr txBox="1">
            <a:spLocks noGrp="1"/>
          </p:cNvSpPr>
          <p:nvPr>
            <p:ph type="title"/>
          </p:nvPr>
        </p:nvSpPr>
        <p:spPr>
          <a:xfrm>
            <a:off x="0" y="0"/>
            <a:ext cx="11268075" cy="729430"/>
          </a:xfrm>
          <a:prstGeom prst="rect">
            <a:avLst/>
          </a:prstGeom>
          <a:noFill/>
        </p:spPr>
        <p:txBody>
          <a:bodyPr wrap="square" anchor="t">
            <a:spAutoFit/>
          </a:bodyPr>
          <a:lstStyle/>
          <a:p>
            <a:pPr algn="l"/>
            <a:r>
              <a:rPr lang="en-IN" dirty="0">
                <a:solidFill>
                  <a:schemeClr val="accent6">
                    <a:lumMod val="60000"/>
                    <a:lumOff val="40000"/>
                  </a:schemeClr>
                </a:solidFill>
                <a:effectLst/>
                <a:latin typeface="fkGroteskNeue"/>
              </a:rPr>
              <a:t>A</a:t>
            </a:r>
            <a:r>
              <a:rPr lang="en-IN" b="0" i="0" dirty="0">
                <a:solidFill>
                  <a:schemeClr val="accent6">
                    <a:lumMod val="60000"/>
                    <a:lumOff val="40000"/>
                  </a:schemeClr>
                </a:solidFill>
                <a:effectLst/>
                <a:latin typeface="fkGroteskNeue"/>
              </a:rPr>
              <a:t>synchronous programming in JS</a:t>
            </a:r>
          </a:p>
        </p:txBody>
      </p:sp>
    </p:spTree>
    <p:extLst>
      <p:ext uri="{BB962C8B-B14F-4D97-AF65-F5344CB8AC3E}">
        <p14:creationId xmlns:p14="http://schemas.microsoft.com/office/powerpoint/2010/main" val="3530850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898FC-C3EF-C392-789F-9CA9F8CEDDBE}"/>
              </a:ext>
            </a:extLst>
          </p:cNvPr>
          <p:cNvSpPr>
            <a:spLocks noGrp="1"/>
          </p:cNvSpPr>
          <p:nvPr>
            <p:ph type="title"/>
          </p:nvPr>
        </p:nvSpPr>
        <p:spPr>
          <a:xfrm>
            <a:off x="0" y="0"/>
            <a:ext cx="11164815" cy="832207"/>
          </a:xfrm>
        </p:spPr>
        <p:txBody>
          <a:bodyPr anchor="t">
            <a:normAutofit fontScale="90000"/>
          </a:bodyPr>
          <a:lstStyle/>
          <a:p>
            <a:pPr algn="l"/>
            <a:r>
              <a:rPr lang="en-IN" dirty="0">
                <a:solidFill>
                  <a:schemeClr val="accent6">
                    <a:lumMod val="60000"/>
                    <a:lumOff val="40000"/>
                  </a:schemeClr>
                </a:solidFill>
                <a:effectLst/>
                <a:latin typeface="fkGroteskNeue"/>
              </a:rPr>
              <a:t>Architecture of JavaScript Engine</a:t>
            </a:r>
            <a:br>
              <a:rPr lang="en-IN" dirty="0"/>
            </a:br>
            <a:endParaRPr lang="en-IN" dirty="0"/>
          </a:p>
        </p:txBody>
      </p:sp>
      <p:sp>
        <p:nvSpPr>
          <p:cNvPr id="3" name="Content Placeholder 2">
            <a:extLst>
              <a:ext uri="{FF2B5EF4-FFF2-40B4-BE49-F238E27FC236}">
                <a16:creationId xmlns:a16="http://schemas.microsoft.com/office/drawing/2014/main" id="{1D99E571-D3AC-36D7-C1C4-DDB1CD129686}"/>
              </a:ext>
            </a:extLst>
          </p:cNvPr>
          <p:cNvSpPr>
            <a:spLocks noGrp="1"/>
          </p:cNvSpPr>
          <p:nvPr>
            <p:ph idx="1"/>
          </p:nvPr>
        </p:nvSpPr>
        <p:spPr>
          <a:xfrm>
            <a:off x="102742" y="657546"/>
            <a:ext cx="12089258" cy="6072027"/>
          </a:xfrm>
        </p:spPr>
        <p:txBody>
          <a:bodyPr/>
          <a:lstStyle/>
          <a:p>
            <a:endParaRPr lang="en-IN" dirty="0"/>
          </a:p>
        </p:txBody>
      </p:sp>
    </p:spTree>
    <p:extLst>
      <p:ext uri="{BB962C8B-B14F-4D97-AF65-F5344CB8AC3E}">
        <p14:creationId xmlns:p14="http://schemas.microsoft.com/office/powerpoint/2010/main" val="124318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AD100-45E7-9C9C-F3D0-2696BB9B9EC9}"/>
              </a:ext>
            </a:extLst>
          </p:cNvPr>
          <p:cNvSpPr>
            <a:spLocks noGrp="1"/>
          </p:cNvSpPr>
          <p:nvPr>
            <p:ph type="title"/>
          </p:nvPr>
        </p:nvSpPr>
        <p:spPr>
          <a:xfrm>
            <a:off x="-1" y="0"/>
            <a:ext cx="11267557" cy="760288"/>
          </a:xfrm>
        </p:spPr>
        <p:txBody>
          <a:bodyPr anchor="t"/>
          <a:lstStyle/>
          <a:p>
            <a:pPr algn="l"/>
            <a:r>
              <a:rPr lang="en-IN" dirty="0">
                <a:solidFill>
                  <a:schemeClr val="accent6">
                    <a:lumMod val="60000"/>
                    <a:lumOff val="40000"/>
                  </a:schemeClr>
                </a:solidFill>
              </a:rPr>
              <a:t>ES6 Module Pattern</a:t>
            </a:r>
          </a:p>
        </p:txBody>
      </p:sp>
      <p:sp>
        <p:nvSpPr>
          <p:cNvPr id="3" name="Content Placeholder 2">
            <a:extLst>
              <a:ext uri="{FF2B5EF4-FFF2-40B4-BE49-F238E27FC236}">
                <a16:creationId xmlns:a16="http://schemas.microsoft.com/office/drawing/2014/main" id="{CFFB3B60-1F70-D449-7F7D-A65FFC23E8F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400545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20E1C-0DD7-2657-3688-77AB2D388675}"/>
              </a:ext>
            </a:extLst>
          </p:cNvPr>
          <p:cNvSpPr>
            <a:spLocks noGrp="1"/>
          </p:cNvSpPr>
          <p:nvPr>
            <p:ph type="title"/>
          </p:nvPr>
        </p:nvSpPr>
        <p:spPr>
          <a:xfrm>
            <a:off x="102742" y="0"/>
            <a:ext cx="11164815" cy="801384"/>
          </a:xfrm>
        </p:spPr>
        <p:txBody>
          <a:bodyPr anchor="t">
            <a:normAutofit fontScale="90000"/>
          </a:bodyPr>
          <a:lstStyle/>
          <a:p>
            <a:pPr algn="l"/>
            <a:r>
              <a:rPr lang="en-US" dirty="0">
                <a:effectLst/>
                <a:latin typeface="fkGroteskNeue"/>
              </a:rPr>
              <a:t>Module Concept using Common JS Module Pattern</a:t>
            </a:r>
            <a:br>
              <a:rPr lang="en-US" dirty="0">
                <a:effectLst/>
                <a:latin typeface="fkGroteskNeue"/>
              </a:rPr>
            </a:br>
            <a:br>
              <a:rPr lang="en-US" dirty="0">
                <a:effectLst/>
                <a:latin typeface="fkGroteskNeue"/>
              </a:rPr>
            </a:br>
            <a:endParaRPr lang="en-IN" dirty="0"/>
          </a:p>
        </p:txBody>
      </p:sp>
      <p:sp>
        <p:nvSpPr>
          <p:cNvPr id="3" name="Content Placeholder 2">
            <a:extLst>
              <a:ext uri="{FF2B5EF4-FFF2-40B4-BE49-F238E27FC236}">
                <a16:creationId xmlns:a16="http://schemas.microsoft.com/office/drawing/2014/main" id="{DEC9DE98-1EBB-3C7C-2C9C-22E1D830ADF9}"/>
              </a:ext>
            </a:extLst>
          </p:cNvPr>
          <p:cNvSpPr>
            <a:spLocks noGrp="1"/>
          </p:cNvSpPr>
          <p:nvPr>
            <p:ph idx="1"/>
          </p:nvPr>
        </p:nvSpPr>
        <p:spPr>
          <a:xfrm>
            <a:off x="102742" y="647272"/>
            <a:ext cx="12089258" cy="6133672"/>
          </a:xfrm>
        </p:spPr>
        <p:txBody>
          <a:bodyPr/>
          <a:lstStyle/>
          <a:p>
            <a:pPr marL="36900" indent="0">
              <a:buNone/>
            </a:pPr>
            <a:r>
              <a:rPr lang="en-IN" dirty="0">
                <a:solidFill>
                  <a:srgbClr val="92D050"/>
                </a:solidFill>
              </a:rPr>
              <a:t>Module Object</a:t>
            </a:r>
          </a:p>
          <a:p>
            <a:pPr marL="36900" indent="0">
              <a:buNone/>
            </a:pPr>
            <a:r>
              <a:rPr lang="en-IN" dirty="0">
                <a:solidFill>
                  <a:srgbClr val="92D050"/>
                </a:solidFill>
              </a:rPr>
              <a:t>Require()</a:t>
            </a:r>
          </a:p>
          <a:p>
            <a:pPr marL="36900" indent="0">
              <a:buNone/>
            </a:pPr>
            <a:r>
              <a:rPr lang="en-IN" dirty="0">
                <a:solidFill>
                  <a:srgbClr val="92D050"/>
                </a:solidFill>
              </a:rPr>
              <a:t>What is common </a:t>
            </a:r>
            <a:r>
              <a:rPr lang="en-IN" dirty="0" err="1">
                <a:solidFill>
                  <a:srgbClr val="92D050"/>
                </a:solidFill>
              </a:rPr>
              <a:t>js</a:t>
            </a:r>
            <a:endParaRPr lang="en-IN" dirty="0">
              <a:solidFill>
                <a:srgbClr val="92D050"/>
              </a:solidFill>
            </a:endParaRPr>
          </a:p>
          <a:p>
            <a:pPr marL="36900" indent="0">
              <a:buNone/>
            </a:pPr>
            <a:r>
              <a:rPr lang="en-US" dirty="0">
                <a:solidFill>
                  <a:srgbClr val="92D050"/>
                </a:solidFill>
              </a:rPr>
              <a:t>How to export Functions and variables</a:t>
            </a:r>
          </a:p>
          <a:p>
            <a:pPr marL="36900" indent="0">
              <a:buNone/>
            </a:pPr>
            <a:r>
              <a:rPr lang="en-US" dirty="0">
                <a:solidFill>
                  <a:srgbClr val="92D050"/>
                </a:solidFill>
              </a:rPr>
              <a:t>How to import functions and variables</a:t>
            </a:r>
            <a:endParaRPr lang="en-IN" dirty="0">
              <a:solidFill>
                <a:srgbClr val="92D050"/>
              </a:solidFill>
            </a:endParaRPr>
          </a:p>
        </p:txBody>
      </p:sp>
    </p:spTree>
    <p:extLst>
      <p:ext uri="{BB962C8B-B14F-4D97-AF65-F5344CB8AC3E}">
        <p14:creationId xmlns:p14="http://schemas.microsoft.com/office/powerpoint/2010/main" val="324099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21888-214D-AD65-4363-B116FB2BB96E}"/>
              </a:ext>
            </a:extLst>
          </p:cNvPr>
          <p:cNvSpPr>
            <a:spLocks noGrp="1"/>
          </p:cNvSpPr>
          <p:nvPr>
            <p:ph type="title"/>
          </p:nvPr>
        </p:nvSpPr>
        <p:spPr>
          <a:xfrm>
            <a:off x="1" y="1"/>
            <a:ext cx="7315200" cy="739738"/>
          </a:xfrm>
        </p:spPr>
        <p:txBody>
          <a:bodyPr anchor="t"/>
          <a:lstStyle/>
          <a:p>
            <a:pPr algn="l"/>
            <a:r>
              <a:rPr lang="en-IN" dirty="0">
                <a:solidFill>
                  <a:schemeClr val="accent6">
                    <a:lumMod val="60000"/>
                    <a:lumOff val="40000"/>
                  </a:schemeClr>
                </a:solidFill>
              </a:rPr>
              <a:t>NODE JS Architecture</a:t>
            </a:r>
          </a:p>
        </p:txBody>
      </p:sp>
      <p:sp>
        <p:nvSpPr>
          <p:cNvPr id="3" name="Text Placeholder 2">
            <a:extLst>
              <a:ext uri="{FF2B5EF4-FFF2-40B4-BE49-F238E27FC236}">
                <a16:creationId xmlns:a16="http://schemas.microsoft.com/office/drawing/2014/main" id="{7F4136C0-8C52-6255-CA7A-5BB3D8A23509}"/>
              </a:ext>
            </a:extLst>
          </p:cNvPr>
          <p:cNvSpPr>
            <a:spLocks noGrp="1"/>
          </p:cNvSpPr>
          <p:nvPr>
            <p:ph type="body" idx="1"/>
          </p:nvPr>
        </p:nvSpPr>
        <p:spPr>
          <a:xfrm>
            <a:off x="71918" y="739739"/>
            <a:ext cx="11784459" cy="6118260"/>
          </a:xfrm>
        </p:spPr>
        <p:txBody>
          <a:bodyPr/>
          <a:lstStyle/>
          <a:p>
            <a:pPr marL="342900" indent="-342900" algn="l">
              <a:buFont typeface="Wingdings" panose="05000000000000000000" pitchFamily="2" charset="2"/>
              <a:buChar char="ü"/>
            </a:pPr>
            <a:r>
              <a:rPr lang="en-US" dirty="0"/>
              <a:t>Node.js works on a </a:t>
            </a:r>
            <a:r>
              <a:rPr lang="en-US" b="1" dirty="0"/>
              <a:t>single main thread</a:t>
            </a:r>
            <a:r>
              <a:rPr lang="en-US" dirty="0"/>
              <a:t> to execute JavaScript code.</a:t>
            </a:r>
          </a:p>
          <a:p>
            <a:pPr marL="342900" indent="-342900" algn="l">
              <a:buFont typeface="Wingdings" panose="05000000000000000000" pitchFamily="2" charset="2"/>
              <a:buChar char="ü"/>
            </a:pPr>
            <a:r>
              <a:rPr lang="en-IN" dirty="0">
                <a:effectLst/>
              </a:rPr>
              <a:t>Its non-blocking I/O model and event-driven architecture make it efficient and scalable for building backend services, especially APIs and real-time applications.</a:t>
            </a:r>
          </a:p>
          <a:p>
            <a:pPr marL="342900" indent="-342900" algn="l">
              <a:buFont typeface="Wingdings" panose="05000000000000000000" pitchFamily="2" charset="2"/>
              <a:buChar char="ü"/>
            </a:pPr>
            <a:r>
              <a:rPr lang="en-US" dirty="0"/>
              <a:t>This design makes it fast and avoids the overhead of creating multiple threads.</a:t>
            </a:r>
            <a:endParaRPr lang="en-IN" dirty="0"/>
          </a:p>
        </p:txBody>
      </p:sp>
    </p:spTree>
    <p:extLst>
      <p:ext uri="{BB962C8B-B14F-4D97-AF65-F5344CB8AC3E}">
        <p14:creationId xmlns:p14="http://schemas.microsoft.com/office/powerpoint/2010/main" val="2721234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A6FEC-0CA6-91E4-A8FA-7D57FA4A3139}"/>
              </a:ext>
            </a:extLst>
          </p:cNvPr>
          <p:cNvSpPr>
            <a:spLocks noGrp="1"/>
          </p:cNvSpPr>
          <p:nvPr>
            <p:ph type="title"/>
          </p:nvPr>
        </p:nvSpPr>
        <p:spPr>
          <a:xfrm>
            <a:off x="0" y="0"/>
            <a:ext cx="11267557" cy="791110"/>
          </a:xfrm>
        </p:spPr>
        <p:txBody>
          <a:bodyPr anchor="t">
            <a:normAutofit fontScale="90000"/>
          </a:bodyPr>
          <a:lstStyle/>
          <a:p>
            <a:pPr algn="l"/>
            <a:r>
              <a:rPr lang="en-US" b="1" dirty="0">
                <a:solidFill>
                  <a:schemeClr val="accent6">
                    <a:lumMod val="60000"/>
                    <a:lumOff val="40000"/>
                  </a:schemeClr>
                </a:solidFill>
              </a:rPr>
              <a:t>Event-Driven Architecture</a:t>
            </a:r>
            <a:br>
              <a:rPr lang="en-US" b="1" dirty="0"/>
            </a:br>
            <a:endParaRPr lang="en-IN" dirty="0"/>
          </a:p>
        </p:txBody>
      </p:sp>
      <p:sp>
        <p:nvSpPr>
          <p:cNvPr id="3" name="Content Placeholder 2">
            <a:extLst>
              <a:ext uri="{FF2B5EF4-FFF2-40B4-BE49-F238E27FC236}">
                <a16:creationId xmlns:a16="http://schemas.microsoft.com/office/drawing/2014/main" id="{7650128C-4A88-C0CE-4091-8FA9FC903060}"/>
              </a:ext>
            </a:extLst>
          </p:cNvPr>
          <p:cNvSpPr>
            <a:spLocks noGrp="1"/>
          </p:cNvSpPr>
          <p:nvPr>
            <p:ph idx="1"/>
          </p:nvPr>
        </p:nvSpPr>
        <p:spPr>
          <a:xfrm>
            <a:off x="102742" y="585628"/>
            <a:ext cx="12089258" cy="6195316"/>
          </a:xfrm>
        </p:spPr>
        <p:txBody>
          <a:bodyPr/>
          <a:lstStyle/>
          <a:p>
            <a:r>
              <a:rPr lang="en-US" dirty="0"/>
              <a:t>Node.js internally uses an </a:t>
            </a:r>
            <a:r>
              <a:rPr lang="en-US" b="1" dirty="0"/>
              <a:t>event-driven</a:t>
            </a:r>
            <a:r>
              <a:rPr lang="en-US" dirty="0"/>
              <a:t> mechanism.</a:t>
            </a:r>
          </a:p>
          <a:p>
            <a:r>
              <a:rPr lang="en-US" dirty="0"/>
              <a:t>Operations (file read, DB call, network request) run in background.</a:t>
            </a:r>
          </a:p>
          <a:p>
            <a:r>
              <a:rPr lang="en-US" dirty="0"/>
              <a:t>When completed, they trigger an </a:t>
            </a:r>
            <a:r>
              <a:rPr lang="en-US" b="1" dirty="0"/>
              <a:t>event</a:t>
            </a:r>
            <a:r>
              <a:rPr lang="en-US" dirty="0"/>
              <a:t>.</a:t>
            </a:r>
          </a:p>
          <a:p>
            <a:r>
              <a:rPr lang="en-US" dirty="0"/>
              <a:t>Node.js listens to the event and executes the callback.</a:t>
            </a:r>
          </a:p>
          <a:p>
            <a:endParaRPr lang="en-IN" dirty="0"/>
          </a:p>
        </p:txBody>
      </p:sp>
    </p:spTree>
    <p:extLst>
      <p:ext uri="{BB962C8B-B14F-4D97-AF65-F5344CB8AC3E}">
        <p14:creationId xmlns:p14="http://schemas.microsoft.com/office/powerpoint/2010/main" val="3830218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BE48-4505-9E9C-81EB-911ACE45EAF7}"/>
              </a:ext>
            </a:extLst>
          </p:cNvPr>
          <p:cNvSpPr>
            <a:spLocks noGrp="1"/>
          </p:cNvSpPr>
          <p:nvPr>
            <p:ph type="title"/>
          </p:nvPr>
        </p:nvSpPr>
        <p:spPr>
          <a:xfrm>
            <a:off x="0" y="0"/>
            <a:ext cx="11267557" cy="770562"/>
          </a:xfrm>
        </p:spPr>
        <p:txBody>
          <a:bodyPr anchor="t"/>
          <a:lstStyle/>
          <a:p>
            <a:pPr algn="l"/>
            <a:r>
              <a:rPr lang="en-IN" dirty="0">
                <a:solidFill>
                  <a:schemeClr val="accent6">
                    <a:lumMod val="60000"/>
                    <a:lumOff val="40000"/>
                  </a:schemeClr>
                </a:solidFill>
              </a:rPr>
              <a:t>Event Loop</a:t>
            </a:r>
          </a:p>
        </p:txBody>
      </p:sp>
      <p:sp>
        <p:nvSpPr>
          <p:cNvPr id="3" name="Content Placeholder 2">
            <a:extLst>
              <a:ext uri="{FF2B5EF4-FFF2-40B4-BE49-F238E27FC236}">
                <a16:creationId xmlns:a16="http://schemas.microsoft.com/office/drawing/2014/main" id="{8D38A0DB-69A9-58CD-1EC8-74E5DBCC8D6C}"/>
              </a:ext>
            </a:extLst>
          </p:cNvPr>
          <p:cNvSpPr>
            <a:spLocks noGrp="1"/>
          </p:cNvSpPr>
          <p:nvPr>
            <p:ph idx="1"/>
          </p:nvPr>
        </p:nvSpPr>
        <p:spPr>
          <a:xfrm>
            <a:off x="164386" y="688370"/>
            <a:ext cx="12027613" cy="6092574"/>
          </a:xfrm>
        </p:spPr>
        <p:txBody>
          <a:bodyPr/>
          <a:lstStyle/>
          <a:p>
            <a:r>
              <a:rPr lang="en-US" dirty="0"/>
              <a:t>The </a:t>
            </a:r>
            <a:r>
              <a:rPr lang="en-US" b="1" dirty="0"/>
              <a:t>Event Loop</a:t>
            </a:r>
            <a:r>
              <a:rPr lang="en-US" dirty="0"/>
              <a:t> is the heart of Node.js.</a:t>
            </a:r>
            <a:br>
              <a:rPr lang="en-US" dirty="0"/>
            </a:br>
            <a:r>
              <a:rPr lang="en-US" dirty="0"/>
              <a:t>It continuously checks for:</a:t>
            </a:r>
          </a:p>
          <a:p>
            <a:r>
              <a:rPr lang="en-US" dirty="0"/>
              <a:t>pending callbacks</a:t>
            </a:r>
          </a:p>
          <a:p>
            <a:r>
              <a:rPr lang="en-US" dirty="0"/>
              <a:t>timers</a:t>
            </a:r>
          </a:p>
          <a:p>
            <a:r>
              <a:rPr lang="en-US" dirty="0"/>
              <a:t>I/O operations</a:t>
            </a:r>
          </a:p>
          <a:p>
            <a:r>
              <a:rPr lang="en-US" dirty="0"/>
              <a:t>events</a:t>
            </a:r>
          </a:p>
          <a:p>
            <a:r>
              <a:rPr lang="en-US" dirty="0"/>
              <a:t>microtasks (promises)</a:t>
            </a:r>
          </a:p>
          <a:p>
            <a:r>
              <a:rPr lang="en-US" dirty="0"/>
              <a:t>Node.js uses this loop to manage asynchronous operations.</a:t>
            </a:r>
          </a:p>
          <a:p>
            <a:endParaRPr lang="en-IN" dirty="0"/>
          </a:p>
        </p:txBody>
      </p:sp>
    </p:spTree>
    <p:extLst>
      <p:ext uri="{BB962C8B-B14F-4D97-AF65-F5344CB8AC3E}">
        <p14:creationId xmlns:p14="http://schemas.microsoft.com/office/powerpoint/2010/main" val="3800984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B40D7-9BC6-7392-B51F-7560B310B268}"/>
              </a:ext>
            </a:extLst>
          </p:cNvPr>
          <p:cNvSpPr>
            <a:spLocks noGrp="1"/>
          </p:cNvSpPr>
          <p:nvPr>
            <p:ph type="title"/>
          </p:nvPr>
        </p:nvSpPr>
        <p:spPr>
          <a:xfrm>
            <a:off x="0" y="113016"/>
            <a:ext cx="11267557" cy="719191"/>
          </a:xfrm>
        </p:spPr>
        <p:txBody>
          <a:bodyPr anchor="t">
            <a:normAutofit fontScale="90000"/>
          </a:bodyPr>
          <a:lstStyle/>
          <a:p>
            <a:pPr algn="l"/>
            <a:r>
              <a:rPr lang="en-IN" dirty="0">
                <a:solidFill>
                  <a:schemeClr val="accent6">
                    <a:lumMod val="60000"/>
                    <a:lumOff val="40000"/>
                  </a:schemeClr>
                </a:solidFill>
              </a:rPr>
              <a:t>Event Loop Phases</a:t>
            </a:r>
          </a:p>
        </p:txBody>
      </p:sp>
      <p:sp>
        <p:nvSpPr>
          <p:cNvPr id="3" name="Content Placeholder 2">
            <a:extLst>
              <a:ext uri="{FF2B5EF4-FFF2-40B4-BE49-F238E27FC236}">
                <a16:creationId xmlns:a16="http://schemas.microsoft.com/office/drawing/2014/main" id="{543E236D-D143-BCF9-2730-922055CB2A2E}"/>
              </a:ext>
            </a:extLst>
          </p:cNvPr>
          <p:cNvSpPr>
            <a:spLocks noGrp="1"/>
          </p:cNvSpPr>
          <p:nvPr>
            <p:ph idx="1"/>
          </p:nvPr>
        </p:nvSpPr>
        <p:spPr>
          <a:xfrm>
            <a:off x="71918" y="688370"/>
            <a:ext cx="12120081" cy="6056614"/>
          </a:xfrm>
        </p:spPr>
        <p:txBody>
          <a:bodyPr>
            <a:normAutofit/>
          </a:bodyPr>
          <a:lstStyle/>
          <a:p>
            <a:r>
              <a:rPr lang="en-IN" b="1" dirty="0">
                <a:solidFill>
                  <a:srgbClr val="F8BCF1"/>
                </a:solidFill>
              </a:rPr>
              <a:t>Timers Phase: </a:t>
            </a:r>
            <a:r>
              <a:rPr lang="en-US" dirty="0"/>
              <a:t>Executes callbacks from setTimeout() and </a:t>
            </a:r>
            <a:r>
              <a:rPr lang="en-US" dirty="0" err="1"/>
              <a:t>setInterval</a:t>
            </a:r>
            <a:r>
              <a:rPr lang="en-US" dirty="0"/>
              <a:t>().</a:t>
            </a:r>
          </a:p>
          <a:p>
            <a:r>
              <a:rPr lang="en-IN" b="1" dirty="0">
                <a:solidFill>
                  <a:srgbClr val="F8BCF1"/>
                </a:solidFill>
              </a:rPr>
              <a:t>I/O Callbacks Phase: </a:t>
            </a:r>
            <a:r>
              <a:rPr lang="en-US" dirty="0"/>
              <a:t>Executes callbacks of completed I/O operations (file read, network calls).</a:t>
            </a:r>
          </a:p>
          <a:p>
            <a:r>
              <a:rPr lang="en-IN" b="1" dirty="0">
                <a:solidFill>
                  <a:srgbClr val="F8BCF1"/>
                </a:solidFill>
              </a:rPr>
              <a:t>Idle/Prepare Phase: </a:t>
            </a:r>
            <a:r>
              <a:rPr lang="en-IN" dirty="0"/>
              <a:t>Internal use only.</a:t>
            </a:r>
          </a:p>
          <a:p>
            <a:r>
              <a:rPr lang="en-IN" b="1" dirty="0">
                <a:solidFill>
                  <a:srgbClr val="F8BCF1"/>
                </a:solidFill>
              </a:rPr>
              <a:t>Poll Phase: </a:t>
            </a:r>
            <a:r>
              <a:rPr lang="en-US" dirty="0"/>
              <a:t>Node.js waits for new I/O events and executes their callbacks.</a:t>
            </a:r>
          </a:p>
          <a:p>
            <a:r>
              <a:rPr lang="en-IN" b="1" dirty="0">
                <a:solidFill>
                  <a:srgbClr val="F8BCF1"/>
                </a:solidFill>
              </a:rPr>
              <a:t>Check Phase: </a:t>
            </a:r>
            <a:r>
              <a:rPr lang="en-IN" dirty="0"/>
              <a:t>Runs </a:t>
            </a:r>
            <a:r>
              <a:rPr lang="en-IN" dirty="0" err="1"/>
              <a:t>setImmediate</a:t>
            </a:r>
            <a:r>
              <a:rPr lang="en-IN" dirty="0"/>
              <a:t>() callbacks.</a:t>
            </a:r>
          </a:p>
          <a:p>
            <a:r>
              <a:rPr lang="en-IN" b="1" dirty="0">
                <a:solidFill>
                  <a:srgbClr val="F8BCF1"/>
                </a:solidFill>
              </a:rPr>
              <a:t>Close Callbacks Phase: </a:t>
            </a:r>
            <a:r>
              <a:rPr lang="en-IN" dirty="0"/>
              <a:t>R</a:t>
            </a:r>
            <a:r>
              <a:rPr lang="en-US" dirty="0" err="1"/>
              <a:t>uns</a:t>
            </a:r>
            <a:r>
              <a:rPr lang="en-US" dirty="0"/>
              <a:t> close events (like closing sockets)</a:t>
            </a:r>
          </a:p>
          <a:p>
            <a:pPr marL="36900" indent="0">
              <a:buNone/>
            </a:pPr>
            <a:r>
              <a:rPr lang="en-US" dirty="0"/>
              <a:t>		Node.js is single-threaded, but uses an asynchronous event loop that allows it to handle multiple requests concurrently.</a:t>
            </a:r>
            <a:br>
              <a:rPr lang="en-US" dirty="0"/>
            </a:br>
            <a:r>
              <a:rPr lang="en-US" dirty="0"/>
              <a:t>Long operations run in background threads (</a:t>
            </a:r>
            <a:r>
              <a:rPr lang="en-US" dirty="0" err="1"/>
              <a:t>libuv</a:t>
            </a:r>
            <a:r>
              <a:rPr lang="en-US" dirty="0"/>
              <a:t>), and callbacks are executed when events are triggered</a:t>
            </a:r>
            <a:endParaRPr lang="en-IN" dirty="0"/>
          </a:p>
        </p:txBody>
      </p:sp>
    </p:spTree>
    <p:extLst>
      <p:ext uri="{BB962C8B-B14F-4D97-AF65-F5344CB8AC3E}">
        <p14:creationId xmlns:p14="http://schemas.microsoft.com/office/powerpoint/2010/main" val="1110854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28397C-1514-4E6F-33E0-CDC50B949329}"/>
              </a:ext>
            </a:extLst>
          </p:cNvPr>
          <p:cNvSpPr>
            <a:spLocks noGrp="1"/>
          </p:cNvSpPr>
          <p:nvPr>
            <p:ph idx="1"/>
          </p:nvPr>
        </p:nvSpPr>
        <p:spPr>
          <a:xfrm>
            <a:off x="0" y="0"/>
            <a:ext cx="12102957" cy="6858000"/>
          </a:xfrm>
        </p:spPr>
        <p:txBody>
          <a:bodyPr/>
          <a:lstStyle/>
          <a:p>
            <a:pPr marL="36900" indent="0">
              <a:buNone/>
            </a:pPr>
            <a:r>
              <a:rPr lang="en-IN" dirty="0"/>
              <a:t>Node Module System (Inbuilt Modules of NodeJS) </a:t>
            </a:r>
          </a:p>
          <a:p>
            <a:pPr marL="36900" indent="0">
              <a:buNone/>
            </a:pPr>
            <a:r>
              <a:rPr lang="en-IN" sz="2000" dirty="0">
                <a:solidFill>
                  <a:srgbClr val="FFFF00"/>
                </a:solidFill>
              </a:rPr>
              <a:t>File </a:t>
            </a:r>
            <a:r>
              <a:rPr lang="en-IN" sz="2000" dirty="0" err="1">
                <a:solidFill>
                  <a:srgbClr val="FFFF00"/>
                </a:solidFill>
              </a:rPr>
              <a:t>Sysytem</a:t>
            </a:r>
            <a:r>
              <a:rPr lang="en-IN" sz="2000" dirty="0">
                <a:solidFill>
                  <a:srgbClr val="FFFF00"/>
                </a:solidFill>
              </a:rPr>
              <a:t>(fs) : </a:t>
            </a:r>
            <a:r>
              <a:rPr lang="en-IN" sz="2000" dirty="0"/>
              <a:t>it is used to manage the File system.</a:t>
            </a:r>
          </a:p>
          <a:p>
            <a:pPr marL="36900" indent="0">
              <a:buNone/>
            </a:pPr>
            <a:r>
              <a:rPr lang="en-IN" sz="2000" dirty="0"/>
              <a:t>	- Create File, Rename File , Remove File.</a:t>
            </a:r>
          </a:p>
          <a:p>
            <a:pPr marL="36900" indent="0">
              <a:buNone/>
            </a:pPr>
            <a:r>
              <a:rPr lang="en-IN" sz="2000" dirty="0"/>
              <a:t>	- Read or access content of file.</a:t>
            </a:r>
          </a:p>
          <a:p>
            <a:pPr marL="36900" indent="0">
              <a:buNone/>
            </a:pPr>
            <a:r>
              <a:rPr lang="en-IN" sz="2000" dirty="0"/>
              <a:t>	 - Create Folder, Rename Folder , Remove Folder.</a:t>
            </a:r>
          </a:p>
          <a:p>
            <a:pPr marL="36900" indent="0">
              <a:buNone/>
            </a:pPr>
            <a:r>
              <a:rPr lang="en-IN" sz="2000" dirty="0"/>
              <a:t>It provides predefined objects and functions.</a:t>
            </a:r>
          </a:p>
          <a:p>
            <a:pPr marL="36900" indent="0">
              <a:buNone/>
            </a:pPr>
            <a:endParaRPr lang="en-IN" dirty="0"/>
          </a:p>
          <a:p>
            <a:pPr marL="36900" indent="0">
              <a:buNone/>
            </a:pPr>
            <a:endParaRPr lang="en-IN" dirty="0"/>
          </a:p>
          <a:p>
            <a:endParaRPr lang="en-IN" dirty="0"/>
          </a:p>
          <a:p>
            <a:endParaRPr lang="en-IN" dirty="0"/>
          </a:p>
        </p:txBody>
      </p:sp>
    </p:spTree>
    <p:extLst>
      <p:ext uri="{BB962C8B-B14F-4D97-AF65-F5344CB8AC3E}">
        <p14:creationId xmlns:p14="http://schemas.microsoft.com/office/powerpoint/2010/main" val="447473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46EB5B-2DA5-4CB8-35A4-27CF10C58628}"/>
              </a:ext>
            </a:extLst>
          </p:cNvPr>
          <p:cNvSpPr>
            <a:spLocks noGrp="1"/>
          </p:cNvSpPr>
          <p:nvPr>
            <p:ph idx="1"/>
          </p:nvPr>
        </p:nvSpPr>
        <p:spPr>
          <a:xfrm>
            <a:off x="71918" y="0"/>
            <a:ext cx="12120081" cy="6858000"/>
          </a:xfrm>
        </p:spPr>
        <p:txBody>
          <a:bodyPr/>
          <a:lstStyle/>
          <a:p>
            <a:pPr marL="36900" indent="0">
              <a:buNone/>
            </a:pPr>
            <a:r>
              <a:rPr lang="en-IN" dirty="0"/>
              <a:t>Path </a:t>
            </a:r>
          </a:p>
          <a:p>
            <a:pPr marL="36900" indent="0">
              <a:buNone/>
            </a:pPr>
            <a:r>
              <a:rPr lang="en-IN" dirty="0"/>
              <a:t>■ </a:t>
            </a:r>
            <a:r>
              <a:rPr lang="en-IN" dirty="0" err="1"/>
              <a:t>path.basename</a:t>
            </a:r>
            <a:r>
              <a:rPr lang="en-IN" dirty="0"/>
              <a:t>() </a:t>
            </a:r>
          </a:p>
          <a:p>
            <a:pPr marL="36900" indent="0">
              <a:buNone/>
            </a:pPr>
            <a:r>
              <a:rPr lang="en-IN" dirty="0"/>
              <a:t>■ </a:t>
            </a:r>
            <a:r>
              <a:rPr lang="en-IN" dirty="0" err="1"/>
              <a:t>path.dirname</a:t>
            </a:r>
            <a:r>
              <a:rPr lang="en-IN" dirty="0"/>
              <a:t>() </a:t>
            </a:r>
          </a:p>
          <a:p>
            <a:pPr marL="36900" indent="0">
              <a:buNone/>
            </a:pPr>
            <a:r>
              <a:rPr lang="en-IN" dirty="0"/>
              <a:t>■ </a:t>
            </a:r>
            <a:r>
              <a:rPr lang="en-IN" dirty="0" err="1"/>
              <a:t>path.extname</a:t>
            </a:r>
            <a:r>
              <a:rPr lang="en-IN" dirty="0"/>
              <a:t>() </a:t>
            </a:r>
          </a:p>
          <a:p>
            <a:pPr marL="36900" indent="0">
              <a:buNone/>
            </a:pPr>
            <a:r>
              <a:rPr lang="en-IN" dirty="0"/>
              <a:t>■ </a:t>
            </a:r>
            <a:r>
              <a:rPr lang="en-IN" dirty="0" err="1"/>
              <a:t>path.join</a:t>
            </a:r>
            <a:r>
              <a:rPr lang="en-IN" dirty="0"/>
              <a:t>() </a:t>
            </a:r>
          </a:p>
          <a:p>
            <a:endParaRPr lang="en-IN" dirty="0"/>
          </a:p>
          <a:p>
            <a:endParaRPr lang="en-IN" dirty="0"/>
          </a:p>
          <a:p>
            <a:endParaRPr lang="en-IN" dirty="0"/>
          </a:p>
        </p:txBody>
      </p:sp>
    </p:spTree>
    <p:extLst>
      <p:ext uri="{BB962C8B-B14F-4D97-AF65-F5344CB8AC3E}">
        <p14:creationId xmlns:p14="http://schemas.microsoft.com/office/powerpoint/2010/main" val="610984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C9D5A9-1098-6A87-E762-9ADB8F6A3313}"/>
              </a:ext>
            </a:extLst>
          </p:cNvPr>
          <p:cNvSpPr>
            <a:spLocks noGrp="1"/>
          </p:cNvSpPr>
          <p:nvPr>
            <p:ph type="body" sz="half" idx="2"/>
          </p:nvPr>
        </p:nvSpPr>
        <p:spPr>
          <a:xfrm>
            <a:off x="0" y="0"/>
            <a:ext cx="12192000" cy="6858000"/>
          </a:xfrm>
        </p:spPr>
        <p:txBody>
          <a:bodyPr>
            <a:normAutofit fontScale="85000" lnSpcReduction="20000"/>
          </a:bodyPr>
          <a:lstStyle/>
          <a:p>
            <a:pPr algn="l"/>
            <a:r>
              <a:rPr lang="en-IN" sz="1700" dirty="0">
                <a:solidFill>
                  <a:srgbClr val="92D050"/>
                </a:solidFill>
              </a:rPr>
              <a:t>What is HTTP?</a:t>
            </a:r>
            <a:br>
              <a:rPr lang="en-IN" sz="1700" dirty="0">
                <a:solidFill>
                  <a:srgbClr val="92D050"/>
                </a:solidFill>
              </a:rPr>
            </a:br>
            <a:r>
              <a:rPr lang="en-IN" sz="1700" dirty="0">
                <a:solidFill>
                  <a:srgbClr val="92D050"/>
                </a:solidFill>
              </a:rPr>
              <a:t>	</a:t>
            </a:r>
            <a:r>
              <a:rPr lang="en-US" sz="1700" dirty="0">
                <a:solidFill>
                  <a:schemeClr val="accent6">
                    <a:lumMod val="60000"/>
                    <a:lumOff val="40000"/>
                  </a:schemeClr>
                </a:solidFill>
              </a:rPr>
              <a:t>Using this module we can create Http Server.</a:t>
            </a:r>
            <a:br>
              <a:rPr lang="en-US" sz="1700" dirty="0">
                <a:solidFill>
                  <a:schemeClr val="accent6">
                    <a:lumMod val="60000"/>
                    <a:lumOff val="40000"/>
                  </a:schemeClr>
                </a:solidFill>
              </a:rPr>
            </a:br>
            <a:r>
              <a:rPr lang="en-US" sz="1700" dirty="0">
                <a:solidFill>
                  <a:schemeClr val="accent6">
                    <a:lumMod val="60000"/>
                    <a:lumOff val="40000"/>
                  </a:schemeClr>
                </a:solidFill>
              </a:rPr>
              <a:t>	Http Server is a software program which manages Http request and Http response.</a:t>
            </a:r>
            <a:br>
              <a:rPr lang="en-US" sz="1700" dirty="0">
                <a:solidFill>
                  <a:schemeClr val="accent6">
                    <a:lumMod val="60000"/>
                    <a:lumOff val="40000"/>
                  </a:schemeClr>
                </a:solidFill>
              </a:rPr>
            </a:br>
            <a:br>
              <a:rPr lang="en-US" sz="1700" dirty="0">
                <a:solidFill>
                  <a:schemeClr val="accent6">
                    <a:lumMod val="60000"/>
                    <a:lumOff val="40000"/>
                  </a:schemeClr>
                </a:solidFill>
              </a:rPr>
            </a:br>
            <a:r>
              <a:rPr lang="en-US" sz="1700" dirty="0">
                <a:solidFill>
                  <a:srgbClr val="92D050"/>
                </a:solidFill>
              </a:rPr>
              <a:t>How to </a:t>
            </a:r>
            <a:r>
              <a:rPr lang="en-IN" sz="1700" dirty="0">
                <a:solidFill>
                  <a:srgbClr val="92D050"/>
                </a:solidFill>
              </a:rPr>
              <a:t>Create Http Server/Backend</a:t>
            </a:r>
          </a:p>
          <a:p>
            <a:pPr algn="l"/>
            <a:r>
              <a:rPr lang="en-IN" sz="1700" dirty="0">
                <a:solidFill>
                  <a:schemeClr val="accent6">
                    <a:lumMod val="60000"/>
                    <a:lumOff val="40000"/>
                  </a:schemeClr>
                </a:solidFill>
              </a:rPr>
              <a:t>Create a </a:t>
            </a:r>
            <a:r>
              <a:rPr lang="en-IN" sz="1700" dirty="0" err="1">
                <a:solidFill>
                  <a:schemeClr val="accent6">
                    <a:lumMod val="60000"/>
                    <a:lumOff val="40000"/>
                  </a:schemeClr>
                </a:solidFill>
              </a:rPr>
              <a:t>js</a:t>
            </a:r>
            <a:r>
              <a:rPr lang="en-IN" sz="1700" dirty="0">
                <a:solidFill>
                  <a:schemeClr val="accent6">
                    <a:lumMod val="60000"/>
                    <a:lumOff val="40000"/>
                  </a:schemeClr>
                </a:solidFill>
              </a:rPr>
              <a:t> file</a:t>
            </a:r>
          </a:p>
          <a:p>
            <a:pPr algn="l"/>
            <a:r>
              <a:rPr lang="en-IN" sz="1700" dirty="0">
                <a:solidFill>
                  <a:schemeClr val="accent5">
                    <a:lumMod val="40000"/>
                    <a:lumOff val="60000"/>
                  </a:schemeClr>
                </a:solidFill>
                <a:latin typeface="fkGroteskNeue"/>
              </a:rPr>
              <a:t>Server.js</a:t>
            </a:r>
          </a:p>
          <a:p>
            <a:pPr algn="l"/>
            <a:r>
              <a:rPr lang="en-IN" sz="1700" dirty="0">
                <a:solidFill>
                  <a:schemeClr val="accent6">
                    <a:lumMod val="60000"/>
                    <a:lumOff val="40000"/>
                  </a:schemeClr>
                </a:solidFill>
              </a:rPr>
              <a:t> Import Http Module</a:t>
            </a:r>
          </a:p>
          <a:p>
            <a:pPr algn="l"/>
            <a:r>
              <a:rPr lang="en-US" sz="1700" b="1" dirty="0">
                <a:solidFill>
                  <a:srgbClr val="92D050"/>
                </a:solidFill>
                <a:latin typeface="fkGroteskNeue"/>
              </a:rPr>
              <a:t>// Importing the http module from Node.js</a:t>
            </a:r>
          </a:p>
          <a:p>
            <a:pPr algn="l"/>
            <a:r>
              <a:rPr lang="fr-FR" dirty="0">
                <a:effectLst/>
              </a:rPr>
              <a:t>const http = </a:t>
            </a:r>
            <a:r>
              <a:rPr lang="fr-FR" dirty="0" err="1">
                <a:effectLst/>
              </a:rPr>
              <a:t>require</a:t>
            </a:r>
            <a:r>
              <a:rPr lang="fr-FR" dirty="0">
                <a:effectLst/>
              </a:rPr>
              <a:t>("http");</a:t>
            </a:r>
          </a:p>
          <a:p>
            <a:pPr algn="l"/>
            <a:r>
              <a:rPr lang="fr-FR" dirty="0">
                <a:effectLst/>
              </a:rPr>
              <a:t>const PORT = 3000;</a:t>
            </a:r>
          </a:p>
          <a:p>
            <a:pPr algn="l"/>
            <a:r>
              <a:rPr lang="en-US" sz="1700" b="1" dirty="0">
                <a:solidFill>
                  <a:srgbClr val="92D050"/>
                </a:solidFill>
                <a:latin typeface="fkGroteskNeue"/>
              </a:rPr>
              <a:t>// The 'http' module returns an object that allows us to call the </a:t>
            </a:r>
            <a:r>
              <a:rPr lang="en-US" sz="1700" b="1" dirty="0" err="1">
                <a:solidFill>
                  <a:srgbClr val="92D050"/>
                </a:solidFill>
                <a:latin typeface="fkGroteskNeue"/>
              </a:rPr>
              <a:t>createServer</a:t>
            </a:r>
            <a:r>
              <a:rPr lang="en-US" sz="1700" b="1" dirty="0">
                <a:solidFill>
                  <a:srgbClr val="92D050"/>
                </a:solidFill>
                <a:latin typeface="fkGroteskNeue"/>
              </a:rPr>
              <a:t>() function, It creates an HTTP server that can handle requests with a callback function (req, res).</a:t>
            </a:r>
          </a:p>
          <a:p>
            <a:pPr algn="l"/>
            <a:r>
              <a:rPr lang="en-IN" sz="1700" dirty="0">
                <a:solidFill>
                  <a:schemeClr val="accent6">
                    <a:lumMod val="60000"/>
                    <a:lumOff val="40000"/>
                  </a:schemeClr>
                </a:solidFill>
              </a:rPr>
              <a:t>Use </a:t>
            </a:r>
            <a:r>
              <a:rPr lang="en-IN" sz="2400" b="1" dirty="0" err="1">
                <a:solidFill>
                  <a:srgbClr val="FFFF99"/>
                </a:solidFill>
              </a:rPr>
              <a:t>createServer</a:t>
            </a:r>
            <a:r>
              <a:rPr lang="en-IN" sz="2400" b="1" dirty="0">
                <a:solidFill>
                  <a:srgbClr val="FFFF99"/>
                </a:solidFill>
              </a:rPr>
              <a:t>() </a:t>
            </a:r>
            <a:r>
              <a:rPr lang="en-IN" sz="1700" dirty="0">
                <a:solidFill>
                  <a:schemeClr val="accent6">
                    <a:lumMod val="60000"/>
                    <a:lumOff val="40000"/>
                  </a:schemeClr>
                </a:solidFill>
              </a:rPr>
              <a:t>to create Http Server.</a:t>
            </a:r>
            <a:endParaRPr lang="en-US" sz="1700" b="1" dirty="0">
              <a:solidFill>
                <a:srgbClr val="92D050"/>
              </a:solidFill>
              <a:latin typeface="fkGroteskNeue"/>
            </a:endParaRPr>
          </a:p>
          <a:p>
            <a:pPr algn="l"/>
            <a:r>
              <a:rPr lang="en-US" sz="1700" dirty="0">
                <a:solidFill>
                  <a:schemeClr val="accent5">
                    <a:lumMod val="40000"/>
                    <a:lumOff val="60000"/>
                  </a:schemeClr>
                </a:solidFill>
                <a:latin typeface="fkGroteskNeue"/>
              </a:rPr>
              <a:t>const server = </a:t>
            </a:r>
            <a:r>
              <a:rPr lang="en-US" sz="1700" dirty="0" err="1">
                <a:solidFill>
                  <a:schemeClr val="accent5">
                    <a:lumMod val="40000"/>
                    <a:lumOff val="60000"/>
                  </a:schemeClr>
                </a:solidFill>
                <a:latin typeface="fkGroteskNeue"/>
              </a:rPr>
              <a:t>http.createServer</a:t>
            </a:r>
            <a:r>
              <a:rPr lang="en-US" sz="1700" dirty="0">
                <a:solidFill>
                  <a:schemeClr val="accent5">
                    <a:lumMod val="40000"/>
                    <a:lumOff val="60000"/>
                  </a:schemeClr>
                </a:solidFill>
                <a:latin typeface="fkGroteskNeue"/>
              </a:rPr>
              <a:t>((req, res) =&gt; {</a:t>
            </a:r>
          </a:p>
          <a:p>
            <a:pPr algn="l"/>
            <a:r>
              <a:rPr lang="en-US" sz="1700" dirty="0" err="1">
                <a:solidFill>
                  <a:schemeClr val="accent5">
                    <a:lumMod val="40000"/>
                    <a:lumOff val="60000"/>
                  </a:schemeClr>
                </a:solidFill>
                <a:latin typeface="fkGroteskNeue"/>
              </a:rPr>
              <a:t>res.end</a:t>
            </a:r>
            <a:r>
              <a:rPr lang="en-US" sz="1700" dirty="0">
                <a:solidFill>
                  <a:schemeClr val="accent5">
                    <a:lumMod val="40000"/>
                    <a:lumOff val="60000"/>
                  </a:schemeClr>
                </a:solidFill>
                <a:latin typeface="fkGroteskNeue"/>
              </a:rPr>
              <a:t>("Hello, World!");</a:t>
            </a:r>
          </a:p>
          <a:p>
            <a:pPr algn="l"/>
            <a:r>
              <a:rPr lang="en-US" sz="1700" dirty="0">
                <a:solidFill>
                  <a:schemeClr val="accent6">
                    <a:lumMod val="60000"/>
                    <a:lumOff val="40000"/>
                  </a:schemeClr>
                </a:solidFill>
                <a:latin typeface="fkGroteskNeue"/>
              </a:rPr>
              <a:t>});</a:t>
            </a:r>
            <a:endParaRPr lang="en-US" sz="1700" dirty="0">
              <a:solidFill>
                <a:srgbClr val="002060"/>
              </a:solidFill>
              <a:latin typeface="fkGroteskNeue"/>
            </a:endParaRPr>
          </a:p>
          <a:p>
            <a:pPr marL="36900" algn="l"/>
            <a:r>
              <a:rPr lang="en-US" sz="1700" b="1" dirty="0">
                <a:solidFill>
                  <a:srgbClr val="92D050"/>
                </a:solidFill>
                <a:latin typeface="fkGroteskNeue"/>
              </a:rPr>
              <a:t>// The server object has a listen() function that takes two parameters: port and callback.</a:t>
            </a:r>
          </a:p>
          <a:p>
            <a:pPr marL="36900" algn="l"/>
            <a:r>
              <a:rPr lang="en-US" sz="2400" b="1" dirty="0" err="1">
                <a:solidFill>
                  <a:srgbClr val="FFFF99"/>
                </a:solidFill>
              </a:rPr>
              <a:t>server.listen</a:t>
            </a:r>
            <a:r>
              <a:rPr lang="en-US" sz="1700" dirty="0">
                <a:solidFill>
                  <a:schemeClr val="accent6">
                    <a:lumMod val="60000"/>
                    <a:lumOff val="40000"/>
                  </a:schemeClr>
                </a:solidFill>
                <a:latin typeface="fkGroteskNeue"/>
              </a:rPr>
              <a:t>(PORT, () =&gt; {</a:t>
            </a:r>
          </a:p>
          <a:p>
            <a:pPr marL="36900" algn="l"/>
            <a:r>
              <a:rPr lang="en-US" sz="1700" dirty="0">
                <a:solidFill>
                  <a:schemeClr val="accent6">
                    <a:lumMod val="60000"/>
                    <a:lumOff val="40000"/>
                  </a:schemeClr>
                </a:solidFill>
                <a:latin typeface="fkGroteskNeue"/>
              </a:rPr>
              <a:t>  console.log("Server started on port “, PORT);</a:t>
            </a:r>
          </a:p>
          <a:p>
            <a:pPr marL="36900" algn="l"/>
            <a:r>
              <a:rPr lang="en-US" sz="1700" dirty="0">
                <a:solidFill>
                  <a:schemeClr val="accent6">
                    <a:lumMod val="60000"/>
                    <a:lumOff val="40000"/>
                  </a:schemeClr>
                </a:solidFill>
                <a:latin typeface="fkGroteskNeue"/>
              </a:rPr>
              <a:t>});</a:t>
            </a:r>
            <a:endParaRPr lang="en-US" sz="1700" dirty="0">
              <a:solidFill>
                <a:schemeClr val="accent5">
                  <a:lumMod val="40000"/>
                  <a:lumOff val="60000"/>
                </a:schemeClr>
              </a:solidFill>
              <a:latin typeface="fkGroteskNeue"/>
            </a:endParaRPr>
          </a:p>
          <a:p>
            <a:pPr marL="36900" algn="l"/>
            <a:r>
              <a:rPr lang="en-US" sz="1700" dirty="0">
                <a:solidFill>
                  <a:schemeClr val="accent6">
                    <a:lumMod val="60000"/>
                    <a:lumOff val="40000"/>
                  </a:schemeClr>
                </a:solidFill>
                <a:latin typeface="fkGroteskNeue"/>
              </a:rPr>
              <a:t>});</a:t>
            </a:r>
            <a:endParaRPr lang="en-US" sz="1700" dirty="0">
              <a:solidFill>
                <a:srgbClr val="002060"/>
              </a:solidFill>
              <a:latin typeface="fkGroteskNeue"/>
            </a:endParaRPr>
          </a:p>
          <a:p>
            <a:pPr algn="l"/>
            <a:endParaRPr lang="en-IN" dirty="0">
              <a:solidFill>
                <a:schemeClr val="accent6">
                  <a:lumMod val="60000"/>
                  <a:lumOff val="40000"/>
                </a:schemeClr>
              </a:solidFill>
            </a:endParaRPr>
          </a:p>
          <a:p>
            <a:pPr algn="l"/>
            <a:endParaRPr lang="en-IN" dirty="0">
              <a:solidFill>
                <a:schemeClr val="accent6">
                  <a:lumMod val="60000"/>
                  <a:lumOff val="40000"/>
                </a:schemeClr>
              </a:solidFill>
            </a:endParaRPr>
          </a:p>
          <a:p>
            <a:pPr algn="l"/>
            <a:endParaRPr lang="en-IN" dirty="0"/>
          </a:p>
          <a:p>
            <a:endParaRPr lang="en-IN" dirty="0"/>
          </a:p>
        </p:txBody>
      </p:sp>
    </p:spTree>
    <p:extLst>
      <p:ext uri="{BB962C8B-B14F-4D97-AF65-F5344CB8AC3E}">
        <p14:creationId xmlns:p14="http://schemas.microsoft.com/office/powerpoint/2010/main" val="2277362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460FC-A95E-D9A3-D150-5C2BB0F93C34}"/>
              </a:ext>
            </a:extLst>
          </p:cNvPr>
          <p:cNvSpPr>
            <a:spLocks noGrp="1"/>
          </p:cNvSpPr>
          <p:nvPr>
            <p:ph type="title"/>
          </p:nvPr>
        </p:nvSpPr>
        <p:spPr>
          <a:xfrm>
            <a:off x="0" y="0"/>
            <a:ext cx="10353762" cy="970450"/>
          </a:xfrm>
        </p:spPr>
        <p:txBody>
          <a:bodyPr>
            <a:normAutofit/>
          </a:bodyPr>
          <a:lstStyle/>
          <a:p>
            <a:r>
              <a:rPr lang="en-IN" sz="2000" dirty="0">
                <a:solidFill>
                  <a:schemeClr val="accent6">
                    <a:lumMod val="60000"/>
                    <a:lumOff val="40000"/>
                  </a:schemeClr>
                </a:solidFill>
              </a:rPr>
              <a:t>Letz create a html file and read that content and display in server.</a:t>
            </a:r>
            <a:br>
              <a:rPr lang="en-IN" sz="2000" dirty="0">
                <a:solidFill>
                  <a:schemeClr val="accent6">
                    <a:lumMod val="60000"/>
                    <a:lumOff val="40000"/>
                  </a:schemeClr>
                </a:solidFill>
              </a:rPr>
            </a:br>
            <a:endParaRPr lang="en-IN" sz="2000" dirty="0"/>
          </a:p>
        </p:txBody>
      </p:sp>
      <p:sp>
        <p:nvSpPr>
          <p:cNvPr id="3" name="Text Placeholder 2">
            <a:extLst>
              <a:ext uri="{FF2B5EF4-FFF2-40B4-BE49-F238E27FC236}">
                <a16:creationId xmlns:a16="http://schemas.microsoft.com/office/drawing/2014/main" id="{E9C6CDAF-A3F8-8495-D24F-26D53B652BB7}"/>
              </a:ext>
            </a:extLst>
          </p:cNvPr>
          <p:cNvSpPr>
            <a:spLocks noGrp="1"/>
          </p:cNvSpPr>
          <p:nvPr>
            <p:ph type="body" idx="1"/>
          </p:nvPr>
        </p:nvSpPr>
        <p:spPr>
          <a:xfrm>
            <a:off x="790504" y="688370"/>
            <a:ext cx="4850007" cy="678094"/>
          </a:xfrm>
        </p:spPr>
        <p:txBody>
          <a:bodyPr/>
          <a:lstStyle/>
          <a:p>
            <a:r>
              <a:rPr lang="en-IN" dirty="0"/>
              <a:t>In app.js</a:t>
            </a:r>
          </a:p>
        </p:txBody>
      </p:sp>
      <p:sp>
        <p:nvSpPr>
          <p:cNvPr id="4" name="Text Placeholder 3">
            <a:extLst>
              <a:ext uri="{FF2B5EF4-FFF2-40B4-BE49-F238E27FC236}">
                <a16:creationId xmlns:a16="http://schemas.microsoft.com/office/drawing/2014/main" id="{F3499DB8-D547-9023-B55E-1DF58A10FA1E}"/>
              </a:ext>
            </a:extLst>
          </p:cNvPr>
          <p:cNvSpPr>
            <a:spLocks noGrp="1"/>
          </p:cNvSpPr>
          <p:nvPr>
            <p:ph type="body" sz="half" idx="15"/>
          </p:nvPr>
        </p:nvSpPr>
        <p:spPr>
          <a:xfrm>
            <a:off x="790504" y="1366464"/>
            <a:ext cx="4973297" cy="5322012"/>
          </a:xfrm>
        </p:spPr>
        <p:txBody>
          <a:bodyPr>
            <a:normAutofit/>
          </a:bodyPr>
          <a:lstStyle/>
          <a:p>
            <a:pPr algn="l"/>
            <a:r>
              <a:rPr lang="en-IN" dirty="0">
                <a:effectLst/>
              </a:rPr>
              <a:t>const { </a:t>
            </a:r>
            <a:r>
              <a:rPr lang="en-IN" dirty="0" err="1">
                <a:effectLst/>
              </a:rPr>
              <a:t>createServer</a:t>
            </a:r>
            <a:r>
              <a:rPr lang="en-IN" dirty="0">
                <a:effectLst/>
              </a:rPr>
              <a:t> } = require("http");</a:t>
            </a:r>
          </a:p>
          <a:p>
            <a:pPr algn="l"/>
            <a:r>
              <a:rPr lang="en-IN" dirty="0">
                <a:effectLst/>
              </a:rPr>
              <a:t>const { </a:t>
            </a:r>
            <a:r>
              <a:rPr lang="en-IN" dirty="0" err="1">
                <a:effectLst/>
              </a:rPr>
              <a:t>readFile</a:t>
            </a:r>
            <a:r>
              <a:rPr lang="en-IN" dirty="0">
                <a:effectLst/>
              </a:rPr>
              <a:t> } = require("fs");</a:t>
            </a:r>
          </a:p>
          <a:p>
            <a:pPr algn="l"/>
            <a:r>
              <a:rPr lang="en-IN" dirty="0">
                <a:solidFill>
                  <a:srgbClr val="92D050"/>
                </a:solidFill>
                <a:effectLst/>
              </a:rPr>
              <a:t>//import fs module to read content</a:t>
            </a:r>
          </a:p>
          <a:p>
            <a:pPr algn="l"/>
            <a:r>
              <a:rPr lang="en-IN" dirty="0">
                <a:effectLst/>
              </a:rPr>
              <a:t>const server = </a:t>
            </a:r>
            <a:r>
              <a:rPr lang="en-IN" dirty="0" err="1">
                <a:effectLst/>
              </a:rPr>
              <a:t>createServer</a:t>
            </a:r>
            <a:r>
              <a:rPr lang="en-IN" dirty="0">
                <a:effectLst/>
              </a:rPr>
              <a:t>((</a:t>
            </a:r>
            <a:r>
              <a:rPr lang="en-IN" dirty="0" err="1">
                <a:effectLst/>
              </a:rPr>
              <a:t>req,res</a:t>
            </a:r>
            <a:r>
              <a:rPr lang="en-IN" dirty="0">
                <a:effectLst/>
              </a:rPr>
              <a:t>)=&gt;</a:t>
            </a:r>
          </a:p>
          <a:p>
            <a:pPr algn="l"/>
            <a:r>
              <a:rPr lang="en-IN" dirty="0" err="1">
                <a:effectLst/>
              </a:rPr>
              <a:t>readFile</a:t>
            </a:r>
            <a:r>
              <a:rPr lang="en-IN" dirty="0">
                <a:effectLst/>
              </a:rPr>
              <a:t>("home.html","utf-8",(</a:t>
            </a:r>
            <a:r>
              <a:rPr lang="en-IN" dirty="0" err="1">
                <a:effectLst/>
              </a:rPr>
              <a:t>error,data</a:t>
            </a:r>
            <a:r>
              <a:rPr lang="en-IN" dirty="0">
                <a:effectLst/>
              </a:rPr>
              <a:t>)=&gt;{</a:t>
            </a:r>
          </a:p>
          <a:p>
            <a:pPr algn="l"/>
            <a:r>
              <a:rPr lang="en-IN" dirty="0">
                <a:effectLst/>
              </a:rPr>
              <a:t>    if(error) {</a:t>
            </a:r>
          </a:p>
          <a:p>
            <a:pPr algn="l"/>
            <a:r>
              <a:rPr lang="en-IN" dirty="0">
                <a:effectLst/>
              </a:rPr>
              <a:t>        </a:t>
            </a:r>
            <a:r>
              <a:rPr lang="en-IN" dirty="0" err="1">
                <a:effectLst/>
              </a:rPr>
              <a:t>res.end</a:t>
            </a:r>
            <a:r>
              <a:rPr lang="en-IN" dirty="0">
                <a:effectLst/>
              </a:rPr>
              <a:t>("Error: " + </a:t>
            </a:r>
            <a:r>
              <a:rPr lang="en-IN" dirty="0" err="1">
                <a:effectLst/>
              </a:rPr>
              <a:t>error.message</a:t>
            </a:r>
            <a:r>
              <a:rPr lang="en-IN" dirty="0">
                <a:effectLst/>
              </a:rPr>
              <a:t>);</a:t>
            </a:r>
          </a:p>
          <a:p>
            <a:pPr algn="l"/>
            <a:r>
              <a:rPr lang="en-IN" dirty="0">
                <a:effectLst/>
              </a:rPr>
              <a:t>    }else {</a:t>
            </a:r>
          </a:p>
          <a:p>
            <a:pPr algn="l"/>
            <a:r>
              <a:rPr lang="en-IN" dirty="0">
                <a:effectLst/>
              </a:rPr>
              <a:t>        </a:t>
            </a:r>
            <a:r>
              <a:rPr lang="en-IN" dirty="0" err="1">
                <a:effectLst/>
              </a:rPr>
              <a:t>res.end</a:t>
            </a:r>
            <a:r>
              <a:rPr lang="en-IN" dirty="0">
                <a:effectLst/>
              </a:rPr>
              <a:t>(data)</a:t>
            </a:r>
          </a:p>
          <a:p>
            <a:pPr algn="l"/>
            <a:r>
              <a:rPr lang="en-IN" dirty="0">
                <a:effectLst/>
              </a:rPr>
              <a:t>    }</a:t>
            </a:r>
          </a:p>
          <a:p>
            <a:pPr algn="l"/>
            <a:r>
              <a:rPr lang="en-IN" dirty="0">
                <a:effectLst/>
              </a:rPr>
              <a:t>})</a:t>
            </a:r>
          </a:p>
          <a:p>
            <a:pPr algn="l"/>
            <a:r>
              <a:rPr lang="en-IN" dirty="0">
                <a:effectLst/>
              </a:rPr>
              <a:t>);</a:t>
            </a:r>
          </a:p>
          <a:p>
            <a:pPr algn="l"/>
            <a:r>
              <a:rPr lang="en-IN" dirty="0" err="1">
                <a:effectLst/>
              </a:rPr>
              <a:t>server.listen</a:t>
            </a:r>
            <a:r>
              <a:rPr lang="en-IN" dirty="0">
                <a:effectLst/>
              </a:rPr>
              <a:t>(5000,()=&gt;{</a:t>
            </a:r>
          </a:p>
          <a:p>
            <a:pPr algn="l"/>
            <a:r>
              <a:rPr lang="en-IN" dirty="0">
                <a:effectLst/>
              </a:rPr>
              <a:t>    console.log("started in 5000")</a:t>
            </a:r>
          </a:p>
          <a:p>
            <a:pPr algn="l"/>
            <a:r>
              <a:rPr lang="en-IN" dirty="0">
                <a:effectLst/>
              </a:rPr>
              <a:t>})</a:t>
            </a:r>
          </a:p>
        </p:txBody>
      </p:sp>
      <p:sp>
        <p:nvSpPr>
          <p:cNvPr id="5" name="Text Placeholder 4">
            <a:extLst>
              <a:ext uri="{FF2B5EF4-FFF2-40B4-BE49-F238E27FC236}">
                <a16:creationId xmlns:a16="http://schemas.microsoft.com/office/drawing/2014/main" id="{D1B2D2E9-9EEF-9AF6-818F-966B669B253A}"/>
              </a:ext>
            </a:extLst>
          </p:cNvPr>
          <p:cNvSpPr>
            <a:spLocks noGrp="1"/>
          </p:cNvSpPr>
          <p:nvPr>
            <p:ph type="body" sz="quarter" idx="3"/>
          </p:nvPr>
        </p:nvSpPr>
        <p:spPr>
          <a:xfrm>
            <a:off x="6145309" y="688369"/>
            <a:ext cx="5332286" cy="678095"/>
          </a:xfrm>
        </p:spPr>
        <p:txBody>
          <a:bodyPr/>
          <a:lstStyle/>
          <a:p>
            <a:r>
              <a:rPr lang="en-IN" dirty="0"/>
              <a:t>In home.html</a:t>
            </a:r>
          </a:p>
        </p:txBody>
      </p:sp>
      <p:sp>
        <p:nvSpPr>
          <p:cNvPr id="6" name="Text Placeholder 5">
            <a:extLst>
              <a:ext uri="{FF2B5EF4-FFF2-40B4-BE49-F238E27FC236}">
                <a16:creationId xmlns:a16="http://schemas.microsoft.com/office/drawing/2014/main" id="{2478D98A-6E60-3BAC-AF24-E1197298F281}"/>
              </a:ext>
            </a:extLst>
          </p:cNvPr>
          <p:cNvSpPr>
            <a:spLocks noGrp="1"/>
          </p:cNvSpPr>
          <p:nvPr>
            <p:ph type="body" sz="half" idx="16"/>
          </p:nvPr>
        </p:nvSpPr>
        <p:spPr>
          <a:xfrm>
            <a:off x="5979561" y="1366465"/>
            <a:ext cx="5744616" cy="5188448"/>
          </a:xfrm>
        </p:spPr>
        <p:txBody>
          <a:bodyPr/>
          <a:lstStyle/>
          <a:p>
            <a:pPr algn="l"/>
            <a:r>
              <a:rPr lang="en-IN" dirty="0">
                <a:effectLst/>
              </a:rPr>
              <a:t>&lt;!DOCTYPE html&gt;</a:t>
            </a:r>
          </a:p>
          <a:p>
            <a:pPr algn="l"/>
            <a:r>
              <a:rPr lang="en-IN" dirty="0">
                <a:effectLst/>
              </a:rPr>
              <a:t>&lt;html&gt;</a:t>
            </a:r>
          </a:p>
          <a:p>
            <a:pPr algn="l"/>
            <a:r>
              <a:rPr lang="en-IN" dirty="0">
                <a:effectLst/>
              </a:rPr>
              <a:t>&lt;head&gt;</a:t>
            </a:r>
          </a:p>
          <a:p>
            <a:pPr algn="l"/>
            <a:r>
              <a:rPr lang="en-IN" dirty="0">
                <a:effectLst/>
              </a:rPr>
              <a:t>    &lt;title&gt;Document&lt;/title&gt;</a:t>
            </a:r>
          </a:p>
          <a:p>
            <a:pPr algn="l"/>
            <a:r>
              <a:rPr lang="en-IN" dirty="0">
                <a:effectLst/>
              </a:rPr>
              <a:t>&lt;/head&gt;</a:t>
            </a:r>
          </a:p>
          <a:p>
            <a:pPr algn="l"/>
            <a:r>
              <a:rPr lang="en-IN" dirty="0">
                <a:effectLst/>
              </a:rPr>
              <a:t>&lt;body&gt;</a:t>
            </a:r>
          </a:p>
          <a:p>
            <a:pPr algn="l"/>
            <a:r>
              <a:rPr lang="en-IN" dirty="0">
                <a:effectLst/>
              </a:rPr>
              <a:t>    &lt;h1&gt;hi&lt;/h1&gt;</a:t>
            </a:r>
          </a:p>
          <a:p>
            <a:pPr algn="l"/>
            <a:r>
              <a:rPr lang="en-IN" dirty="0">
                <a:effectLst/>
              </a:rPr>
              <a:t>    &lt;p&gt;Lorem ipsum </a:t>
            </a:r>
            <a:r>
              <a:rPr lang="en-IN" dirty="0" err="1">
                <a:effectLst/>
              </a:rPr>
              <a:t>dolor</a:t>
            </a:r>
            <a:r>
              <a:rPr lang="en-IN" dirty="0">
                <a:effectLst/>
              </a:rPr>
              <a:t>&lt;/p&gt;</a:t>
            </a:r>
          </a:p>
          <a:p>
            <a:pPr algn="l"/>
            <a:r>
              <a:rPr lang="en-IN" dirty="0">
                <a:effectLst/>
              </a:rPr>
              <a:t>    &lt;p&gt;Delete&lt;/p&gt;</a:t>
            </a:r>
          </a:p>
          <a:p>
            <a:pPr algn="l"/>
            <a:r>
              <a:rPr lang="en-IN" dirty="0">
                <a:effectLst/>
              </a:rPr>
              <a:t>&lt;/body&gt;</a:t>
            </a:r>
          </a:p>
          <a:p>
            <a:pPr algn="l"/>
            <a:r>
              <a:rPr lang="en-IN" dirty="0">
                <a:effectLst/>
              </a:rPr>
              <a:t>&lt;/html&gt;</a:t>
            </a:r>
          </a:p>
          <a:p>
            <a:pPr algn="l"/>
            <a:endParaRPr lang="en-IN" dirty="0"/>
          </a:p>
        </p:txBody>
      </p:sp>
    </p:spTree>
    <p:extLst>
      <p:ext uri="{BB962C8B-B14F-4D97-AF65-F5344CB8AC3E}">
        <p14:creationId xmlns:p14="http://schemas.microsoft.com/office/powerpoint/2010/main" val="998030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B16722A-12C7-9CAC-12DF-8E649DA8B494}"/>
              </a:ext>
            </a:extLst>
          </p:cNvPr>
          <p:cNvSpPr>
            <a:spLocks noGrp="1"/>
          </p:cNvSpPr>
          <p:nvPr>
            <p:ph type="body" sz="half" idx="2"/>
          </p:nvPr>
        </p:nvSpPr>
        <p:spPr>
          <a:xfrm>
            <a:off x="0" y="0"/>
            <a:ext cx="12192000" cy="6858000"/>
          </a:xfrm>
        </p:spPr>
        <p:txBody>
          <a:bodyPr/>
          <a:lstStyle/>
          <a:p>
            <a:pPr algn="l"/>
            <a:r>
              <a:rPr lang="en-IN" dirty="0">
                <a:solidFill>
                  <a:schemeClr val="accent1">
                    <a:lumMod val="60000"/>
                    <a:lumOff val="40000"/>
                  </a:schemeClr>
                </a:solidFill>
              </a:rPr>
              <a:t>How to access Route path.</a:t>
            </a:r>
          </a:p>
          <a:p>
            <a:pPr algn="l"/>
            <a:r>
              <a:rPr lang="en-IN" dirty="0">
                <a:solidFill>
                  <a:srgbClr val="92D050"/>
                </a:solidFill>
              </a:rPr>
              <a:t>Example: </a:t>
            </a:r>
            <a:r>
              <a:rPr lang="en-IN" dirty="0">
                <a:solidFill>
                  <a:srgbClr val="92D050"/>
                </a:solidFill>
                <a:hlinkClick r:id="rId2"/>
              </a:rPr>
              <a:t>http://localhost:5000/home</a:t>
            </a:r>
            <a:endParaRPr lang="en-IN" dirty="0">
              <a:solidFill>
                <a:srgbClr val="92D050"/>
              </a:solidFill>
            </a:endParaRPr>
          </a:p>
          <a:p>
            <a:pPr algn="l"/>
            <a:endParaRPr lang="en-IN" dirty="0">
              <a:solidFill>
                <a:srgbClr val="92D050"/>
              </a:solidFill>
            </a:endParaRPr>
          </a:p>
        </p:txBody>
      </p:sp>
    </p:spTree>
    <p:extLst>
      <p:ext uri="{BB962C8B-B14F-4D97-AF65-F5344CB8AC3E}">
        <p14:creationId xmlns:p14="http://schemas.microsoft.com/office/powerpoint/2010/main" val="1411819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E2F8E-8E09-D940-B3D5-2CD5EBCDDBFE}"/>
              </a:ext>
            </a:extLst>
          </p:cNvPr>
          <p:cNvSpPr>
            <a:spLocks noGrp="1"/>
          </p:cNvSpPr>
          <p:nvPr>
            <p:ph type="title"/>
          </p:nvPr>
        </p:nvSpPr>
        <p:spPr>
          <a:xfrm>
            <a:off x="193496" y="98462"/>
            <a:ext cx="10353762" cy="746589"/>
          </a:xfrm>
        </p:spPr>
        <p:txBody>
          <a:bodyPr>
            <a:normAutofit fontScale="90000"/>
          </a:bodyPr>
          <a:lstStyle/>
          <a:p>
            <a:pPr algn="l"/>
            <a:r>
              <a:rPr lang="en-US" sz="3100" dirty="0"/>
              <a:t>How to access data from Request Body of HTTP request</a:t>
            </a:r>
            <a:br>
              <a:rPr lang="en-US" dirty="0"/>
            </a:br>
            <a:endParaRPr lang="en-IN" dirty="0"/>
          </a:p>
        </p:txBody>
      </p:sp>
      <p:sp>
        <p:nvSpPr>
          <p:cNvPr id="3" name="Content Placeholder 2">
            <a:extLst>
              <a:ext uri="{FF2B5EF4-FFF2-40B4-BE49-F238E27FC236}">
                <a16:creationId xmlns:a16="http://schemas.microsoft.com/office/drawing/2014/main" id="{F6B46A0E-B75E-D71A-1EC0-C1E048EBEC62}"/>
              </a:ext>
            </a:extLst>
          </p:cNvPr>
          <p:cNvSpPr>
            <a:spLocks noGrp="1"/>
          </p:cNvSpPr>
          <p:nvPr>
            <p:ph idx="1"/>
          </p:nvPr>
        </p:nvSpPr>
        <p:spPr>
          <a:xfrm>
            <a:off x="246580" y="534256"/>
            <a:ext cx="11945420" cy="6102850"/>
          </a:xfrm>
        </p:spPr>
        <p:txBody>
          <a:bodyPr/>
          <a:lstStyle/>
          <a:p>
            <a:r>
              <a:rPr lang="en-US" sz="2000" dirty="0"/>
              <a:t>The client can send requests to the backend/server, and these requests hold the data</a:t>
            </a:r>
          </a:p>
          <a:p>
            <a:pPr lvl="8"/>
            <a:endParaRPr lang="en-IN" dirty="0"/>
          </a:p>
          <a:p>
            <a:pPr marL="2877600" lvl="8" indent="0">
              <a:buNone/>
            </a:pPr>
            <a:r>
              <a:rPr lang="en-US" sz="2400" dirty="0">
                <a:solidFill>
                  <a:schemeClr val="accent1">
                    <a:lumMod val="40000"/>
                    <a:lumOff val="60000"/>
                  </a:schemeClr>
                </a:solidFill>
                <a:latin typeface="fkGroteskNeue"/>
              </a:rPr>
              <a:t>																																																										</a:t>
            </a:r>
            <a:endParaRPr lang="en-IN" dirty="0"/>
          </a:p>
        </p:txBody>
      </p:sp>
      <p:sp>
        <p:nvSpPr>
          <p:cNvPr id="5" name="Rectangle 4">
            <a:extLst>
              <a:ext uri="{FF2B5EF4-FFF2-40B4-BE49-F238E27FC236}">
                <a16:creationId xmlns:a16="http://schemas.microsoft.com/office/drawing/2014/main" id="{E896B666-6905-9833-4D54-B1E032E36438}"/>
              </a:ext>
            </a:extLst>
          </p:cNvPr>
          <p:cNvSpPr/>
          <p:nvPr/>
        </p:nvSpPr>
        <p:spPr>
          <a:xfrm>
            <a:off x="193496" y="1181532"/>
            <a:ext cx="2681555" cy="101714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Client</a:t>
            </a:r>
          </a:p>
        </p:txBody>
      </p:sp>
      <p:sp>
        <p:nvSpPr>
          <p:cNvPr id="6" name="Rectangle 5">
            <a:extLst>
              <a:ext uri="{FF2B5EF4-FFF2-40B4-BE49-F238E27FC236}">
                <a16:creationId xmlns:a16="http://schemas.microsoft.com/office/drawing/2014/main" id="{5426F032-0435-5BEA-3DB3-C12B5F48D618}"/>
              </a:ext>
            </a:extLst>
          </p:cNvPr>
          <p:cNvSpPr/>
          <p:nvPr/>
        </p:nvSpPr>
        <p:spPr>
          <a:xfrm>
            <a:off x="9138863" y="1145568"/>
            <a:ext cx="2455524" cy="1017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Backend/ Server</a:t>
            </a:r>
          </a:p>
        </p:txBody>
      </p:sp>
      <p:sp>
        <p:nvSpPr>
          <p:cNvPr id="7" name="Arrow: Right 6">
            <a:extLst>
              <a:ext uri="{FF2B5EF4-FFF2-40B4-BE49-F238E27FC236}">
                <a16:creationId xmlns:a16="http://schemas.microsoft.com/office/drawing/2014/main" id="{60379764-859C-B593-0EB6-B295035B2162}"/>
              </a:ext>
            </a:extLst>
          </p:cNvPr>
          <p:cNvSpPr/>
          <p:nvPr/>
        </p:nvSpPr>
        <p:spPr>
          <a:xfrm>
            <a:off x="2875051" y="1255159"/>
            <a:ext cx="6340868" cy="7465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latin typeface="fkGroteskNeue"/>
              </a:rPr>
              <a:t>req (Holds data)</a:t>
            </a:r>
            <a:r>
              <a:rPr lang="en-US" dirty="0">
                <a:solidFill>
                  <a:srgbClr val="00B0F0"/>
                </a:solidFill>
                <a:latin typeface="fkGroteskNeue"/>
              </a:rPr>
              <a:t>	</a:t>
            </a:r>
            <a:endParaRPr lang="en-IN" dirty="0"/>
          </a:p>
        </p:txBody>
      </p:sp>
      <p:sp>
        <p:nvSpPr>
          <p:cNvPr id="8" name="Arrow: Down 7">
            <a:extLst>
              <a:ext uri="{FF2B5EF4-FFF2-40B4-BE49-F238E27FC236}">
                <a16:creationId xmlns:a16="http://schemas.microsoft.com/office/drawing/2014/main" id="{70E3FE57-AB57-C60B-8919-3C4546FD01B7}"/>
              </a:ext>
            </a:extLst>
          </p:cNvPr>
          <p:cNvSpPr/>
          <p:nvPr/>
        </p:nvSpPr>
        <p:spPr>
          <a:xfrm>
            <a:off x="4822860" y="1870754"/>
            <a:ext cx="2455524" cy="26199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Path</a:t>
            </a:r>
          </a:p>
          <a:p>
            <a:pPr algn="ctr"/>
            <a:r>
              <a:rPr lang="en-IN" dirty="0"/>
              <a:t>Params</a:t>
            </a:r>
            <a:br>
              <a:rPr lang="en-IN" dirty="0"/>
            </a:br>
            <a:r>
              <a:rPr lang="en-IN" dirty="0">
                <a:solidFill>
                  <a:srgbClr val="C00000"/>
                </a:solidFill>
              </a:rPr>
              <a:t>(</a:t>
            </a:r>
            <a:r>
              <a:rPr lang="en-IN" sz="2000" dirty="0">
                <a:solidFill>
                  <a:schemeClr val="accent3">
                    <a:lumMod val="50000"/>
                  </a:schemeClr>
                </a:solidFill>
                <a:latin typeface="fkGroteskNeue"/>
              </a:rPr>
              <a:t>GET, PUT,</a:t>
            </a:r>
          </a:p>
          <a:p>
            <a:pPr algn="ctr"/>
            <a:r>
              <a:rPr lang="en-IN" sz="2000" dirty="0">
                <a:solidFill>
                  <a:schemeClr val="accent3">
                    <a:lumMod val="50000"/>
                  </a:schemeClr>
                </a:solidFill>
                <a:latin typeface="fkGroteskNeue"/>
              </a:rPr>
              <a:t>DELETE</a:t>
            </a:r>
            <a:r>
              <a:rPr lang="en-IN" sz="2000" dirty="0">
                <a:solidFill>
                  <a:srgbClr val="C00000"/>
                </a:solidFill>
                <a:latin typeface="fkGroteskNeue"/>
              </a:rPr>
              <a:t>)</a:t>
            </a:r>
          </a:p>
        </p:txBody>
      </p:sp>
      <p:sp>
        <p:nvSpPr>
          <p:cNvPr id="10" name="Arrow: Left 9">
            <a:extLst>
              <a:ext uri="{FF2B5EF4-FFF2-40B4-BE49-F238E27FC236}">
                <a16:creationId xmlns:a16="http://schemas.microsoft.com/office/drawing/2014/main" id="{3903F0BD-074C-AC00-9BB1-FAB49AE5846D}"/>
              </a:ext>
            </a:extLst>
          </p:cNvPr>
          <p:cNvSpPr/>
          <p:nvPr/>
        </p:nvSpPr>
        <p:spPr>
          <a:xfrm>
            <a:off x="865598" y="2718372"/>
            <a:ext cx="3957262" cy="219010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C00000"/>
                </a:solidFill>
                <a:latin typeface="fkGroteskNeue"/>
              </a:rPr>
              <a:t>Request Body(</a:t>
            </a:r>
            <a:r>
              <a:rPr lang="en-US" sz="2000" dirty="0">
                <a:solidFill>
                  <a:schemeClr val="accent3">
                    <a:lumMod val="50000"/>
                  </a:schemeClr>
                </a:solidFill>
                <a:latin typeface="fkGroteskNeue"/>
              </a:rPr>
              <a:t>Post &amp; Put</a:t>
            </a:r>
            <a:r>
              <a:rPr lang="en-US" sz="2000" dirty="0">
                <a:solidFill>
                  <a:srgbClr val="C00000"/>
                </a:solidFill>
                <a:latin typeface="fkGroteskNeue"/>
              </a:rPr>
              <a:t>)</a:t>
            </a:r>
            <a:endParaRPr lang="en-IN" sz="2000" dirty="0">
              <a:solidFill>
                <a:srgbClr val="C00000"/>
              </a:solidFill>
            </a:endParaRPr>
          </a:p>
        </p:txBody>
      </p:sp>
      <p:sp>
        <p:nvSpPr>
          <p:cNvPr id="15" name="Arrow: Right 14">
            <a:extLst>
              <a:ext uri="{FF2B5EF4-FFF2-40B4-BE49-F238E27FC236}">
                <a16:creationId xmlns:a16="http://schemas.microsoft.com/office/drawing/2014/main" id="{EEB4B8D0-A699-F9F7-6AC2-7EF38F530E9B}"/>
              </a:ext>
            </a:extLst>
          </p:cNvPr>
          <p:cNvSpPr/>
          <p:nvPr/>
        </p:nvSpPr>
        <p:spPr>
          <a:xfrm>
            <a:off x="7134546" y="2671709"/>
            <a:ext cx="4382784" cy="22834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Query Param</a:t>
            </a:r>
            <a:r>
              <a:rPr lang="en-IN" dirty="0">
                <a:solidFill>
                  <a:srgbClr val="C00000"/>
                </a:solidFill>
              </a:rPr>
              <a:t>(</a:t>
            </a:r>
            <a:r>
              <a:rPr lang="en-IN" dirty="0">
                <a:solidFill>
                  <a:schemeClr val="accent3">
                    <a:lumMod val="50000"/>
                  </a:schemeClr>
                </a:solidFill>
                <a:latin typeface="fkGroteskNeue"/>
              </a:rPr>
              <a:t>GET, PUT,DELETE</a:t>
            </a:r>
            <a:r>
              <a:rPr lang="en-IN" dirty="0">
                <a:solidFill>
                  <a:srgbClr val="C00000"/>
                </a:solidFill>
                <a:latin typeface="fkGroteskNeue"/>
              </a:rPr>
              <a:t>)</a:t>
            </a:r>
          </a:p>
          <a:p>
            <a:pPr algn="ctr"/>
            <a:endParaRPr lang="en-IN" dirty="0"/>
          </a:p>
        </p:txBody>
      </p:sp>
    </p:spTree>
    <p:extLst>
      <p:ext uri="{BB962C8B-B14F-4D97-AF65-F5344CB8AC3E}">
        <p14:creationId xmlns:p14="http://schemas.microsoft.com/office/powerpoint/2010/main" val="3754872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3B502E-F3CD-1693-8741-321AEFB0F471}"/>
              </a:ext>
            </a:extLst>
          </p:cNvPr>
          <p:cNvSpPr>
            <a:spLocks noGrp="1"/>
          </p:cNvSpPr>
          <p:nvPr>
            <p:ph type="body" sz="half" idx="2"/>
          </p:nvPr>
        </p:nvSpPr>
        <p:spPr>
          <a:xfrm>
            <a:off x="0" y="-1"/>
            <a:ext cx="12192000" cy="6729573"/>
          </a:xfrm>
        </p:spPr>
        <p:txBody>
          <a:bodyPr anchor="t">
            <a:normAutofit fontScale="77500" lnSpcReduction="20000"/>
          </a:bodyPr>
          <a:lstStyle/>
          <a:p>
            <a:pPr algn="l"/>
            <a:r>
              <a:rPr lang="en-US" sz="2500" dirty="0"/>
              <a:t>How to access the data at backend if the data coming in request body.</a:t>
            </a:r>
            <a:endParaRPr lang="en-IN" sz="2500" dirty="0"/>
          </a:p>
          <a:p>
            <a:pPr algn="l"/>
            <a:r>
              <a:rPr lang="en-IN" sz="2400" dirty="0"/>
              <a:t>If any data coming from the client as a request body in that case node JS internally trigger an event called data.</a:t>
            </a:r>
          </a:p>
          <a:p>
            <a:pPr algn="l"/>
            <a:r>
              <a:rPr lang="en-IN" sz="2400" dirty="0"/>
              <a:t>We have to listen to that event and access the data.</a:t>
            </a:r>
          </a:p>
          <a:p>
            <a:pPr algn="l"/>
            <a:r>
              <a:rPr lang="en-IN" sz="2400" dirty="0">
                <a:solidFill>
                  <a:srgbClr val="00B0F0"/>
                </a:solidFill>
              </a:rPr>
              <a:t>How to listen Events in Nodejs</a:t>
            </a:r>
          </a:p>
          <a:p>
            <a:pPr algn="l"/>
            <a:r>
              <a:rPr lang="en-IN" sz="2400" dirty="0">
                <a:solidFill>
                  <a:srgbClr val="00B0F0"/>
                </a:solidFill>
              </a:rPr>
              <a:t>	</a:t>
            </a:r>
            <a:r>
              <a:rPr lang="en-US" sz="2400" dirty="0"/>
              <a:t> We have multiple ways to listen to events in Node.js.</a:t>
            </a:r>
            <a:br>
              <a:rPr lang="en-US" sz="2400" dirty="0"/>
            </a:br>
            <a:r>
              <a:rPr lang="en-US" sz="2400" dirty="0"/>
              <a:t>		One of the ways is by using the req object, which provides access to the on() function.</a:t>
            </a:r>
          </a:p>
          <a:p>
            <a:pPr algn="l"/>
            <a:r>
              <a:rPr lang="en-US" sz="2400" dirty="0"/>
              <a:t>	The </a:t>
            </a:r>
            <a:r>
              <a:rPr lang="en-US" sz="2600" b="1" dirty="0">
                <a:solidFill>
                  <a:srgbClr val="FFFF99"/>
                </a:solidFill>
              </a:rPr>
              <a:t>on() </a:t>
            </a:r>
            <a:r>
              <a:rPr lang="en-US" sz="2400" dirty="0"/>
              <a:t>function takes two arguments:</a:t>
            </a:r>
          </a:p>
          <a:p>
            <a:pPr algn="l"/>
            <a:r>
              <a:rPr lang="en-US" sz="2400" b="1" dirty="0"/>
              <a:t>				eventName</a:t>
            </a:r>
            <a:r>
              <a:rPr lang="en-US" sz="2400" dirty="0"/>
              <a:t> – the name of the event we want to listen to.</a:t>
            </a:r>
          </a:p>
          <a:p>
            <a:pPr algn="l"/>
            <a:r>
              <a:rPr lang="en-US" sz="2400" b="1" dirty="0"/>
              <a:t>				callback function</a:t>
            </a:r>
            <a:r>
              <a:rPr lang="en-US" sz="2400" dirty="0"/>
              <a:t> – also called the event handler, which takes one parameter.</a:t>
            </a:r>
          </a:p>
          <a:p>
            <a:r>
              <a:rPr lang="en-US" sz="2400" dirty="0"/>
              <a:t>Whenever we call </a:t>
            </a:r>
            <a:r>
              <a:rPr lang="en-US" sz="2600" b="1" dirty="0">
                <a:solidFill>
                  <a:srgbClr val="FFFF99"/>
                </a:solidFill>
              </a:rPr>
              <a:t>on() </a:t>
            </a:r>
            <a:r>
              <a:rPr lang="en-US" sz="2400" dirty="0"/>
              <a:t>and configure the event, the callback function will be executed automatically when that event is triggered. Internally, Node.js copies the data coming from the request body into the parameter of the callback function.</a:t>
            </a:r>
          </a:p>
          <a:p>
            <a:r>
              <a:rPr lang="en-US" sz="2400" b="1" dirty="0">
                <a:solidFill>
                  <a:srgbClr val="F8BCF1"/>
                </a:solidFill>
              </a:rPr>
              <a:t>Note: Whenever the request body receives data, the event gets triggered, and the callback function will execute each time new data is received. This means the callback may be called multiple times depending on how the data is sent in chunks.</a:t>
            </a:r>
          </a:p>
          <a:p>
            <a:pPr algn="l"/>
            <a:r>
              <a:rPr lang="en-US" sz="2000" dirty="0"/>
              <a:t>	</a:t>
            </a:r>
          </a:p>
          <a:p>
            <a:pPr algn="l"/>
            <a:r>
              <a:rPr lang="en-US" sz="2000" dirty="0">
                <a:solidFill>
                  <a:srgbClr val="F8BCF1"/>
                </a:solidFill>
              </a:rPr>
              <a:t>req.on</a:t>
            </a:r>
            <a:r>
              <a:rPr lang="en-US" sz="2000" dirty="0"/>
              <a:t>(</a:t>
            </a:r>
            <a:r>
              <a:rPr lang="en-US" sz="2000" dirty="0">
                <a:solidFill>
                  <a:schemeClr val="accent1">
                    <a:lumMod val="60000"/>
                    <a:lumOff val="40000"/>
                  </a:schemeClr>
                </a:solidFill>
              </a:rPr>
              <a:t>eventName</a:t>
            </a:r>
            <a:r>
              <a:rPr lang="en-US" sz="2000" dirty="0"/>
              <a:t>,</a:t>
            </a:r>
            <a:r>
              <a:rPr lang="en-US" sz="2000" dirty="0">
                <a:solidFill>
                  <a:srgbClr val="FFFF00"/>
                </a:solidFill>
              </a:rPr>
              <a:t>(dataOfEvent)=&gt;{</a:t>
            </a:r>
          </a:p>
          <a:p>
            <a:pPr algn="l"/>
            <a:endParaRPr lang="en-US" sz="2000" dirty="0">
              <a:solidFill>
                <a:srgbClr val="FFFF00"/>
              </a:solidFill>
            </a:endParaRPr>
          </a:p>
          <a:p>
            <a:pPr algn="l"/>
            <a:r>
              <a:rPr lang="en-US" sz="2000" dirty="0">
                <a:solidFill>
                  <a:srgbClr val="FFFF00"/>
                </a:solidFill>
              </a:rPr>
              <a:t> }</a:t>
            </a:r>
          </a:p>
          <a:p>
            <a:pPr algn="l"/>
            <a:endParaRPr lang="en-IN" sz="1800" dirty="0"/>
          </a:p>
        </p:txBody>
      </p:sp>
      <p:sp>
        <p:nvSpPr>
          <p:cNvPr id="4" name="Rectangle 3">
            <a:extLst>
              <a:ext uri="{FF2B5EF4-FFF2-40B4-BE49-F238E27FC236}">
                <a16:creationId xmlns:a16="http://schemas.microsoft.com/office/drawing/2014/main" id="{A2378347-2EEF-E96D-8009-AC435CC71384}"/>
              </a:ext>
            </a:extLst>
          </p:cNvPr>
          <p:cNvSpPr/>
          <p:nvPr/>
        </p:nvSpPr>
        <p:spPr>
          <a:xfrm>
            <a:off x="3503488" y="5424754"/>
            <a:ext cx="4777484" cy="1433245"/>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Copied data will store in Hexadecimal format</a:t>
            </a:r>
          </a:p>
          <a:p>
            <a:pPr algn="ctr"/>
            <a:br>
              <a:rPr lang="en-IN" dirty="0"/>
            </a:br>
            <a:r>
              <a:rPr lang="en-IN" b="1" dirty="0">
                <a:solidFill>
                  <a:srgbClr val="F8BCF1"/>
                </a:solidFill>
              </a:rPr>
              <a:t>so we need to convert as JSON format</a:t>
            </a:r>
          </a:p>
        </p:txBody>
      </p:sp>
      <p:sp>
        <p:nvSpPr>
          <p:cNvPr id="5" name="Arrow: Curved Down 4">
            <a:extLst>
              <a:ext uri="{FF2B5EF4-FFF2-40B4-BE49-F238E27FC236}">
                <a16:creationId xmlns:a16="http://schemas.microsoft.com/office/drawing/2014/main" id="{6E8CE051-99D9-26DD-4D64-EAF9AD6BE05E}"/>
              </a:ext>
            </a:extLst>
          </p:cNvPr>
          <p:cNvSpPr/>
          <p:nvPr/>
        </p:nvSpPr>
        <p:spPr>
          <a:xfrm>
            <a:off x="2137024" y="4741522"/>
            <a:ext cx="2301411" cy="554805"/>
          </a:xfrm>
          <a:prstGeom prst="curvedDown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597857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9117E-2582-E603-4EAA-5EB1A91D28A2}"/>
              </a:ext>
            </a:extLst>
          </p:cNvPr>
          <p:cNvSpPr>
            <a:spLocks noGrp="1"/>
          </p:cNvSpPr>
          <p:nvPr>
            <p:ph type="title"/>
          </p:nvPr>
        </p:nvSpPr>
        <p:spPr>
          <a:xfrm>
            <a:off x="92466" y="82194"/>
            <a:ext cx="11175091" cy="503434"/>
          </a:xfrm>
        </p:spPr>
        <p:txBody>
          <a:bodyPr anchor="t">
            <a:normAutofit fontScale="90000"/>
          </a:bodyPr>
          <a:lstStyle/>
          <a:p>
            <a:pPr algn="l"/>
            <a:r>
              <a:rPr lang="en-IN" sz="2400" dirty="0">
                <a:solidFill>
                  <a:srgbClr val="92D050"/>
                </a:solidFill>
              </a:rPr>
              <a:t>Manage and Create Http Request</a:t>
            </a:r>
            <a:br>
              <a:rPr lang="en-IN" sz="2400" dirty="0">
                <a:solidFill>
                  <a:srgbClr val="92D050"/>
                </a:solidFill>
              </a:rPr>
            </a:br>
            <a:r>
              <a:rPr lang="en-IN" sz="2400" dirty="0">
                <a:solidFill>
                  <a:srgbClr val="92D050"/>
                </a:solidFill>
              </a:rPr>
              <a:t>Manage and Create Http Response</a:t>
            </a:r>
            <a:br>
              <a:rPr lang="en-IN" sz="2400" dirty="0">
                <a:solidFill>
                  <a:srgbClr val="92D050"/>
                </a:solidFill>
              </a:rPr>
            </a:br>
            <a:br>
              <a:rPr lang="en-IN" sz="4800" dirty="0">
                <a:solidFill>
                  <a:srgbClr val="92D050"/>
                </a:solidFill>
              </a:rPr>
            </a:br>
            <a:r>
              <a:rPr lang="en-IN" sz="4800" dirty="0">
                <a:solidFill>
                  <a:srgbClr val="92D050"/>
                </a:solidFill>
              </a:rPr>
              <a:t>	</a:t>
            </a:r>
            <a:endParaRPr lang="en-IN" dirty="0"/>
          </a:p>
        </p:txBody>
      </p:sp>
      <p:sp>
        <p:nvSpPr>
          <p:cNvPr id="3" name="Text Placeholder 2">
            <a:extLst>
              <a:ext uri="{FF2B5EF4-FFF2-40B4-BE49-F238E27FC236}">
                <a16:creationId xmlns:a16="http://schemas.microsoft.com/office/drawing/2014/main" id="{B0950A21-43F1-2A2F-4E78-73DD62C8F9C0}"/>
              </a:ext>
            </a:extLst>
          </p:cNvPr>
          <p:cNvSpPr>
            <a:spLocks noGrp="1"/>
          </p:cNvSpPr>
          <p:nvPr>
            <p:ph type="body" idx="1"/>
          </p:nvPr>
        </p:nvSpPr>
        <p:spPr>
          <a:xfrm>
            <a:off x="819981" y="832489"/>
            <a:ext cx="4990795" cy="692494"/>
          </a:xfrm>
        </p:spPr>
        <p:txBody>
          <a:bodyPr/>
          <a:lstStyle/>
          <a:p>
            <a:r>
              <a:rPr lang="en-IN" dirty="0">
                <a:solidFill>
                  <a:srgbClr val="92D050"/>
                </a:solidFill>
              </a:rPr>
              <a:t> </a:t>
            </a:r>
          </a:p>
          <a:p>
            <a:r>
              <a:rPr lang="en-IN" b="1" dirty="0">
                <a:solidFill>
                  <a:srgbClr val="F8BCF1"/>
                </a:solidFill>
              </a:rPr>
              <a:t>Http request</a:t>
            </a:r>
          </a:p>
        </p:txBody>
      </p:sp>
      <p:sp>
        <p:nvSpPr>
          <p:cNvPr id="4" name="Content Placeholder 3">
            <a:extLst>
              <a:ext uri="{FF2B5EF4-FFF2-40B4-BE49-F238E27FC236}">
                <a16:creationId xmlns:a16="http://schemas.microsoft.com/office/drawing/2014/main" id="{04B2230E-BF0A-6832-0430-CD9B491129A6}"/>
              </a:ext>
            </a:extLst>
          </p:cNvPr>
          <p:cNvSpPr>
            <a:spLocks noGrp="1"/>
          </p:cNvSpPr>
          <p:nvPr>
            <p:ph sz="half" idx="2"/>
          </p:nvPr>
        </p:nvSpPr>
        <p:spPr>
          <a:xfrm>
            <a:off x="819981" y="1532466"/>
            <a:ext cx="5097934" cy="5125188"/>
          </a:xfrm>
        </p:spPr>
        <p:txBody>
          <a:bodyPr/>
          <a:lstStyle/>
          <a:p>
            <a:pPr marL="36900" indent="0">
              <a:buNone/>
            </a:pPr>
            <a:r>
              <a:rPr lang="en-IN" dirty="0">
                <a:solidFill>
                  <a:srgbClr val="FFFF00"/>
                </a:solidFill>
              </a:rPr>
              <a:t>	</a:t>
            </a:r>
            <a:r>
              <a:rPr lang="en-IN" dirty="0"/>
              <a:t>It is a structure or format of a data sent from client app</a:t>
            </a:r>
            <a:r>
              <a:rPr lang="en-IN" dirty="0">
                <a:solidFill>
                  <a:schemeClr val="accent6">
                    <a:lumMod val="60000"/>
                    <a:lumOff val="40000"/>
                  </a:schemeClr>
                </a:solidFill>
              </a:rPr>
              <a:t>(frontend) </a:t>
            </a:r>
            <a:r>
              <a:rPr lang="en-IN" dirty="0"/>
              <a:t>to Server</a:t>
            </a:r>
            <a:r>
              <a:rPr lang="en-IN" dirty="0">
                <a:solidFill>
                  <a:schemeClr val="accent6">
                    <a:lumMod val="60000"/>
                    <a:lumOff val="40000"/>
                  </a:schemeClr>
                </a:solidFill>
              </a:rPr>
              <a:t>(backend) </a:t>
            </a:r>
            <a:r>
              <a:rPr lang="en-IN" dirty="0"/>
              <a:t>app</a:t>
            </a:r>
          </a:p>
          <a:p>
            <a:pPr marL="36900" indent="0">
              <a:buNone/>
            </a:pPr>
            <a:r>
              <a:rPr lang="en-IN" dirty="0"/>
              <a:t>The data should contain below details</a:t>
            </a:r>
          </a:p>
          <a:p>
            <a:pPr lvl="1"/>
            <a:r>
              <a:rPr lang="en-IN" dirty="0"/>
              <a:t>Method: what action we are expecting from the server. (action information)</a:t>
            </a:r>
          </a:p>
          <a:p>
            <a:pPr lvl="1"/>
            <a:r>
              <a:rPr lang="en-IN" dirty="0"/>
              <a:t>url: which resources should access.</a:t>
            </a:r>
          </a:p>
          <a:p>
            <a:pPr lvl="1"/>
            <a:r>
              <a:rPr lang="en-IN" dirty="0"/>
              <a:t>Headers: metadata – inform server which data we are sending. (token)</a:t>
            </a:r>
          </a:p>
          <a:p>
            <a:pPr lvl="1"/>
            <a:r>
              <a:rPr lang="en-IN" dirty="0"/>
              <a:t>Body: actual data in the form of body.</a:t>
            </a:r>
          </a:p>
          <a:p>
            <a:endParaRPr lang="en-IN" dirty="0"/>
          </a:p>
        </p:txBody>
      </p:sp>
      <p:sp>
        <p:nvSpPr>
          <p:cNvPr id="5" name="Text Placeholder 4">
            <a:extLst>
              <a:ext uri="{FF2B5EF4-FFF2-40B4-BE49-F238E27FC236}">
                <a16:creationId xmlns:a16="http://schemas.microsoft.com/office/drawing/2014/main" id="{71938CC5-8A4F-AA49-6AA5-BF860A7E135E}"/>
              </a:ext>
            </a:extLst>
          </p:cNvPr>
          <p:cNvSpPr>
            <a:spLocks noGrp="1"/>
          </p:cNvSpPr>
          <p:nvPr>
            <p:ph type="body" sz="quarter" idx="3"/>
          </p:nvPr>
        </p:nvSpPr>
        <p:spPr>
          <a:xfrm>
            <a:off x="6096000" y="839971"/>
            <a:ext cx="4779582" cy="692495"/>
          </a:xfrm>
        </p:spPr>
        <p:txBody>
          <a:bodyPr/>
          <a:lstStyle/>
          <a:p>
            <a:r>
              <a:rPr lang="en-IN" b="1" dirty="0">
                <a:solidFill>
                  <a:srgbClr val="F8BCF1"/>
                </a:solidFill>
              </a:rPr>
              <a:t>Http Response</a:t>
            </a:r>
          </a:p>
        </p:txBody>
      </p:sp>
      <p:sp>
        <p:nvSpPr>
          <p:cNvPr id="6" name="Content Placeholder 5">
            <a:extLst>
              <a:ext uri="{FF2B5EF4-FFF2-40B4-BE49-F238E27FC236}">
                <a16:creationId xmlns:a16="http://schemas.microsoft.com/office/drawing/2014/main" id="{DB85A0D2-C4C2-2509-842D-B11A088435D6}"/>
              </a:ext>
            </a:extLst>
          </p:cNvPr>
          <p:cNvSpPr>
            <a:spLocks noGrp="1"/>
          </p:cNvSpPr>
          <p:nvPr>
            <p:ph sz="quarter" idx="4"/>
          </p:nvPr>
        </p:nvSpPr>
        <p:spPr>
          <a:xfrm>
            <a:off x="6151953" y="1532465"/>
            <a:ext cx="5220066" cy="5125188"/>
          </a:xfrm>
        </p:spPr>
        <p:txBody>
          <a:bodyPr/>
          <a:lstStyle/>
          <a:p>
            <a:r>
              <a:rPr lang="en-IN" dirty="0">
                <a:solidFill>
                  <a:srgbClr val="92D050"/>
                </a:solidFill>
              </a:rPr>
              <a:t>	</a:t>
            </a:r>
            <a:r>
              <a:rPr lang="en-IN" dirty="0"/>
              <a:t>It is a structure or format of a data sent from Server</a:t>
            </a:r>
            <a:r>
              <a:rPr lang="en-IN" dirty="0">
                <a:solidFill>
                  <a:schemeClr val="accent6">
                    <a:lumMod val="60000"/>
                    <a:lumOff val="40000"/>
                  </a:schemeClr>
                </a:solidFill>
              </a:rPr>
              <a:t>(backend)</a:t>
            </a:r>
            <a:r>
              <a:rPr lang="en-IN" dirty="0"/>
              <a:t> to client app</a:t>
            </a:r>
            <a:r>
              <a:rPr lang="en-IN" dirty="0">
                <a:solidFill>
                  <a:schemeClr val="accent6">
                    <a:lumMod val="60000"/>
                    <a:lumOff val="40000"/>
                  </a:schemeClr>
                </a:solidFill>
              </a:rPr>
              <a:t>(frontend) </a:t>
            </a:r>
            <a:r>
              <a:rPr lang="en-IN" dirty="0"/>
              <a:t>app.</a:t>
            </a:r>
          </a:p>
          <a:p>
            <a:r>
              <a:rPr lang="en-IN" dirty="0"/>
              <a:t>Process the http request and send the response back to client.</a:t>
            </a:r>
          </a:p>
        </p:txBody>
      </p:sp>
    </p:spTree>
    <p:extLst>
      <p:ext uri="{BB962C8B-B14F-4D97-AF65-F5344CB8AC3E}">
        <p14:creationId xmlns:p14="http://schemas.microsoft.com/office/powerpoint/2010/main" val="2534848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lowchart: Process 2">
            <a:extLst>
              <a:ext uri="{FF2B5EF4-FFF2-40B4-BE49-F238E27FC236}">
                <a16:creationId xmlns:a16="http://schemas.microsoft.com/office/drawing/2014/main" id="{909753F3-5E0B-EA09-FD83-53CC16C4A25C}"/>
              </a:ext>
            </a:extLst>
          </p:cNvPr>
          <p:cNvSpPr/>
          <p:nvPr/>
        </p:nvSpPr>
        <p:spPr>
          <a:xfrm>
            <a:off x="570216" y="431514"/>
            <a:ext cx="2404153" cy="1849349"/>
          </a:xfrm>
          <a:prstGeom prst="flowChart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t>Post Man /</a:t>
            </a:r>
            <a:br>
              <a:rPr lang="en-IN" dirty="0"/>
            </a:br>
            <a:br>
              <a:rPr lang="en-IN" dirty="0"/>
            </a:br>
            <a:r>
              <a:rPr lang="en-IN" dirty="0"/>
              <a:t>client</a:t>
            </a:r>
          </a:p>
        </p:txBody>
      </p:sp>
      <p:sp>
        <p:nvSpPr>
          <p:cNvPr id="4" name="Flowchart: Process 3">
            <a:extLst>
              <a:ext uri="{FF2B5EF4-FFF2-40B4-BE49-F238E27FC236}">
                <a16:creationId xmlns:a16="http://schemas.microsoft.com/office/drawing/2014/main" id="{7CFE758C-B29D-37BA-CD98-7A09346B597E}"/>
              </a:ext>
            </a:extLst>
          </p:cNvPr>
          <p:cNvSpPr/>
          <p:nvPr/>
        </p:nvSpPr>
        <p:spPr>
          <a:xfrm>
            <a:off x="6224428" y="575353"/>
            <a:ext cx="2404153" cy="1849349"/>
          </a:xfrm>
          <a:prstGeom prst="flowChart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t>http server</a:t>
            </a:r>
          </a:p>
        </p:txBody>
      </p:sp>
      <p:sp>
        <p:nvSpPr>
          <p:cNvPr id="5" name="Flowchart: Process 4">
            <a:extLst>
              <a:ext uri="{FF2B5EF4-FFF2-40B4-BE49-F238E27FC236}">
                <a16:creationId xmlns:a16="http://schemas.microsoft.com/office/drawing/2014/main" id="{F45BB575-5B7E-7E81-161A-7DC17F19B85B}"/>
              </a:ext>
            </a:extLst>
          </p:cNvPr>
          <p:cNvSpPr/>
          <p:nvPr/>
        </p:nvSpPr>
        <p:spPr>
          <a:xfrm>
            <a:off x="8887147" y="65070"/>
            <a:ext cx="2280862" cy="1316804"/>
          </a:xfrm>
          <a:prstGeom prst="flowChart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t>http server will triggers the callback function</a:t>
            </a:r>
          </a:p>
        </p:txBody>
      </p:sp>
      <p:sp>
        <p:nvSpPr>
          <p:cNvPr id="6" name="Arrow: Right 5">
            <a:extLst>
              <a:ext uri="{FF2B5EF4-FFF2-40B4-BE49-F238E27FC236}">
                <a16:creationId xmlns:a16="http://schemas.microsoft.com/office/drawing/2014/main" id="{BE6AFE11-3DB9-B0FC-D9E2-DB48BA2BA5D2}"/>
              </a:ext>
            </a:extLst>
          </p:cNvPr>
          <p:cNvSpPr/>
          <p:nvPr/>
        </p:nvSpPr>
        <p:spPr>
          <a:xfrm>
            <a:off x="3005191" y="739739"/>
            <a:ext cx="3219237" cy="1284271"/>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IN" dirty="0">
                <a:solidFill>
                  <a:srgbClr val="C00000"/>
                </a:solidFill>
              </a:rPr>
              <a:t>Send request to http server</a:t>
            </a:r>
          </a:p>
        </p:txBody>
      </p:sp>
      <p:sp>
        <p:nvSpPr>
          <p:cNvPr id="11" name="Arrow: Left-Up 10">
            <a:extLst>
              <a:ext uri="{FF2B5EF4-FFF2-40B4-BE49-F238E27FC236}">
                <a16:creationId xmlns:a16="http://schemas.microsoft.com/office/drawing/2014/main" id="{429B5E37-77FA-6C30-AECA-5629DB2E942B}"/>
              </a:ext>
            </a:extLst>
          </p:cNvPr>
          <p:cNvSpPr/>
          <p:nvPr/>
        </p:nvSpPr>
        <p:spPr>
          <a:xfrm>
            <a:off x="2038563" y="1340777"/>
            <a:ext cx="9129446" cy="3092521"/>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From this call back the response will be sent back to client</a:t>
            </a:r>
          </a:p>
        </p:txBody>
      </p:sp>
      <p:sp>
        <p:nvSpPr>
          <p:cNvPr id="12" name="Arrow: Curved Down 11">
            <a:extLst>
              <a:ext uri="{FF2B5EF4-FFF2-40B4-BE49-F238E27FC236}">
                <a16:creationId xmlns:a16="http://schemas.microsoft.com/office/drawing/2014/main" id="{C463BBEA-6733-E8EA-703C-942C9381AFDD}"/>
              </a:ext>
            </a:extLst>
          </p:cNvPr>
          <p:cNvSpPr/>
          <p:nvPr/>
        </p:nvSpPr>
        <p:spPr>
          <a:xfrm>
            <a:off x="7150813" y="65070"/>
            <a:ext cx="1869897" cy="510283"/>
          </a:xfrm>
          <a:prstGeom prst="curved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solidFill>
                <a:schemeClr val="tx1"/>
              </a:solidFill>
            </a:endParaRPr>
          </a:p>
        </p:txBody>
      </p:sp>
      <p:sp>
        <p:nvSpPr>
          <p:cNvPr id="7" name="Rectangle 6">
            <a:extLst>
              <a:ext uri="{FF2B5EF4-FFF2-40B4-BE49-F238E27FC236}">
                <a16:creationId xmlns:a16="http://schemas.microsoft.com/office/drawing/2014/main" id="{CEA3B1D5-042F-C2E3-9D02-041A9070EC6D}"/>
              </a:ext>
            </a:extLst>
          </p:cNvPr>
          <p:cNvSpPr/>
          <p:nvPr/>
        </p:nvSpPr>
        <p:spPr>
          <a:xfrm>
            <a:off x="1037690" y="4839128"/>
            <a:ext cx="7027523" cy="18493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F8BCF1"/>
                </a:solidFill>
              </a:rPr>
              <a:t>HTTP SERVER:</a:t>
            </a:r>
          </a:p>
          <a:p>
            <a:pPr marL="342900" indent="-342900" algn="ctr">
              <a:buAutoNum type="arabicPeriod"/>
            </a:pPr>
            <a:r>
              <a:rPr lang="en-IN" dirty="0"/>
              <a:t>Receive the request</a:t>
            </a:r>
          </a:p>
          <a:p>
            <a:pPr marL="342900" indent="-342900" algn="ctr">
              <a:buAutoNum type="arabicPeriod"/>
            </a:pPr>
            <a:r>
              <a:rPr lang="en-IN" dirty="0"/>
              <a:t>Process the request</a:t>
            </a:r>
          </a:p>
          <a:p>
            <a:pPr marL="342900" indent="-342900" algn="ctr">
              <a:buAutoNum type="arabicPeriod"/>
            </a:pPr>
            <a:r>
              <a:rPr lang="en-IN" dirty="0"/>
              <a:t>Send response back to Client</a:t>
            </a:r>
          </a:p>
        </p:txBody>
      </p:sp>
    </p:spTree>
    <p:extLst>
      <p:ext uri="{BB962C8B-B14F-4D97-AF65-F5344CB8AC3E}">
        <p14:creationId xmlns:p14="http://schemas.microsoft.com/office/powerpoint/2010/main" val="656621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430DD5-FA4D-6255-BD55-2F1094D6406D}"/>
              </a:ext>
            </a:extLst>
          </p:cNvPr>
          <p:cNvPicPr>
            <a:picLocks noChangeAspect="1"/>
          </p:cNvPicPr>
          <p:nvPr/>
        </p:nvPicPr>
        <p:blipFill>
          <a:blip r:embed="rId2"/>
          <a:stretch>
            <a:fillRect/>
          </a:stretch>
        </p:blipFill>
        <p:spPr>
          <a:xfrm>
            <a:off x="0" y="0"/>
            <a:ext cx="8426883" cy="3010055"/>
          </a:xfrm>
          <a:prstGeom prst="rect">
            <a:avLst/>
          </a:prstGeom>
        </p:spPr>
      </p:pic>
      <p:pic>
        <p:nvPicPr>
          <p:cNvPr id="5" name="Picture 4">
            <a:extLst>
              <a:ext uri="{FF2B5EF4-FFF2-40B4-BE49-F238E27FC236}">
                <a16:creationId xmlns:a16="http://schemas.microsoft.com/office/drawing/2014/main" id="{DA5655CB-D9D0-4065-59D4-F9EC73773094}"/>
              </a:ext>
            </a:extLst>
          </p:cNvPr>
          <p:cNvPicPr>
            <a:picLocks noChangeAspect="1"/>
          </p:cNvPicPr>
          <p:nvPr/>
        </p:nvPicPr>
        <p:blipFill>
          <a:blip r:embed="rId3"/>
          <a:stretch>
            <a:fillRect/>
          </a:stretch>
        </p:blipFill>
        <p:spPr>
          <a:xfrm>
            <a:off x="4125653" y="1771129"/>
            <a:ext cx="7988711" cy="4959605"/>
          </a:xfrm>
          <a:prstGeom prst="rect">
            <a:avLst/>
          </a:prstGeom>
        </p:spPr>
      </p:pic>
    </p:spTree>
    <p:extLst>
      <p:ext uri="{BB962C8B-B14F-4D97-AF65-F5344CB8AC3E}">
        <p14:creationId xmlns:p14="http://schemas.microsoft.com/office/powerpoint/2010/main" val="1196776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rial Nova">
      <a:majorFont>
        <a:latin typeface="Arial Nova Light"/>
        <a:ea typeface=""/>
        <a:cs typeface=""/>
      </a:majorFont>
      <a:minorFont>
        <a:latin typeface="Arial Nova"/>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E70FC5-1855-47AB-8CE1-CB3C873A898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0CB38EC-895A-4F8F-8F75-E263501ABB5A}">
  <ds:schemaRefs>
    <ds:schemaRef ds:uri="http://schemas.microsoft.com/sharepoint/v3/contenttype/forms"/>
  </ds:schemaRefs>
</ds:datastoreItem>
</file>

<file path=customXml/itemProps3.xml><?xml version="1.0" encoding="utf-8"?>
<ds:datastoreItem xmlns:ds="http://schemas.openxmlformats.org/officeDocument/2006/customXml" ds:itemID="{5560E646-30AD-4BA0-97EA-A7A07DF54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{577E2585-6C44-4861-8299-3E266CE582FB}tf11665031_win32</Template>
  <TotalTime>1029</TotalTime>
  <Words>1984</Words>
  <Application>Microsoft Office PowerPoint</Application>
  <PresentationFormat>Widescreen</PresentationFormat>
  <Paragraphs>230</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Arial Nova</vt:lpstr>
      <vt:lpstr>Arial Nova Light</vt:lpstr>
      <vt:lpstr>fkGrotesk</vt:lpstr>
      <vt:lpstr>fkGroteskNeue</vt:lpstr>
      <vt:lpstr>Wingdings</vt:lpstr>
      <vt:lpstr>Wingdings 2</vt:lpstr>
      <vt:lpstr>SlateVTI</vt:lpstr>
      <vt:lpstr>BackEnd</vt:lpstr>
      <vt:lpstr>What is Node JS</vt:lpstr>
      <vt:lpstr>PowerPoint Presentation</vt:lpstr>
      <vt:lpstr>PowerPoint Presentation</vt:lpstr>
      <vt:lpstr>PowerPoint Presentation</vt:lpstr>
      <vt:lpstr>Object</vt:lpstr>
      <vt:lpstr>CallBack</vt:lpstr>
      <vt:lpstr>Promise</vt:lpstr>
      <vt:lpstr>CallBack Hell</vt:lpstr>
      <vt:lpstr>Currying</vt:lpstr>
      <vt:lpstr>Asynchronous programming in JS</vt:lpstr>
      <vt:lpstr>Architecture of JavaScript Engine </vt:lpstr>
      <vt:lpstr>ES6 Module Pattern</vt:lpstr>
      <vt:lpstr>Module Concept using Common JS Module Pattern  </vt:lpstr>
      <vt:lpstr>NODE JS Architecture</vt:lpstr>
      <vt:lpstr>Event-Driven Architecture </vt:lpstr>
      <vt:lpstr>Event Loop</vt:lpstr>
      <vt:lpstr>Event Loop Phases</vt:lpstr>
      <vt:lpstr>PowerPoint Presentation</vt:lpstr>
      <vt:lpstr>PowerPoint Presentation</vt:lpstr>
      <vt:lpstr>PowerPoint Presentation</vt:lpstr>
      <vt:lpstr>Letz create a html file and read that content and display in server. </vt:lpstr>
      <vt:lpstr>PowerPoint Presentation</vt:lpstr>
      <vt:lpstr>How to access data from Request Body of HTTP request </vt:lpstr>
      <vt:lpstr>PowerPoint Presentation</vt:lpstr>
      <vt:lpstr>Manage and Create Http Request Manage and Create Http Response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Jhana Karthik</dc:creator>
  <cp:lastModifiedBy>Jhana Karthik</cp:lastModifiedBy>
  <cp:revision>85</cp:revision>
  <dcterms:created xsi:type="dcterms:W3CDTF">2025-11-11T14:15:00Z</dcterms:created>
  <dcterms:modified xsi:type="dcterms:W3CDTF">2025-11-17T15:30:50Z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