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280" r:id="rId5"/>
    <p:sldId id="281" r:id="rId6"/>
    <p:sldId id="282" r:id="rId7"/>
    <p:sldId id="283" r:id="rId8"/>
    <p:sldId id="284" r:id="rId9"/>
    <p:sldId id="285" r:id="rId10"/>
    <p:sldId id="286" r:id="rId11"/>
    <p:sldId id="287" r:id="rId12"/>
    <p:sldId id="288" r:id="rId13"/>
    <p:sldId id="289" r:id="rId14"/>
    <p:sldId id="290" r:id="rId15"/>
    <p:sldId id="291" r:id="rId16"/>
    <p:sldId id="292" r:id="rId17"/>
    <p:sldId id="293" r:id="rId18"/>
    <p:sldId id="294" r:id="rId19"/>
    <p:sldId id="295"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BCF1"/>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19" autoAdjust="0"/>
  </p:normalViewPr>
  <p:slideViewPr>
    <p:cSldViewPr snapToGrid="0">
      <p:cViewPr varScale="1">
        <p:scale>
          <a:sx n="62" d="100"/>
          <a:sy n="62" d="100"/>
        </p:scale>
        <p:origin x="828"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77348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8D38747-4367-4BD2-8D51-C97E202738E2}" type="datetime1">
              <a:rPr lang="en-US" smtClean="0"/>
              <a:t>11/11/2025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9029819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C55A3C-5767-4844-A0A3-83778C2E5409}" type="datetime1">
              <a:rPr lang="en-US" smtClean="0"/>
              <a:t>11/11/2025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06277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763439"/>
            <a:ext cx="9590550" cy="133349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AE507A8-A5CF-4D38-AB86-7EDDA87A85D4}" type="datetime1">
              <a:rPr lang="en-US" smtClean="0"/>
              <a:t>11/11/2025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6642051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126187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76450"/>
            <a:ext cx="4856841" cy="362267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0716" y="2076451"/>
            <a:ext cx="4856841" cy="3622672"/>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FCD27C-8599-43EF-BA1D-14DDC1946E06}" type="datetime1">
              <a:rPr lang="en-US" smtClean="0"/>
              <a:t>11/11/2025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115774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a:extLst>
              <a:ext uri="{FF2B5EF4-FFF2-40B4-BE49-F238E27FC236}">
                <a16:creationId xmlns:a16="http://schemas.microsoft.com/office/drawing/2014/main" id="{37B721FF-D609-4D98-9D19-CF75AA8A54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29200" cy="4099959"/>
          </a:xfrm>
          <a:prstGeom prst="rect">
            <a:avLst/>
          </a:prstGeom>
        </p:spPr>
      </p:pic>
      <p:pic>
        <p:nvPicPr>
          <p:cNvPr id="21" name="Picture 20" descr="Slate-V2-HD-compPhotoInset.png">
            <a:extLst>
              <a:ext uri="{FF2B5EF4-FFF2-40B4-BE49-F238E27FC236}">
                <a16:creationId xmlns:a16="http://schemas.microsoft.com/office/drawing/2014/main" id="{073936BD-C868-433F-8E84-D6DD8E640E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8357" y="1734506"/>
            <a:ext cx="5029200" cy="4099959"/>
          </a:xfrm>
          <a:prstGeom prst="rect">
            <a:avLst/>
          </a:prstGeom>
        </p:spPr>
      </p:pic>
      <p:sp>
        <p:nvSpPr>
          <p:cNvPr id="2" name="Title 1"/>
          <p:cNvSpPr>
            <a:spLocks noGrp="1"/>
          </p:cNvSpPr>
          <p:nvPr>
            <p:ph type="title"/>
          </p:nvPr>
        </p:nvSpPr>
        <p:spPr>
          <a:xfrm>
            <a:off x="913795" y="609600"/>
            <a:ext cx="10353762" cy="97045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46013" y="1855153"/>
            <a:ext cx="4764764" cy="69249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46013" y="2702103"/>
            <a:ext cx="4764764"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3166" y="1855152"/>
            <a:ext cx="4779582" cy="692495"/>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3167" y="2702103"/>
            <a:ext cx="4779581" cy="304353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9343D99-809A-49C0-96E5-4250D0B498EE}" type="datetime1">
              <a:rPr lang="en-US" smtClean="0"/>
              <a:t>11/11/2025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203152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143DE9B-B678-4EFB-BB7D-A4370204A0B0}" type="datetime1">
              <a:rPr lang="en-US" smtClean="0"/>
              <a:t>11/11/2025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343349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8812DA-F765-4142-A6A3-A8ED7235E082}" type="datetime1">
              <a:rPr lang="en-US" smtClean="0"/>
              <a:t>11/11/2025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515851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8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0800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673351"/>
            <a:ext cx="3706889" cy="3016250"/>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E0277FD-7DE6-41D4-930D-AC99F5AFE54E}" type="datetime1">
              <a:rPr lang="en-US" smtClean="0"/>
              <a:t>11/11/2025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058149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a:extLst>
              <a:ext uri="{FF2B5EF4-FFF2-40B4-BE49-F238E27FC236}">
                <a16:creationId xmlns:a16="http://schemas.microsoft.com/office/drawing/2014/main" id="{4D06E496-ACBA-4063-B4A1-C5C484EE5A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763701"/>
            <a:ext cx="5707899" cy="1675559"/>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73698" y="2679699"/>
            <a:ext cx="4588094" cy="3135695"/>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EA15526-7079-4B7B-987C-1B5FAE11A0FF}" type="datetime1">
              <a:rPr lang="en-US" smtClean="0"/>
              <a:t>11/11/2025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425126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a:extLst>
              <a:ext uri="{FF2B5EF4-FFF2-40B4-BE49-F238E27FC236}">
                <a16:creationId xmlns:a16="http://schemas.microsoft.com/office/drawing/2014/main" id="{CE39118B-B3AD-4BD4-BA22-DEFF4E76C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247728"/>
            <a:ext cx="10353762" cy="543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F1B079-7EF0-44EE-B798-BCC497C9F3B2}" type="datetime1">
              <a:rPr lang="en-US" smtClean="0"/>
              <a:t>11/11/2025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198098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normAutofit/>
          </a:bodyPr>
          <a:lstStyle>
            <a:lvl1pPr>
              <a:defRPr sz="40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8FF70A8-1D13-4657-95F0-A9EA54967B8D}" type="datetime1">
              <a:rPr lang="en-US" smtClean="0"/>
              <a:t>11/11/2025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681927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1EB90AC-71BD-4C7F-8ACA-7B3F18292E63}" type="datetime1">
              <a:rPr lang="en-US" smtClean="0"/>
              <a:t>11/11/2025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
        <p:nvSpPr>
          <p:cNvPr id="11" name="TextBox 10">
            <a:extLst>
              <a:ext uri="{FF2B5EF4-FFF2-40B4-BE49-F238E27FC236}">
                <a16:creationId xmlns:a16="http://schemas.microsoft.com/office/drawing/2014/main" id="{223F0D53-0705-41B7-8554-09D21E7807F9}"/>
              </a:ext>
            </a:extLst>
          </p:cNvPr>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a:extLst>
              <a:ext uri="{FF2B5EF4-FFF2-40B4-BE49-F238E27FC236}">
                <a16:creationId xmlns:a16="http://schemas.microsoft.com/office/drawing/2014/main" id="{C7F647CD-0F1A-4BB3-89E0-A74F1E1B098D}"/>
              </a:ext>
            </a:extLst>
          </p:cNvPr>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8520980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E6EFC2C-8905-46F0-B443-CE905B76BA01}" type="datetime1">
              <a:rPr lang="en-US" smtClean="0"/>
              <a:t>11/11/2025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063243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49"/>
            <a:ext cx="3300984" cy="764783"/>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768112"/>
            <a:ext cx="3300984" cy="302308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764782"/>
          </a:xfrm>
        </p:spPr>
        <p:txBody>
          <a:bodyPr anchor="b">
            <a:noAutofit/>
          </a:bodyPr>
          <a:lstStyle>
            <a:lvl1pPr marL="0" indent="0" algn="ctr">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768110"/>
            <a:ext cx="3300984" cy="302308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D9079DC3-C9B5-499E-9140-0DC28B7074E2}" type="datetime1">
              <a:rPr lang="en-US" smtClean="0"/>
              <a:t>11/11/2025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797586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a:extLst>
              <a:ext uri="{FF2B5EF4-FFF2-40B4-BE49-F238E27FC236}">
                <a16:creationId xmlns:a16="http://schemas.microsoft.com/office/drawing/2014/main" id="{7E87C569-D426-4615-ADA7-B370EA9834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a:extLst>
              <a:ext uri="{FF2B5EF4-FFF2-40B4-BE49-F238E27FC236}">
                <a16:creationId xmlns:a16="http://schemas.microsoft.com/office/drawing/2014/main" id="{7B353ED4-7AD0-46C9-88ED-1A16B1433A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a:extLst>
              <a:ext uri="{FF2B5EF4-FFF2-40B4-BE49-F238E27FC236}">
                <a16:creationId xmlns:a16="http://schemas.microsoft.com/office/drawing/2014/main" id="{F561D985-AD57-459A-B3A6-EBF296039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572443"/>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572442"/>
            <a:ext cx="3300984" cy="121875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BB33EA-E472-4D22-9C03-A9C14AA21CED}" type="datetime1">
              <a:rPr lang="en-US" smtClean="0"/>
              <a:t>11/11/2025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25455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125730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76450"/>
            <a:ext cx="10353762" cy="3714749"/>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6000749"/>
            <a:ext cx="2743200"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073ED0CC-082F-4160-86E5-0D6041F12778}" type="datetime1">
              <a:rPr lang="en-US" smtClean="0"/>
              <a:t>11/11/2025</a:t>
            </a:fld>
            <a:endParaRPr lang="en-US" dirty="0"/>
          </a:p>
        </p:txBody>
      </p:sp>
      <p:sp>
        <p:nvSpPr>
          <p:cNvPr id="5" name="Footer Placeholder 4"/>
          <p:cNvSpPr>
            <a:spLocks noGrp="1"/>
          </p:cNvSpPr>
          <p:nvPr>
            <p:ph type="ftr" sz="quarter" idx="3"/>
          </p:nvPr>
        </p:nvSpPr>
        <p:spPr>
          <a:xfrm>
            <a:off x="913795" y="6000749"/>
            <a:ext cx="6672865" cy="365125"/>
          </a:xfrm>
          <a:prstGeom prst="rect">
            <a:avLst/>
          </a:prstGeom>
        </p:spPr>
        <p:txBody>
          <a:bodyPr vert="horz" lIns="91440" tIns="45720" rIns="91440" bIns="45720" rtlCol="0" anchor="ctr"/>
          <a:lstStyle>
            <a:lvl1pPr algn="l">
              <a:defRPr sz="11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6000749"/>
            <a:ext cx="753545" cy="365125"/>
          </a:xfrm>
          <a:prstGeom prst="rect">
            <a:avLst/>
          </a:prstGeom>
        </p:spPr>
        <p:txBody>
          <a:bodyPr vert="horz" lIns="91440" tIns="45720" rIns="91440" bIns="45720" rtlCol="0" anchor="ctr"/>
          <a:lstStyle>
            <a:lvl1pPr algn="r">
              <a:defRPr sz="1100">
                <a:solidFill>
                  <a:schemeClr val="tx1">
                    <a:lumMod val="95000"/>
                  </a:schemeClr>
                </a:solidFill>
                <a:effectLst>
                  <a:outerShdw blurRad="50800" dist="38100" dir="2700000" algn="tl" rotWithShape="0">
                    <a:schemeClr val="bg1">
                      <a:alpha val="43000"/>
                    </a:schemeClr>
                  </a:outerShdw>
                </a:effectLst>
              </a:defRPr>
            </a:lvl1pPr>
          </a:lstStyle>
          <a:p>
            <a:fld id="{3A98EE3D-8CD1-4C3F-BD1C-C98C9596463C}" type="slidenum">
              <a:rPr lang="en-US" smtClean="0"/>
              <a:t>‹#›</a:t>
            </a:fld>
            <a:endParaRPr lang="en-US" dirty="0"/>
          </a:p>
        </p:txBody>
      </p:sp>
    </p:spTree>
    <p:extLst>
      <p:ext uri="{BB962C8B-B14F-4D97-AF65-F5344CB8AC3E}">
        <p14:creationId xmlns:p14="http://schemas.microsoft.com/office/powerpoint/2010/main" val="401274407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457200" rtl="0" eaLnBrk="1" latinLnBrk="0" hangingPunct="1">
        <a:lnSpc>
          <a:spcPct val="90000"/>
        </a:lnSpc>
        <a:spcBef>
          <a:spcPct val="0"/>
        </a:spcBef>
        <a:buNone/>
        <a:defRPr sz="4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lnSpc>
          <a:spcPct val="110000"/>
        </a:lnSpc>
        <a:spcBef>
          <a:spcPct val="20000"/>
        </a:spcBef>
        <a:spcAft>
          <a:spcPts val="600"/>
        </a:spcAft>
        <a:buClr>
          <a:schemeClr val="tx2"/>
        </a:buClr>
        <a:buSzPct val="70000"/>
        <a:buFont typeface="Wingdings 2" charset="2"/>
        <a:buChar char=""/>
        <a:defRPr sz="23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21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1">
                <a:shade val="80000"/>
                <a:lumMod val="80000"/>
              </a:schemeClr>
              <a:schemeClr val="bg1">
                <a:tint val="98000"/>
              </a:schemeClr>
            </a:duotone>
          </a:blip>
          <a:stretch/>
        </a:blipFill>
        <a:effectLst/>
      </p:bgPr>
    </p:bg>
    <p:spTree>
      <p:nvGrpSpPr>
        <p:cNvPr id="1" name=""/>
        <p:cNvGrpSpPr/>
        <p:nvPr/>
      </p:nvGrpSpPr>
      <p:grpSpPr>
        <a:xfrm>
          <a:off x="0" y="0"/>
          <a:ext cx="0" cy="0"/>
          <a:chOff x="0" y="0"/>
          <a:chExt cx="0" cy="0"/>
        </a:xfrm>
      </p:grpSpPr>
      <p:pic>
        <p:nvPicPr>
          <p:cNvPr id="6" name="Picture 5" descr="A picture containing large, sitting, white, numbers">
            <a:extLst>
              <a:ext uri="{FF2B5EF4-FFF2-40B4-BE49-F238E27FC236}">
                <a16:creationId xmlns:a16="http://schemas.microsoft.com/office/drawing/2014/main" id="{9A5D9ED1-DFCC-4799-89E2-D118451B98DF}"/>
              </a:ext>
            </a:extLst>
          </p:cNvPr>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322" y="0"/>
            <a:ext cx="12191356" cy="6858000"/>
          </a:xfrm>
          <a:prstGeom prst="rect">
            <a:avLst/>
          </a:prstGeom>
        </p:spPr>
      </p:pic>
      <p:sp useBgFill="1">
        <p:nvSpPr>
          <p:cNvPr id="96" name="Freeform 5">
            <a:extLst>
              <a:ext uri="{FF2B5EF4-FFF2-40B4-BE49-F238E27FC236}">
                <a16:creationId xmlns:a16="http://schemas.microsoft.com/office/drawing/2014/main" id="{FE469E50-3893-4ED6-92BA-2985C32B0C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rot="5400000">
            <a:off x="7131809" y="1385982"/>
            <a:ext cx="4031414" cy="4100418"/>
          </a:xfrm>
          <a:custGeom>
            <a:avLst/>
            <a:gdLst>
              <a:gd name="T0" fmla="*/ 1577 w 1601"/>
              <a:gd name="T1" fmla="*/ 0 h 696"/>
              <a:gd name="T2" fmla="*/ 833 w 1601"/>
              <a:gd name="T3" fmla="*/ 0 h 696"/>
              <a:gd name="T4" fmla="*/ 768 w 1601"/>
              <a:gd name="T5" fmla="*/ 0 h 696"/>
              <a:gd name="T6" fmla="*/ 24 w 1601"/>
              <a:gd name="T7" fmla="*/ 0 h 696"/>
              <a:gd name="T8" fmla="*/ 0 w 1601"/>
              <a:gd name="T9" fmla="*/ 27 h 696"/>
              <a:gd name="T10" fmla="*/ 0 w 1601"/>
              <a:gd name="T11" fmla="*/ 669 h 696"/>
              <a:gd name="T12" fmla="*/ 24 w 1601"/>
              <a:gd name="T13" fmla="*/ 696 h 696"/>
              <a:gd name="T14" fmla="*/ 768 w 1601"/>
              <a:gd name="T15" fmla="*/ 696 h 696"/>
              <a:gd name="T16" fmla="*/ 833 w 1601"/>
              <a:gd name="T17" fmla="*/ 696 h 696"/>
              <a:gd name="T18" fmla="*/ 1577 w 1601"/>
              <a:gd name="T19" fmla="*/ 696 h 696"/>
              <a:gd name="T20" fmla="*/ 1601 w 1601"/>
              <a:gd name="T21" fmla="*/ 669 h 696"/>
              <a:gd name="T22" fmla="*/ 1601 w 1601"/>
              <a:gd name="T23" fmla="*/ 27 h 696"/>
              <a:gd name="T24" fmla="*/ 1577 w 1601"/>
              <a:gd name="T25" fmla="*/ 0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01" h="696">
                <a:moveTo>
                  <a:pt x="1577" y="0"/>
                </a:moveTo>
                <a:cubicBezTo>
                  <a:pt x="833" y="0"/>
                  <a:pt x="833" y="0"/>
                  <a:pt x="833" y="0"/>
                </a:cubicBezTo>
                <a:cubicBezTo>
                  <a:pt x="768" y="0"/>
                  <a:pt x="768" y="0"/>
                  <a:pt x="768" y="0"/>
                </a:cubicBezTo>
                <a:cubicBezTo>
                  <a:pt x="24" y="0"/>
                  <a:pt x="24" y="0"/>
                  <a:pt x="24" y="0"/>
                </a:cubicBezTo>
                <a:cubicBezTo>
                  <a:pt x="11" y="0"/>
                  <a:pt x="0" y="12"/>
                  <a:pt x="0" y="27"/>
                </a:cubicBezTo>
                <a:cubicBezTo>
                  <a:pt x="0" y="669"/>
                  <a:pt x="0" y="669"/>
                  <a:pt x="0" y="669"/>
                </a:cubicBezTo>
                <a:cubicBezTo>
                  <a:pt x="0" y="684"/>
                  <a:pt x="11" y="696"/>
                  <a:pt x="24" y="696"/>
                </a:cubicBezTo>
                <a:cubicBezTo>
                  <a:pt x="768" y="696"/>
                  <a:pt x="768" y="696"/>
                  <a:pt x="768" y="696"/>
                </a:cubicBezTo>
                <a:cubicBezTo>
                  <a:pt x="833" y="696"/>
                  <a:pt x="833" y="696"/>
                  <a:pt x="833" y="696"/>
                </a:cubicBezTo>
                <a:cubicBezTo>
                  <a:pt x="1577" y="696"/>
                  <a:pt x="1577" y="696"/>
                  <a:pt x="1577" y="696"/>
                </a:cubicBezTo>
                <a:cubicBezTo>
                  <a:pt x="1590" y="696"/>
                  <a:pt x="1601" y="684"/>
                  <a:pt x="1601" y="669"/>
                </a:cubicBezTo>
                <a:cubicBezTo>
                  <a:pt x="1601" y="27"/>
                  <a:pt x="1601" y="27"/>
                  <a:pt x="1601" y="27"/>
                </a:cubicBezTo>
                <a:cubicBezTo>
                  <a:pt x="1601" y="12"/>
                  <a:pt x="1590" y="0"/>
                  <a:pt x="1577" y="0"/>
                </a:cubicBezTo>
                <a:close/>
              </a:path>
            </a:pathLst>
          </a:custGeom>
          <a:ln>
            <a:noFill/>
          </a:ln>
          <a:effectLst>
            <a:outerShdw blurRad="50800" dist="38100" dir="5400000" algn="tl" rotWithShape="0">
              <a:srgbClr val="000000">
                <a:alpha val="43000"/>
              </a:srgbClr>
            </a:outerShdw>
          </a:effectLst>
          <a:extLst>
            <a:ext uri="{91240B29-F687-4f45-9708-019B960494DF}">
              <a14:hiddenLine xmlns="" xmlns:a14="http://schemas.microsoft.com/office/drawing/2010/main" xmlns:p14="http://schemas.microsoft.com/office/powerpoint/2010/main" xmlns:a16="http://schemas.microsoft.com/office/drawing/2014/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rial Nova"/>
              <a:ea typeface="+mn-ea"/>
              <a:cs typeface="+mn-cs"/>
            </a:endParaRPr>
          </a:p>
        </p:txBody>
      </p:sp>
      <p:sp>
        <p:nvSpPr>
          <p:cNvPr id="2" name="Title 1">
            <a:extLst>
              <a:ext uri="{FF2B5EF4-FFF2-40B4-BE49-F238E27FC236}">
                <a16:creationId xmlns:a16="http://schemas.microsoft.com/office/drawing/2014/main" id="{0D1F047C-C727-42A7-85C5-68C5AA1B1A93}"/>
              </a:ext>
            </a:extLst>
          </p:cNvPr>
          <p:cNvSpPr>
            <a:spLocks noGrp="1"/>
          </p:cNvSpPr>
          <p:nvPr>
            <p:ph type="ctrTitle"/>
          </p:nvPr>
        </p:nvSpPr>
        <p:spPr>
          <a:xfrm>
            <a:off x="7389962" y="1673524"/>
            <a:ext cx="3485073" cy="2420504"/>
          </a:xfrm>
        </p:spPr>
        <p:txBody>
          <a:bodyPr>
            <a:normAutofit/>
          </a:bodyPr>
          <a:lstStyle/>
          <a:p>
            <a:pPr algn="l"/>
            <a:r>
              <a:rPr lang="en-US" sz="4000" dirty="0" err="1"/>
              <a:t>BackEnd</a:t>
            </a:r>
            <a:endParaRPr lang="en-US" sz="4000" dirty="0"/>
          </a:p>
        </p:txBody>
      </p:sp>
      <p:sp>
        <p:nvSpPr>
          <p:cNvPr id="3" name="Subtitle 2">
            <a:extLst>
              <a:ext uri="{FF2B5EF4-FFF2-40B4-BE49-F238E27FC236}">
                <a16:creationId xmlns:a16="http://schemas.microsoft.com/office/drawing/2014/main" id="{DB93FB3F-A8D4-46D3-A1C6-C79C64563729}"/>
              </a:ext>
            </a:extLst>
          </p:cNvPr>
          <p:cNvSpPr>
            <a:spLocks noGrp="1"/>
          </p:cNvSpPr>
          <p:nvPr>
            <p:ph type="subTitle" idx="1"/>
          </p:nvPr>
        </p:nvSpPr>
        <p:spPr>
          <a:xfrm>
            <a:off x="7097306" y="4157933"/>
            <a:ext cx="4100417" cy="1026544"/>
          </a:xfrm>
        </p:spPr>
        <p:txBody>
          <a:bodyPr>
            <a:normAutofit/>
          </a:bodyPr>
          <a:lstStyle/>
          <a:p>
            <a:pPr algn="l"/>
            <a:r>
              <a:rPr lang="en-US" dirty="0" err="1">
                <a:solidFill>
                  <a:srgbClr val="5792BA"/>
                </a:solidFill>
              </a:rPr>
              <a:t>NodeJs</a:t>
            </a:r>
            <a:r>
              <a:rPr lang="en-US" dirty="0">
                <a:solidFill>
                  <a:srgbClr val="5792BA"/>
                </a:solidFill>
              </a:rPr>
              <a:t>, </a:t>
            </a:r>
            <a:r>
              <a:rPr lang="en-US" dirty="0" err="1">
                <a:solidFill>
                  <a:srgbClr val="5792BA"/>
                </a:solidFill>
              </a:rPr>
              <a:t>ExpressJs</a:t>
            </a:r>
            <a:r>
              <a:rPr lang="en-US" dirty="0">
                <a:solidFill>
                  <a:srgbClr val="5792BA"/>
                </a:solidFill>
              </a:rPr>
              <a:t>, MongoDB</a:t>
            </a:r>
            <a:endParaRPr lang="en-US" sz="2300" dirty="0">
              <a:solidFill>
                <a:srgbClr val="5792BA"/>
              </a:solidFill>
            </a:endParaRPr>
          </a:p>
        </p:txBody>
      </p:sp>
    </p:spTree>
    <p:extLst>
      <p:ext uri="{BB962C8B-B14F-4D97-AF65-F5344CB8AC3E}">
        <p14:creationId xmlns:p14="http://schemas.microsoft.com/office/powerpoint/2010/main" val="15831201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38E1CD2-DC64-76E7-D468-CDF5857409A0}"/>
              </a:ext>
            </a:extLst>
          </p:cNvPr>
          <p:cNvSpPr>
            <a:spLocks noGrp="1"/>
          </p:cNvSpPr>
          <p:nvPr>
            <p:ph idx="1"/>
          </p:nvPr>
        </p:nvSpPr>
        <p:spPr>
          <a:xfrm>
            <a:off x="71438" y="174625"/>
            <a:ext cx="11196637" cy="5616575"/>
          </a:xfrm>
        </p:spPr>
        <p:txBody>
          <a:bodyPr/>
          <a:lstStyle/>
          <a:p>
            <a:pPr>
              <a:buNone/>
            </a:pPr>
            <a:r>
              <a:rPr lang="en-IN" dirty="0">
                <a:effectLst/>
                <a:latin typeface="fkGrotesk"/>
              </a:rPr>
              <a:t>Refresh JavaScript Concept</a:t>
            </a:r>
          </a:p>
          <a:p>
            <a:pPr>
              <a:buFont typeface="Arial" panose="020B0604020202020204" pitchFamily="34" charset="0"/>
              <a:buChar char="•"/>
            </a:pPr>
            <a:r>
              <a:rPr lang="en-IN" dirty="0">
                <a:effectLst/>
                <a:latin typeface="fkGroteskNeue"/>
              </a:rPr>
              <a:t>object</a:t>
            </a:r>
          </a:p>
          <a:p>
            <a:pPr>
              <a:buFont typeface="Arial" panose="020B0604020202020204" pitchFamily="34" charset="0"/>
              <a:buChar char="•"/>
            </a:pPr>
            <a:r>
              <a:rPr lang="en-IN" dirty="0">
                <a:effectLst/>
                <a:latin typeface="fkGroteskNeue"/>
              </a:rPr>
              <a:t>callback</a:t>
            </a:r>
          </a:p>
          <a:p>
            <a:pPr>
              <a:buFont typeface="Arial" panose="020B0604020202020204" pitchFamily="34" charset="0"/>
              <a:buChar char="•"/>
            </a:pPr>
            <a:r>
              <a:rPr lang="en-IN" dirty="0">
                <a:effectLst/>
                <a:latin typeface="fkGroteskNeue"/>
              </a:rPr>
              <a:t>promises</a:t>
            </a:r>
          </a:p>
          <a:p>
            <a:pPr>
              <a:buFont typeface="Arial" panose="020B0604020202020204" pitchFamily="34" charset="0"/>
              <a:buChar char="•"/>
            </a:pPr>
            <a:r>
              <a:rPr lang="en-IN" dirty="0">
                <a:effectLst/>
                <a:latin typeface="fkGroteskNeue"/>
              </a:rPr>
              <a:t>callback hell</a:t>
            </a:r>
          </a:p>
          <a:p>
            <a:pPr>
              <a:buFont typeface="Arial" panose="020B0604020202020204" pitchFamily="34" charset="0"/>
              <a:buChar char="•"/>
            </a:pPr>
            <a:r>
              <a:rPr lang="en-IN" dirty="0">
                <a:effectLst/>
                <a:latin typeface="fkGroteskNeue"/>
              </a:rPr>
              <a:t>asynchronous programming</a:t>
            </a:r>
          </a:p>
          <a:p>
            <a:pPr>
              <a:buFont typeface="Arial" panose="020B0604020202020204" pitchFamily="34" charset="0"/>
              <a:buChar char="•"/>
            </a:pPr>
            <a:r>
              <a:rPr lang="en-IN" dirty="0">
                <a:effectLst/>
                <a:latin typeface="fkGroteskNeue"/>
              </a:rPr>
              <a:t>JavaScript Engine Architecture</a:t>
            </a:r>
          </a:p>
        </p:txBody>
      </p:sp>
    </p:spTree>
    <p:extLst>
      <p:ext uri="{BB962C8B-B14F-4D97-AF65-F5344CB8AC3E}">
        <p14:creationId xmlns:p14="http://schemas.microsoft.com/office/powerpoint/2010/main" val="24551051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444C5F-CC7C-BC68-08D2-B620AF9014E1}"/>
              </a:ext>
            </a:extLst>
          </p:cNvPr>
          <p:cNvSpPr>
            <a:spLocks noGrp="1"/>
          </p:cNvSpPr>
          <p:nvPr>
            <p:ph type="title"/>
          </p:nvPr>
        </p:nvSpPr>
        <p:spPr/>
        <p:txBody>
          <a:bodyPr/>
          <a:lstStyle/>
          <a:p>
            <a:r>
              <a:rPr lang="en-IN" dirty="0"/>
              <a:t>Object</a:t>
            </a:r>
          </a:p>
        </p:txBody>
      </p:sp>
      <p:sp>
        <p:nvSpPr>
          <p:cNvPr id="3" name="Content Placeholder 2">
            <a:extLst>
              <a:ext uri="{FF2B5EF4-FFF2-40B4-BE49-F238E27FC236}">
                <a16:creationId xmlns:a16="http://schemas.microsoft.com/office/drawing/2014/main" id="{6CC5BD4E-DB46-E258-486D-065FADE512E8}"/>
              </a:ext>
            </a:extLst>
          </p:cNvPr>
          <p:cNvSpPr>
            <a:spLocks noGrp="1"/>
          </p:cNvSpPr>
          <p:nvPr>
            <p:ph idx="1"/>
          </p:nvPr>
        </p:nvSpPr>
        <p:spPr/>
        <p:txBody>
          <a:bodyPr/>
          <a:lstStyle/>
          <a:p>
            <a:pPr marL="36900" indent="0">
              <a:buNone/>
            </a:pPr>
            <a:r>
              <a:rPr lang="en-IN" sz="4000" dirty="0">
                <a:solidFill>
                  <a:schemeClr val="tx1">
                    <a:lumMod val="95000"/>
                  </a:schemeClr>
                </a:solidFill>
                <a:effectLst/>
                <a:latin typeface="fkGroteskNeue"/>
              </a:rPr>
              <a:t>O</a:t>
            </a:r>
            <a:r>
              <a:rPr lang="en-US" sz="2400" dirty="0" err="1"/>
              <a:t>bject</a:t>
            </a:r>
            <a:r>
              <a:rPr lang="en-US" sz="2400" dirty="0"/>
              <a:t> is a pattern to store and manage the data</a:t>
            </a:r>
          </a:p>
          <a:p>
            <a:pPr lvl="1"/>
            <a:r>
              <a:rPr lang="en-US" sz="2400" dirty="0"/>
              <a:t>property format (key value pair format)</a:t>
            </a:r>
          </a:p>
          <a:p>
            <a:pPr lvl="1"/>
            <a:r>
              <a:rPr lang="en-US" sz="2400" dirty="0"/>
              <a:t>access, insert, update, remove ✔️</a:t>
            </a:r>
          </a:p>
          <a:p>
            <a:pPr lvl="1"/>
            <a:endParaRPr lang="en-US" sz="2400" dirty="0"/>
          </a:p>
          <a:p>
            <a:pPr lvl="1"/>
            <a:endParaRPr lang="en-US" sz="2400" dirty="0"/>
          </a:p>
          <a:p>
            <a:endParaRPr lang="en-IN" dirty="0">
              <a:effectLst/>
              <a:latin typeface="fkGroteskNeue"/>
            </a:endParaRPr>
          </a:p>
          <a:p>
            <a:endParaRPr lang="en-IN" dirty="0"/>
          </a:p>
        </p:txBody>
      </p:sp>
    </p:spTree>
    <p:extLst>
      <p:ext uri="{BB962C8B-B14F-4D97-AF65-F5344CB8AC3E}">
        <p14:creationId xmlns:p14="http://schemas.microsoft.com/office/powerpoint/2010/main" val="14430397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21309-F66B-9F35-A6EF-F63930B71629}"/>
              </a:ext>
            </a:extLst>
          </p:cNvPr>
          <p:cNvSpPr>
            <a:spLocks noGrp="1"/>
          </p:cNvSpPr>
          <p:nvPr>
            <p:ph type="title"/>
          </p:nvPr>
        </p:nvSpPr>
        <p:spPr/>
        <p:txBody>
          <a:bodyPr/>
          <a:lstStyle/>
          <a:p>
            <a:r>
              <a:rPr lang="en-IN" dirty="0" err="1"/>
              <a:t>CallBack</a:t>
            </a:r>
            <a:endParaRPr lang="en-IN" dirty="0"/>
          </a:p>
        </p:txBody>
      </p:sp>
      <p:sp>
        <p:nvSpPr>
          <p:cNvPr id="3" name="Content Placeholder 2">
            <a:extLst>
              <a:ext uri="{FF2B5EF4-FFF2-40B4-BE49-F238E27FC236}">
                <a16:creationId xmlns:a16="http://schemas.microsoft.com/office/drawing/2014/main" id="{29B1658D-1BF0-1904-65B1-D003D7834A19}"/>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3791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49DE5-D3CE-7339-D9D5-A645EA0208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BABA9-B87A-CD10-F53E-0EAFE4D0508D}"/>
              </a:ext>
            </a:extLst>
          </p:cNvPr>
          <p:cNvSpPr>
            <a:spLocks noGrp="1"/>
          </p:cNvSpPr>
          <p:nvPr>
            <p:ph type="title"/>
          </p:nvPr>
        </p:nvSpPr>
        <p:spPr/>
        <p:txBody>
          <a:bodyPr/>
          <a:lstStyle/>
          <a:p>
            <a:r>
              <a:rPr lang="en-IN" dirty="0"/>
              <a:t>Promise</a:t>
            </a:r>
          </a:p>
        </p:txBody>
      </p:sp>
      <p:sp>
        <p:nvSpPr>
          <p:cNvPr id="3" name="Content Placeholder 2">
            <a:extLst>
              <a:ext uri="{FF2B5EF4-FFF2-40B4-BE49-F238E27FC236}">
                <a16:creationId xmlns:a16="http://schemas.microsoft.com/office/drawing/2014/main" id="{81C50B20-2D4C-BEF9-F84B-91C33A2B728F}"/>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506344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AF08B9-3C6C-4E17-3E91-6324A86881D9}"/>
              </a:ext>
            </a:extLst>
          </p:cNvPr>
          <p:cNvSpPr>
            <a:spLocks noGrp="1"/>
          </p:cNvSpPr>
          <p:nvPr>
            <p:ph type="title"/>
          </p:nvPr>
        </p:nvSpPr>
        <p:spPr/>
        <p:txBody>
          <a:bodyPr/>
          <a:lstStyle/>
          <a:p>
            <a:r>
              <a:rPr lang="en-IN" dirty="0" err="1"/>
              <a:t>CallBack</a:t>
            </a:r>
            <a:r>
              <a:rPr lang="en-IN" dirty="0"/>
              <a:t> Hell</a:t>
            </a:r>
          </a:p>
        </p:txBody>
      </p:sp>
      <p:sp>
        <p:nvSpPr>
          <p:cNvPr id="3" name="Content Placeholder 2">
            <a:extLst>
              <a:ext uri="{FF2B5EF4-FFF2-40B4-BE49-F238E27FC236}">
                <a16:creationId xmlns:a16="http://schemas.microsoft.com/office/drawing/2014/main" id="{BE879AF4-9AFA-D4EF-1770-2B1C0E4A71D5}"/>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5290585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B3D0CF-60A2-B7C8-663C-8F705A22951E}"/>
              </a:ext>
            </a:extLst>
          </p:cNvPr>
          <p:cNvSpPr>
            <a:spLocks noGrp="1"/>
          </p:cNvSpPr>
          <p:nvPr>
            <p:ph idx="1"/>
          </p:nvPr>
        </p:nvSpPr>
        <p:spPr/>
        <p:txBody>
          <a:bodyPr/>
          <a:lstStyle/>
          <a:p>
            <a:endParaRPr lang="en-IN"/>
          </a:p>
        </p:txBody>
      </p:sp>
      <p:sp>
        <p:nvSpPr>
          <p:cNvPr id="4" name="Title 3">
            <a:extLst>
              <a:ext uri="{FF2B5EF4-FFF2-40B4-BE49-F238E27FC236}">
                <a16:creationId xmlns:a16="http://schemas.microsoft.com/office/drawing/2014/main" id="{F0D3CD42-E0FE-5F39-906A-6688B6C15031}"/>
              </a:ext>
            </a:extLst>
          </p:cNvPr>
          <p:cNvSpPr txBox="1">
            <a:spLocks noGrp="1"/>
          </p:cNvSpPr>
          <p:nvPr>
            <p:ph type="title"/>
          </p:nvPr>
        </p:nvSpPr>
        <p:spPr>
          <a:xfrm>
            <a:off x="914400" y="873535"/>
            <a:ext cx="10353675" cy="729430"/>
          </a:xfrm>
          <a:prstGeom prst="rect">
            <a:avLst/>
          </a:prstGeom>
          <a:noFill/>
        </p:spPr>
        <p:txBody>
          <a:bodyPr wrap="square">
            <a:spAutoFit/>
          </a:bodyPr>
          <a:lstStyle/>
          <a:p>
            <a:pPr algn="l"/>
            <a:r>
              <a:rPr lang="en-IN" b="0" i="0" dirty="0">
                <a:effectLst/>
                <a:latin typeface="fkGroteskNeue"/>
              </a:rPr>
              <a:t>asynchronous programming</a:t>
            </a:r>
          </a:p>
        </p:txBody>
      </p:sp>
    </p:spTree>
    <p:extLst>
      <p:ext uri="{BB962C8B-B14F-4D97-AF65-F5344CB8AC3E}">
        <p14:creationId xmlns:p14="http://schemas.microsoft.com/office/powerpoint/2010/main" val="35308503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4898FC-C3EF-C392-789F-9CA9F8CEDDBE}"/>
              </a:ext>
            </a:extLst>
          </p:cNvPr>
          <p:cNvSpPr>
            <a:spLocks noGrp="1"/>
          </p:cNvSpPr>
          <p:nvPr>
            <p:ph type="title"/>
          </p:nvPr>
        </p:nvSpPr>
        <p:spPr/>
        <p:txBody>
          <a:bodyPr>
            <a:normAutofit fontScale="90000"/>
          </a:bodyPr>
          <a:lstStyle/>
          <a:p>
            <a:r>
              <a:rPr lang="en-IN" dirty="0">
                <a:effectLst/>
                <a:latin typeface="fkGroteskNeue"/>
              </a:rPr>
              <a:t>JavaScript Engine Architecture</a:t>
            </a:r>
            <a:br>
              <a:rPr lang="en-IN" dirty="0"/>
            </a:br>
            <a:endParaRPr lang="en-IN" dirty="0"/>
          </a:p>
        </p:txBody>
      </p:sp>
      <p:sp>
        <p:nvSpPr>
          <p:cNvPr id="3" name="Content Placeholder 2">
            <a:extLst>
              <a:ext uri="{FF2B5EF4-FFF2-40B4-BE49-F238E27FC236}">
                <a16:creationId xmlns:a16="http://schemas.microsoft.com/office/drawing/2014/main" id="{1D99E571-D3AC-36D7-C1C4-DDB1CD129686}"/>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243187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9939F3-A1A3-9FD0-812F-12C225642202}"/>
              </a:ext>
            </a:extLst>
          </p:cNvPr>
          <p:cNvSpPr>
            <a:spLocks noGrp="1"/>
          </p:cNvSpPr>
          <p:nvPr>
            <p:ph idx="1"/>
          </p:nvPr>
        </p:nvSpPr>
        <p:spPr/>
        <p:txBody>
          <a:bodyPr/>
          <a:lstStyle/>
          <a:p>
            <a:endParaRPr lang="en-IN"/>
          </a:p>
        </p:txBody>
      </p:sp>
      <p:sp>
        <p:nvSpPr>
          <p:cNvPr id="4" name="Title 3">
            <a:extLst>
              <a:ext uri="{FF2B5EF4-FFF2-40B4-BE49-F238E27FC236}">
                <a16:creationId xmlns:a16="http://schemas.microsoft.com/office/drawing/2014/main" id="{C09ED3BA-F861-1157-167B-15A3A339D069}"/>
              </a:ext>
            </a:extLst>
          </p:cNvPr>
          <p:cNvSpPr txBox="1">
            <a:spLocks noGrp="1"/>
          </p:cNvSpPr>
          <p:nvPr>
            <p:ph type="title"/>
          </p:nvPr>
        </p:nvSpPr>
        <p:spPr>
          <a:xfrm>
            <a:off x="914400" y="873535"/>
            <a:ext cx="10353675" cy="729430"/>
          </a:xfrm>
          <a:prstGeom prst="rect">
            <a:avLst/>
          </a:prstGeom>
          <a:noFill/>
        </p:spPr>
        <p:txBody>
          <a:bodyPr wrap="square">
            <a:spAutoFit/>
          </a:bodyPr>
          <a:lstStyle/>
          <a:p>
            <a:pPr algn="l"/>
            <a:r>
              <a:rPr lang="en-IN" dirty="0"/>
              <a:t>Currying</a:t>
            </a:r>
          </a:p>
        </p:txBody>
      </p:sp>
    </p:spTree>
    <p:extLst>
      <p:ext uri="{BB962C8B-B14F-4D97-AF65-F5344CB8AC3E}">
        <p14:creationId xmlns:p14="http://schemas.microsoft.com/office/powerpoint/2010/main" val="382112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120E1C-0DD7-2657-3688-77AB2D388675}"/>
              </a:ext>
            </a:extLst>
          </p:cNvPr>
          <p:cNvSpPr>
            <a:spLocks noGrp="1"/>
          </p:cNvSpPr>
          <p:nvPr>
            <p:ph type="title"/>
          </p:nvPr>
        </p:nvSpPr>
        <p:spPr/>
        <p:txBody>
          <a:bodyPr>
            <a:normAutofit fontScale="90000"/>
          </a:bodyPr>
          <a:lstStyle/>
          <a:p>
            <a:r>
              <a:rPr lang="en-US" dirty="0">
                <a:effectLst/>
                <a:latin typeface="fkGroteskNeue"/>
              </a:rPr>
              <a:t>COMMON JS MODULE PATTERN</a:t>
            </a:r>
            <a:br>
              <a:rPr lang="en-US" dirty="0">
                <a:effectLst/>
                <a:latin typeface="fkGroteskNeue"/>
              </a:rPr>
            </a:br>
            <a:endParaRPr lang="en-IN" dirty="0"/>
          </a:p>
        </p:txBody>
      </p:sp>
      <p:sp>
        <p:nvSpPr>
          <p:cNvPr id="3" name="Content Placeholder 2">
            <a:extLst>
              <a:ext uri="{FF2B5EF4-FFF2-40B4-BE49-F238E27FC236}">
                <a16:creationId xmlns:a16="http://schemas.microsoft.com/office/drawing/2014/main" id="{DEC9DE98-1EBB-3C7C-2C9C-22E1D830ADF9}"/>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324099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FF7C7-191E-059B-0D22-CE43C649B276}"/>
              </a:ext>
            </a:extLst>
          </p:cNvPr>
          <p:cNvSpPr>
            <a:spLocks noGrp="1"/>
          </p:cNvSpPr>
          <p:nvPr>
            <p:ph type="title"/>
          </p:nvPr>
        </p:nvSpPr>
        <p:spPr/>
        <p:txBody>
          <a:bodyPr/>
          <a:lstStyle/>
          <a:p>
            <a:r>
              <a:rPr lang="en-US" dirty="0">
                <a:effectLst/>
                <a:latin typeface="fkGroteskNeue"/>
              </a:rPr>
              <a:t>Data</a:t>
            </a:r>
            <a:endParaRPr lang="en-IN" dirty="0"/>
          </a:p>
        </p:txBody>
      </p:sp>
      <p:sp>
        <p:nvSpPr>
          <p:cNvPr id="3" name="Content Placeholder 2">
            <a:extLst>
              <a:ext uri="{FF2B5EF4-FFF2-40B4-BE49-F238E27FC236}">
                <a16:creationId xmlns:a16="http://schemas.microsoft.com/office/drawing/2014/main" id="{5F435814-93ED-758A-9956-5CFF1CF3E570}"/>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22329949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E2F8E-8E09-D940-B3D5-2CD5EBCDDBFE}"/>
              </a:ext>
            </a:extLst>
          </p:cNvPr>
          <p:cNvSpPr>
            <a:spLocks noGrp="1"/>
          </p:cNvSpPr>
          <p:nvPr>
            <p:ph type="title"/>
          </p:nvPr>
        </p:nvSpPr>
        <p:spPr>
          <a:xfrm>
            <a:off x="193496" y="98462"/>
            <a:ext cx="10353762" cy="746589"/>
          </a:xfrm>
        </p:spPr>
        <p:txBody>
          <a:bodyPr>
            <a:normAutofit fontScale="90000"/>
          </a:bodyPr>
          <a:lstStyle/>
          <a:p>
            <a:pPr algn="l"/>
            <a:r>
              <a:rPr lang="en-US" sz="3100" dirty="0"/>
              <a:t>How to access data from Request Body of HTTP request</a:t>
            </a:r>
            <a:br>
              <a:rPr lang="en-US" dirty="0"/>
            </a:br>
            <a:endParaRPr lang="en-IN" dirty="0"/>
          </a:p>
        </p:txBody>
      </p:sp>
      <p:sp>
        <p:nvSpPr>
          <p:cNvPr id="3" name="Content Placeholder 2">
            <a:extLst>
              <a:ext uri="{FF2B5EF4-FFF2-40B4-BE49-F238E27FC236}">
                <a16:creationId xmlns:a16="http://schemas.microsoft.com/office/drawing/2014/main" id="{F6B46A0E-B75E-D71A-1EC0-C1E048EBEC62}"/>
              </a:ext>
            </a:extLst>
          </p:cNvPr>
          <p:cNvSpPr>
            <a:spLocks noGrp="1"/>
          </p:cNvSpPr>
          <p:nvPr>
            <p:ph idx="1"/>
          </p:nvPr>
        </p:nvSpPr>
        <p:spPr>
          <a:xfrm>
            <a:off x="246580" y="534256"/>
            <a:ext cx="11945420" cy="6102850"/>
          </a:xfrm>
        </p:spPr>
        <p:txBody>
          <a:bodyPr/>
          <a:lstStyle/>
          <a:p>
            <a:r>
              <a:rPr lang="en-US" sz="2000" dirty="0"/>
              <a:t>The client can send requests to the backend/server, and these requests hold the data</a:t>
            </a:r>
          </a:p>
          <a:p>
            <a:pPr lvl="8"/>
            <a:endParaRPr lang="en-IN" dirty="0"/>
          </a:p>
          <a:p>
            <a:pPr marL="2877600" lvl="8" indent="0">
              <a:buNone/>
            </a:pPr>
            <a:r>
              <a:rPr lang="en-US" sz="2400" dirty="0">
                <a:solidFill>
                  <a:schemeClr val="accent1">
                    <a:lumMod val="40000"/>
                    <a:lumOff val="60000"/>
                  </a:schemeClr>
                </a:solidFill>
                <a:latin typeface="fkGroteskNeue"/>
              </a:rPr>
              <a:t>																																																										</a:t>
            </a:r>
            <a:endParaRPr lang="en-IN" dirty="0"/>
          </a:p>
        </p:txBody>
      </p:sp>
      <p:sp>
        <p:nvSpPr>
          <p:cNvPr id="5" name="Rectangle 4">
            <a:extLst>
              <a:ext uri="{FF2B5EF4-FFF2-40B4-BE49-F238E27FC236}">
                <a16:creationId xmlns:a16="http://schemas.microsoft.com/office/drawing/2014/main" id="{E896B666-6905-9833-4D54-B1E032E36438}"/>
              </a:ext>
            </a:extLst>
          </p:cNvPr>
          <p:cNvSpPr/>
          <p:nvPr/>
        </p:nvSpPr>
        <p:spPr>
          <a:xfrm>
            <a:off x="193496" y="1181532"/>
            <a:ext cx="2681555" cy="101714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Client</a:t>
            </a:r>
          </a:p>
        </p:txBody>
      </p:sp>
      <p:sp>
        <p:nvSpPr>
          <p:cNvPr id="6" name="Rectangle 5">
            <a:extLst>
              <a:ext uri="{FF2B5EF4-FFF2-40B4-BE49-F238E27FC236}">
                <a16:creationId xmlns:a16="http://schemas.microsoft.com/office/drawing/2014/main" id="{5426F032-0435-5BEA-3DB3-C12B5F48D618}"/>
              </a:ext>
            </a:extLst>
          </p:cNvPr>
          <p:cNvSpPr/>
          <p:nvPr/>
        </p:nvSpPr>
        <p:spPr>
          <a:xfrm>
            <a:off x="9138863" y="1145568"/>
            <a:ext cx="2455524" cy="10171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Backend/ Server</a:t>
            </a:r>
          </a:p>
        </p:txBody>
      </p:sp>
      <p:sp>
        <p:nvSpPr>
          <p:cNvPr id="7" name="Arrow: Right 6">
            <a:extLst>
              <a:ext uri="{FF2B5EF4-FFF2-40B4-BE49-F238E27FC236}">
                <a16:creationId xmlns:a16="http://schemas.microsoft.com/office/drawing/2014/main" id="{60379764-859C-B593-0EB6-B295035B2162}"/>
              </a:ext>
            </a:extLst>
          </p:cNvPr>
          <p:cNvSpPr/>
          <p:nvPr/>
        </p:nvSpPr>
        <p:spPr>
          <a:xfrm>
            <a:off x="2875051" y="1255159"/>
            <a:ext cx="6340868" cy="74658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latin typeface="fkGroteskNeue"/>
              </a:rPr>
              <a:t>req (Holds data)</a:t>
            </a:r>
            <a:r>
              <a:rPr lang="en-US" dirty="0">
                <a:solidFill>
                  <a:srgbClr val="00B0F0"/>
                </a:solidFill>
                <a:latin typeface="fkGroteskNeue"/>
              </a:rPr>
              <a:t>	</a:t>
            </a:r>
            <a:endParaRPr lang="en-IN" dirty="0"/>
          </a:p>
        </p:txBody>
      </p:sp>
      <p:sp>
        <p:nvSpPr>
          <p:cNvPr id="8" name="Arrow: Down 7">
            <a:extLst>
              <a:ext uri="{FF2B5EF4-FFF2-40B4-BE49-F238E27FC236}">
                <a16:creationId xmlns:a16="http://schemas.microsoft.com/office/drawing/2014/main" id="{70E3FE57-AB57-C60B-8919-3C4546FD01B7}"/>
              </a:ext>
            </a:extLst>
          </p:cNvPr>
          <p:cNvSpPr/>
          <p:nvPr/>
        </p:nvSpPr>
        <p:spPr>
          <a:xfrm>
            <a:off x="4822860" y="1870754"/>
            <a:ext cx="2455524" cy="26199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Path</a:t>
            </a:r>
          </a:p>
          <a:p>
            <a:pPr algn="ctr"/>
            <a:r>
              <a:rPr lang="en-IN" dirty="0"/>
              <a:t>Params</a:t>
            </a:r>
            <a:br>
              <a:rPr lang="en-IN" dirty="0"/>
            </a:br>
            <a:r>
              <a:rPr lang="en-IN" dirty="0">
                <a:solidFill>
                  <a:srgbClr val="C00000"/>
                </a:solidFill>
              </a:rPr>
              <a:t>(</a:t>
            </a:r>
            <a:r>
              <a:rPr lang="en-IN" sz="2000" dirty="0">
                <a:solidFill>
                  <a:schemeClr val="accent3">
                    <a:lumMod val="50000"/>
                  </a:schemeClr>
                </a:solidFill>
                <a:latin typeface="fkGroteskNeue"/>
              </a:rPr>
              <a:t>GET, PUT,</a:t>
            </a:r>
          </a:p>
          <a:p>
            <a:pPr algn="ctr"/>
            <a:r>
              <a:rPr lang="en-IN" sz="2000" dirty="0">
                <a:solidFill>
                  <a:schemeClr val="accent3">
                    <a:lumMod val="50000"/>
                  </a:schemeClr>
                </a:solidFill>
                <a:latin typeface="fkGroteskNeue"/>
              </a:rPr>
              <a:t>DELETE</a:t>
            </a:r>
            <a:r>
              <a:rPr lang="en-IN" sz="2000" dirty="0">
                <a:solidFill>
                  <a:srgbClr val="C00000"/>
                </a:solidFill>
                <a:latin typeface="fkGroteskNeue"/>
              </a:rPr>
              <a:t>)</a:t>
            </a:r>
          </a:p>
        </p:txBody>
      </p:sp>
      <p:sp>
        <p:nvSpPr>
          <p:cNvPr id="10" name="Arrow: Left 9">
            <a:extLst>
              <a:ext uri="{FF2B5EF4-FFF2-40B4-BE49-F238E27FC236}">
                <a16:creationId xmlns:a16="http://schemas.microsoft.com/office/drawing/2014/main" id="{3903F0BD-074C-AC00-9BB1-FAB49AE5846D}"/>
              </a:ext>
            </a:extLst>
          </p:cNvPr>
          <p:cNvSpPr/>
          <p:nvPr/>
        </p:nvSpPr>
        <p:spPr>
          <a:xfrm>
            <a:off x="865598" y="2718372"/>
            <a:ext cx="3957262" cy="2190107"/>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C00000"/>
                </a:solidFill>
                <a:latin typeface="fkGroteskNeue"/>
              </a:rPr>
              <a:t>Request Body(</a:t>
            </a:r>
            <a:r>
              <a:rPr lang="en-US" sz="2000" dirty="0">
                <a:solidFill>
                  <a:schemeClr val="accent3">
                    <a:lumMod val="50000"/>
                  </a:schemeClr>
                </a:solidFill>
                <a:latin typeface="fkGroteskNeue"/>
              </a:rPr>
              <a:t>Post &amp; Put</a:t>
            </a:r>
            <a:r>
              <a:rPr lang="en-US" sz="2000" dirty="0">
                <a:solidFill>
                  <a:srgbClr val="C00000"/>
                </a:solidFill>
                <a:latin typeface="fkGroteskNeue"/>
              </a:rPr>
              <a:t>)</a:t>
            </a:r>
            <a:endParaRPr lang="en-IN" sz="2000" dirty="0">
              <a:solidFill>
                <a:srgbClr val="C00000"/>
              </a:solidFill>
            </a:endParaRPr>
          </a:p>
        </p:txBody>
      </p:sp>
      <p:sp>
        <p:nvSpPr>
          <p:cNvPr id="15" name="Arrow: Right 14">
            <a:extLst>
              <a:ext uri="{FF2B5EF4-FFF2-40B4-BE49-F238E27FC236}">
                <a16:creationId xmlns:a16="http://schemas.microsoft.com/office/drawing/2014/main" id="{EEB4B8D0-A699-F9F7-6AC2-7EF38F530E9B}"/>
              </a:ext>
            </a:extLst>
          </p:cNvPr>
          <p:cNvSpPr/>
          <p:nvPr/>
        </p:nvSpPr>
        <p:spPr>
          <a:xfrm>
            <a:off x="7134546" y="2671709"/>
            <a:ext cx="4382784" cy="22834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Query Param</a:t>
            </a:r>
            <a:r>
              <a:rPr lang="en-IN" dirty="0">
                <a:solidFill>
                  <a:srgbClr val="C00000"/>
                </a:solidFill>
              </a:rPr>
              <a:t>(</a:t>
            </a:r>
            <a:r>
              <a:rPr lang="en-IN" dirty="0">
                <a:solidFill>
                  <a:schemeClr val="accent3">
                    <a:lumMod val="50000"/>
                  </a:schemeClr>
                </a:solidFill>
                <a:latin typeface="fkGroteskNeue"/>
              </a:rPr>
              <a:t>GET, PUT,DELETE</a:t>
            </a:r>
            <a:r>
              <a:rPr lang="en-IN" dirty="0">
                <a:solidFill>
                  <a:srgbClr val="C00000"/>
                </a:solidFill>
                <a:latin typeface="fkGroteskNeue"/>
              </a:rPr>
              <a:t>)</a:t>
            </a:r>
          </a:p>
          <a:p>
            <a:pPr algn="ctr"/>
            <a:endParaRPr lang="en-IN" dirty="0"/>
          </a:p>
        </p:txBody>
      </p:sp>
    </p:spTree>
    <p:extLst>
      <p:ext uri="{BB962C8B-B14F-4D97-AF65-F5344CB8AC3E}">
        <p14:creationId xmlns:p14="http://schemas.microsoft.com/office/powerpoint/2010/main" val="3754872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A6043-A388-E844-633A-A8D15516E74C}"/>
              </a:ext>
            </a:extLst>
          </p:cNvPr>
          <p:cNvSpPr>
            <a:spLocks noGrp="1"/>
          </p:cNvSpPr>
          <p:nvPr>
            <p:ph type="title"/>
          </p:nvPr>
        </p:nvSpPr>
        <p:spPr>
          <a:xfrm>
            <a:off x="0" y="0"/>
            <a:ext cx="12192000" cy="1551398"/>
          </a:xfrm>
        </p:spPr>
        <p:txBody>
          <a:bodyPr>
            <a:normAutofit/>
          </a:bodyPr>
          <a:lstStyle/>
          <a:p>
            <a:pPr algn="l"/>
            <a:r>
              <a:rPr lang="en-US" sz="2200" dirty="0"/>
              <a:t>How to access the data at backend if the data coming in request body.</a:t>
            </a:r>
            <a:br>
              <a:rPr lang="en-US" dirty="0"/>
            </a:br>
            <a:endParaRPr lang="en-IN" dirty="0"/>
          </a:p>
        </p:txBody>
      </p:sp>
      <p:sp>
        <p:nvSpPr>
          <p:cNvPr id="3" name="Content Placeholder 2">
            <a:extLst>
              <a:ext uri="{FF2B5EF4-FFF2-40B4-BE49-F238E27FC236}">
                <a16:creationId xmlns:a16="http://schemas.microsoft.com/office/drawing/2014/main" id="{C0C9A678-5601-9E1B-1DFF-9D30969C2048}"/>
              </a:ext>
            </a:extLst>
          </p:cNvPr>
          <p:cNvSpPr>
            <a:spLocks noGrp="1"/>
          </p:cNvSpPr>
          <p:nvPr>
            <p:ph idx="1"/>
          </p:nvPr>
        </p:nvSpPr>
        <p:spPr>
          <a:xfrm>
            <a:off x="143837" y="739739"/>
            <a:ext cx="11805007" cy="6118261"/>
          </a:xfrm>
        </p:spPr>
        <p:txBody>
          <a:bodyPr>
            <a:normAutofit fontScale="62500" lnSpcReduction="20000"/>
          </a:bodyPr>
          <a:lstStyle/>
          <a:p>
            <a:pPr marL="36900" indent="0">
              <a:buNone/>
            </a:pPr>
            <a:r>
              <a:rPr lang="en-US" sz="2900" dirty="0">
                <a:solidFill>
                  <a:schemeClr val="accent6">
                    <a:lumMod val="60000"/>
                    <a:lumOff val="40000"/>
                  </a:schemeClr>
                </a:solidFill>
                <a:latin typeface="fkGroteskNeue"/>
              </a:rPr>
              <a:t>1.Create a backend</a:t>
            </a:r>
          </a:p>
          <a:p>
            <a:pPr marL="36900" indent="0">
              <a:buNone/>
            </a:pPr>
            <a:r>
              <a:rPr lang="en-US" sz="2900" dirty="0">
                <a:solidFill>
                  <a:schemeClr val="accent6">
                    <a:lumMod val="60000"/>
                    <a:lumOff val="40000"/>
                  </a:schemeClr>
                </a:solidFill>
                <a:latin typeface="fkGroteskNeue"/>
              </a:rPr>
              <a:t>		we need HTTP SERVER -&gt; require HTTP module-&gt; in order to use this module we need JavaScript file.</a:t>
            </a:r>
            <a:endParaRPr lang="en-US" sz="2900" dirty="0">
              <a:solidFill>
                <a:srgbClr val="002060"/>
              </a:solidFill>
              <a:latin typeface="fkGroteskNeue"/>
            </a:endParaRPr>
          </a:p>
          <a:p>
            <a:pPr marL="36900" indent="0">
              <a:buNone/>
            </a:pPr>
            <a:r>
              <a:rPr lang="en-US" sz="2900" b="1" dirty="0">
                <a:solidFill>
                  <a:srgbClr val="92D050"/>
                </a:solidFill>
                <a:latin typeface="fkGroteskNeue"/>
              </a:rPr>
              <a:t>// Importing the http module from Node.js</a:t>
            </a:r>
          </a:p>
          <a:p>
            <a:pPr marL="36900" indent="0">
              <a:buNone/>
            </a:pPr>
            <a:r>
              <a:rPr lang="en-US" sz="2900" dirty="0">
                <a:solidFill>
                  <a:schemeClr val="accent5">
                    <a:lumMod val="40000"/>
                    <a:lumOff val="60000"/>
                  </a:schemeClr>
                </a:solidFill>
                <a:latin typeface="fkGroteskNeue"/>
              </a:rPr>
              <a:t>const http = require("http");</a:t>
            </a:r>
          </a:p>
          <a:p>
            <a:pPr marL="36900" indent="0">
              <a:buNone/>
            </a:pPr>
            <a:endParaRPr lang="en-US" sz="2900" dirty="0">
              <a:solidFill>
                <a:srgbClr val="002060"/>
              </a:solidFill>
              <a:latin typeface="fkGroteskNeue"/>
            </a:endParaRPr>
          </a:p>
          <a:p>
            <a:pPr marL="36900" indent="0">
              <a:buNone/>
            </a:pPr>
            <a:r>
              <a:rPr lang="en-US" sz="2900" b="1" dirty="0">
                <a:solidFill>
                  <a:srgbClr val="92D050"/>
                </a:solidFill>
                <a:latin typeface="fkGroteskNeue"/>
              </a:rPr>
              <a:t>// The 'http' module returns an object that allows us to call the </a:t>
            </a:r>
            <a:r>
              <a:rPr lang="en-US" sz="2900" b="1" dirty="0" err="1">
                <a:solidFill>
                  <a:srgbClr val="92D050"/>
                </a:solidFill>
                <a:latin typeface="fkGroteskNeue"/>
              </a:rPr>
              <a:t>createServer</a:t>
            </a:r>
            <a:r>
              <a:rPr lang="en-US" sz="2900" b="1" dirty="0">
                <a:solidFill>
                  <a:srgbClr val="92D050"/>
                </a:solidFill>
                <a:latin typeface="fkGroteskNeue"/>
              </a:rPr>
              <a:t>() function.</a:t>
            </a:r>
          </a:p>
          <a:p>
            <a:pPr marL="36900" indent="0">
              <a:buNone/>
            </a:pPr>
            <a:r>
              <a:rPr lang="en-US" sz="2900" b="1" dirty="0">
                <a:solidFill>
                  <a:srgbClr val="92D050"/>
                </a:solidFill>
                <a:latin typeface="fkGroteskNeue"/>
              </a:rPr>
              <a:t>// It creates an HTTP server that can handle requests with a callback function (req, res).</a:t>
            </a:r>
          </a:p>
          <a:p>
            <a:pPr marL="36900" indent="0">
              <a:buNone/>
            </a:pPr>
            <a:r>
              <a:rPr lang="en-US" sz="2900" dirty="0">
                <a:solidFill>
                  <a:schemeClr val="accent6">
                    <a:lumMod val="60000"/>
                    <a:lumOff val="40000"/>
                  </a:schemeClr>
                </a:solidFill>
                <a:latin typeface="fkGroteskNeue"/>
              </a:rPr>
              <a:t>const server = </a:t>
            </a:r>
            <a:r>
              <a:rPr lang="en-US" sz="2900" dirty="0" err="1">
                <a:solidFill>
                  <a:schemeClr val="accent6">
                    <a:lumMod val="60000"/>
                    <a:lumOff val="40000"/>
                  </a:schemeClr>
                </a:solidFill>
                <a:latin typeface="fkGroteskNeue"/>
              </a:rPr>
              <a:t>http.createServer</a:t>
            </a:r>
            <a:r>
              <a:rPr lang="en-US" sz="2900" dirty="0">
                <a:solidFill>
                  <a:schemeClr val="accent6">
                    <a:lumMod val="60000"/>
                    <a:lumOff val="40000"/>
                  </a:schemeClr>
                </a:solidFill>
                <a:latin typeface="fkGroteskNeue"/>
              </a:rPr>
              <a:t>((req, res) =&gt; {</a:t>
            </a:r>
          </a:p>
          <a:p>
            <a:pPr marL="36900" indent="0">
              <a:buNone/>
            </a:pPr>
            <a:r>
              <a:rPr lang="en-US" sz="2900" dirty="0">
                <a:solidFill>
                  <a:schemeClr val="accent6">
                    <a:lumMod val="60000"/>
                    <a:lumOff val="40000"/>
                  </a:schemeClr>
                </a:solidFill>
                <a:latin typeface="fkGroteskNeue"/>
              </a:rPr>
              <a:t>  </a:t>
            </a:r>
            <a:r>
              <a:rPr lang="en-US" sz="2900" dirty="0" err="1">
                <a:solidFill>
                  <a:schemeClr val="accent6">
                    <a:lumMod val="60000"/>
                    <a:lumOff val="40000"/>
                  </a:schemeClr>
                </a:solidFill>
                <a:latin typeface="fkGroteskNeue"/>
              </a:rPr>
              <a:t>res.writeHead</a:t>
            </a:r>
            <a:r>
              <a:rPr lang="en-US" sz="2900" dirty="0">
                <a:solidFill>
                  <a:schemeClr val="accent6">
                    <a:lumMod val="60000"/>
                    <a:lumOff val="40000"/>
                  </a:schemeClr>
                </a:solidFill>
                <a:latin typeface="fkGroteskNeue"/>
              </a:rPr>
              <a:t>(200, { "Content-Type": "text/plain" });</a:t>
            </a:r>
          </a:p>
          <a:p>
            <a:pPr marL="36900" indent="0">
              <a:buNone/>
            </a:pPr>
            <a:r>
              <a:rPr lang="en-US" sz="2900" dirty="0">
                <a:solidFill>
                  <a:schemeClr val="accent6">
                    <a:lumMod val="60000"/>
                    <a:lumOff val="40000"/>
                  </a:schemeClr>
                </a:solidFill>
                <a:latin typeface="fkGroteskNeue"/>
              </a:rPr>
              <a:t>  </a:t>
            </a:r>
            <a:r>
              <a:rPr lang="en-US" sz="2900" dirty="0" err="1">
                <a:solidFill>
                  <a:schemeClr val="accent6">
                    <a:lumMod val="60000"/>
                    <a:lumOff val="40000"/>
                  </a:schemeClr>
                </a:solidFill>
                <a:latin typeface="fkGroteskNeue"/>
              </a:rPr>
              <a:t>res.end</a:t>
            </a:r>
            <a:r>
              <a:rPr lang="en-US" sz="2900" dirty="0">
                <a:solidFill>
                  <a:schemeClr val="accent6">
                    <a:lumMod val="60000"/>
                    <a:lumOff val="40000"/>
                  </a:schemeClr>
                </a:solidFill>
                <a:latin typeface="fkGroteskNeue"/>
              </a:rPr>
              <a:t>("Hello, World!");</a:t>
            </a:r>
          </a:p>
          <a:p>
            <a:pPr marL="36900" indent="0">
              <a:buNone/>
            </a:pPr>
            <a:r>
              <a:rPr lang="en-US" sz="2900" dirty="0">
                <a:solidFill>
                  <a:schemeClr val="accent6">
                    <a:lumMod val="60000"/>
                    <a:lumOff val="40000"/>
                  </a:schemeClr>
                </a:solidFill>
                <a:latin typeface="fkGroteskNeue"/>
              </a:rPr>
              <a:t>});</a:t>
            </a:r>
          </a:p>
          <a:p>
            <a:pPr marL="36900" indent="0">
              <a:buNone/>
            </a:pPr>
            <a:endParaRPr lang="en-US" sz="2900" dirty="0">
              <a:solidFill>
                <a:srgbClr val="002060"/>
              </a:solidFill>
              <a:latin typeface="fkGroteskNeue"/>
            </a:endParaRPr>
          </a:p>
          <a:p>
            <a:pPr marL="36900" indent="0">
              <a:buNone/>
            </a:pPr>
            <a:r>
              <a:rPr lang="en-US" sz="2900" b="1" dirty="0">
                <a:solidFill>
                  <a:srgbClr val="92D050"/>
                </a:solidFill>
                <a:latin typeface="fkGroteskNeue"/>
              </a:rPr>
              <a:t>// The server object has a listen() function that takes two parameters: port and callback.</a:t>
            </a:r>
          </a:p>
          <a:p>
            <a:pPr marL="36900" indent="0">
              <a:buNone/>
            </a:pPr>
            <a:r>
              <a:rPr lang="en-US" sz="2900" dirty="0" err="1">
                <a:solidFill>
                  <a:schemeClr val="accent6">
                    <a:lumMod val="60000"/>
                    <a:lumOff val="40000"/>
                  </a:schemeClr>
                </a:solidFill>
                <a:latin typeface="fkGroteskNeue"/>
              </a:rPr>
              <a:t>server.listen</a:t>
            </a:r>
            <a:r>
              <a:rPr lang="en-US" sz="2900" dirty="0">
                <a:solidFill>
                  <a:schemeClr val="accent6">
                    <a:lumMod val="60000"/>
                    <a:lumOff val="40000"/>
                  </a:schemeClr>
                </a:solidFill>
                <a:latin typeface="fkGroteskNeue"/>
              </a:rPr>
              <a:t>(3000, () =&gt; {</a:t>
            </a:r>
          </a:p>
          <a:p>
            <a:pPr marL="36900" indent="0">
              <a:buNone/>
            </a:pPr>
            <a:r>
              <a:rPr lang="en-US" sz="2900" dirty="0">
                <a:solidFill>
                  <a:schemeClr val="accent6">
                    <a:lumMod val="60000"/>
                    <a:lumOff val="40000"/>
                  </a:schemeClr>
                </a:solidFill>
                <a:latin typeface="fkGroteskNeue"/>
              </a:rPr>
              <a:t>  console.log("Server started on port 3000");</a:t>
            </a:r>
          </a:p>
          <a:p>
            <a:pPr marL="36900" indent="0">
              <a:buNone/>
            </a:pPr>
            <a:r>
              <a:rPr lang="en-US" sz="2900" dirty="0">
                <a:solidFill>
                  <a:schemeClr val="accent6">
                    <a:lumMod val="60000"/>
                    <a:lumOff val="40000"/>
                  </a:schemeClr>
                </a:solidFill>
                <a:latin typeface="fkGroteskNeue"/>
              </a:rPr>
              <a:t>});</a:t>
            </a:r>
          </a:p>
          <a:p>
            <a:pPr marL="36900" indent="0">
              <a:buNone/>
            </a:pPr>
            <a:endParaRPr lang="en-IN" dirty="0"/>
          </a:p>
        </p:txBody>
      </p:sp>
    </p:spTree>
    <p:extLst>
      <p:ext uri="{BB962C8B-B14F-4D97-AF65-F5344CB8AC3E}">
        <p14:creationId xmlns:p14="http://schemas.microsoft.com/office/powerpoint/2010/main" val="23221439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lowchart: Process 2">
            <a:extLst>
              <a:ext uri="{FF2B5EF4-FFF2-40B4-BE49-F238E27FC236}">
                <a16:creationId xmlns:a16="http://schemas.microsoft.com/office/drawing/2014/main" id="{909753F3-5E0B-EA09-FD83-53CC16C4A25C}"/>
              </a:ext>
            </a:extLst>
          </p:cNvPr>
          <p:cNvSpPr/>
          <p:nvPr/>
        </p:nvSpPr>
        <p:spPr>
          <a:xfrm>
            <a:off x="570216" y="431514"/>
            <a:ext cx="2404153" cy="1849349"/>
          </a:xfrm>
          <a:prstGeom prst="flowChartProcess">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IN" dirty="0"/>
              <a:t>Post Man</a:t>
            </a:r>
            <a:br>
              <a:rPr lang="en-IN" dirty="0"/>
            </a:br>
            <a:br>
              <a:rPr lang="en-IN" dirty="0"/>
            </a:br>
            <a:r>
              <a:rPr lang="en-IN" dirty="0"/>
              <a:t>client</a:t>
            </a:r>
          </a:p>
        </p:txBody>
      </p:sp>
      <p:sp>
        <p:nvSpPr>
          <p:cNvPr id="4" name="Flowchart: Process 3">
            <a:extLst>
              <a:ext uri="{FF2B5EF4-FFF2-40B4-BE49-F238E27FC236}">
                <a16:creationId xmlns:a16="http://schemas.microsoft.com/office/drawing/2014/main" id="{7CFE758C-B29D-37BA-CD98-7A09346B597E}"/>
              </a:ext>
            </a:extLst>
          </p:cNvPr>
          <p:cNvSpPr/>
          <p:nvPr/>
        </p:nvSpPr>
        <p:spPr>
          <a:xfrm>
            <a:off x="6224428" y="575353"/>
            <a:ext cx="2404153" cy="1849349"/>
          </a:xfrm>
          <a:prstGeom prst="flowChartProcess">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IN" dirty="0"/>
              <a:t>http server</a:t>
            </a:r>
          </a:p>
        </p:txBody>
      </p:sp>
      <p:sp>
        <p:nvSpPr>
          <p:cNvPr id="5" name="Flowchart: Process 4">
            <a:extLst>
              <a:ext uri="{FF2B5EF4-FFF2-40B4-BE49-F238E27FC236}">
                <a16:creationId xmlns:a16="http://schemas.microsoft.com/office/drawing/2014/main" id="{F45BB575-5B7E-7E81-161A-7DC17F19B85B}"/>
              </a:ext>
            </a:extLst>
          </p:cNvPr>
          <p:cNvSpPr/>
          <p:nvPr/>
        </p:nvSpPr>
        <p:spPr>
          <a:xfrm>
            <a:off x="8887147" y="65070"/>
            <a:ext cx="2280862" cy="1316804"/>
          </a:xfrm>
          <a:prstGeom prst="flowChartProcess">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IN" dirty="0"/>
              <a:t>http server will triggers the callback function</a:t>
            </a:r>
          </a:p>
        </p:txBody>
      </p:sp>
      <p:sp>
        <p:nvSpPr>
          <p:cNvPr id="6" name="Arrow: Right 5">
            <a:extLst>
              <a:ext uri="{FF2B5EF4-FFF2-40B4-BE49-F238E27FC236}">
                <a16:creationId xmlns:a16="http://schemas.microsoft.com/office/drawing/2014/main" id="{BE6AFE11-3DB9-B0FC-D9E2-DB48BA2BA5D2}"/>
              </a:ext>
            </a:extLst>
          </p:cNvPr>
          <p:cNvSpPr/>
          <p:nvPr/>
        </p:nvSpPr>
        <p:spPr>
          <a:xfrm>
            <a:off x="3005191" y="739739"/>
            <a:ext cx="3219237" cy="1284271"/>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IN" dirty="0">
                <a:solidFill>
                  <a:srgbClr val="C00000"/>
                </a:solidFill>
              </a:rPr>
              <a:t>Send request to http server</a:t>
            </a:r>
          </a:p>
        </p:txBody>
      </p:sp>
      <p:sp>
        <p:nvSpPr>
          <p:cNvPr id="11" name="Arrow: Left-Up 10">
            <a:extLst>
              <a:ext uri="{FF2B5EF4-FFF2-40B4-BE49-F238E27FC236}">
                <a16:creationId xmlns:a16="http://schemas.microsoft.com/office/drawing/2014/main" id="{429B5E37-77FA-6C30-AECA-5629DB2E942B}"/>
              </a:ext>
            </a:extLst>
          </p:cNvPr>
          <p:cNvSpPr/>
          <p:nvPr/>
        </p:nvSpPr>
        <p:spPr>
          <a:xfrm>
            <a:off x="2038563" y="1340777"/>
            <a:ext cx="8914543" cy="3092522"/>
          </a:xfrm>
          <a:prstGeom prst="lef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From this call back the response will be sent back to client</a:t>
            </a:r>
          </a:p>
        </p:txBody>
      </p:sp>
      <p:sp>
        <p:nvSpPr>
          <p:cNvPr id="12" name="Arrow: Curved Down 11">
            <a:extLst>
              <a:ext uri="{FF2B5EF4-FFF2-40B4-BE49-F238E27FC236}">
                <a16:creationId xmlns:a16="http://schemas.microsoft.com/office/drawing/2014/main" id="{C463BBEA-6733-E8EA-703C-942C9381AFDD}"/>
              </a:ext>
            </a:extLst>
          </p:cNvPr>
          <p:cNvSpPr/>
          <p:nvPr/>
        </p:nvSpPr>
        <p:spPr>
          <a:xfrm>
            <a:off x="7150813" y="65070"/>
            <a:ext cx="1869897" cy="510283"/>
          </a:xfrm>
          <a:prstGeom prst="curvedDown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IN">
              <a:solidFill>
                <a:schemeClr val="tx1"/>
              </a:solidFill>
            </a:endParaRPr>
          </a:p>
        </p:txBody>
      </p:sp>
      <p:sp>
        <p:nvSpPr>
          <p:cNvPr id="19" name="TextBox 18">
            <a:extLst>
              <a:ext uri="{FF2B5EF4-FFF2-40B4-BE49-F238E27FC236}">
                <a16:creationId xmlns:a16="http://schemas.microsoft.com/office/drawing/2014/main" id="{C3B42386-9695-7A98-BE5E-0C587D6428D4}"/>
              </a:ext>
            </a:extLst>
          </p:cNvPr>
          <p:cNvSpPr txBox="1"/>
          <p:nvPr/>
        </p:nvSpPr>
        <p:spPr>
          <a:xfrm>
            <a:off x="349321" y="4433299"/>
            <a:ext cx="6146514" cy="2261260"/>
          </a:xfrm>
          <a:prstGeom prst="rect">
            <a:avLst/>
          </a:prstGeom>
          <a:noFill/>
        </p:spPr>
        <p:txBody>
          <a:bodyPr wrap="square">
            <a:spAutoFit/>
          </a:bodyPr>
          <a:lstStyle/>
          <a:p>
            <a:pPr>
              <a:lnSpc>
                <a:spcPts val="1425"/>
              </a:lnSpc>
              <a:buNone/>
            </a:pPr>
            <a:r>
              <a:rPr lang="en-IN" b="0" dirty="0">
                <a:solidFill>
                  <a:srgbClr val="CCCCCC"/>
                </a:solidFill>
                <a:effectLst/>
                <a:latin typeface="Consolas" panose="020B0609020204030204" pitchFamily="49" charset="0"/>
              </a:rPr>
              <a:t> </a:t>
            </a:r>
            <a:r>
              <a:rPr lang="en-IN" b="0" dirty="0">
                <a:solidFill>
                  <a:srgbClr val="6A9955"/>
                </a:solidFill>
                <a:effectLst/>
                <a:latin typeface="Consolas" panose="020B0609020204030204" pitchFamily="49" charset="0"/>
              </a:rPr>
              <a:t>//importing http module from node</a:t>
            </a:r>
            <a:endParaRPr lang="en-IN" b="0" dirty="0">
              <a:solidFill>
                <a:srgbClr val="CCCCCC"/>
              </a:solidFill>
              <a:effectLst/>
              <a:latin typeface="Consolas" panose="020B0609020204030204" pitchFamily="49" charset="0"/>
            </a:endParaRPr>
          </a:p>
          <a:p>
            <a:pPr>
              <a:lnSpc>
                <a:spcPts val="1425"/>
              </a:lnSpc>
              <a:buNone/>
            </a:pPr>
            <a:r>
              <a:rPr lang="en-IN" b="0" dirty="0">
                <a:solidFill>
                  <a:srgbClr val="569CD6"/>
                </a:solidFill>
                <a:effectLst/>
                <a:latin typeface="Consolas" panose="020B0609020204030204" pitchFamily="49" charset="0"/>
              </a:rPr>
              <a:t>const</a:t>
            </a:r>
            <a:r>
              <a:rPr lang="en-IN" b="0" dirty="0">
                <a:solidFill>
                  <a:srgbClr val="CCCCCC"/>
                </a:solidFill>
                <a:effectLst/>
                <a:latin typeface="Consolas" panose="020B0609020204030204" pitchFamily="49" charset="0"/>
              </a:rPr>
              <a:t> </a:t>
            </a:r>
            <a:r>
              <a:rPr lang="en-IN" b="0" dirty="0">
                <a:solidFill>
                  <a:srgbClr val="4EC9B0"/>
                </a:solidFill>
                <a:effectLst/>
                <a:latin typeface="Consolas" panose="020B0609020204030204" pitchFamily="49" charset="0"/>
              </a:rPr>
              <a:t>http</a:t>
            </a:r>
            <a:r>
              <a:rPr lang="en-IN" b="0" dirty="0">
                <a:solidFill>
                  <a:srgbClr val="CCCCCC"/>
                </a:solidFill>
                <a:effectLst/>
                <a:latin typeface="Consolas" panose="020B0609020204030204" pitchFamily="49" charset="0"/>
              </a:rPr>
              <a:t> </a:t>
            </a:r>
            <a:r>
              <a:rPr lang="en-IN" b="0" dirty="0">
                <a:solidFill>
                  <a:srgbClr val="D4D4D4"/>
                </a:solidFill>
                <a:effectLst/>
                <a:latin typeface="Consolas" panose="020B0609020204030204" pitchFamily="49" charset="0"/>
              </a:rPr>
              <a:t>=</a:t>
            </a:r>
            <a:r>
              <a:rPr lang="en-IN" b="0" dirty="0">
                <a:solidFill>
                  <a:srgbClr val="CCCCCC"/>
                </a:solidFill>
                <a:effectLst/>
                <a:latin typeface="Consolas" panose="020B0609020204030204" pitchFamily="49" charset="0"/>
              </a:rPr>
              <a:t> </a:t>
            </a:r>
            <a:r>
              <a:rPr lang="en-IN" b="0" dirty="0">
                <a:solidFill>
                  <a:srgbClr val="DCDCAA"/>
                </a:solidFill>
                <a:effectLst/>
                <a:latin typeface="Consolas" panose="020B0609020204030204" pitchFamily="49" charset="0"/>
              </a:rPr>
              <a:t>require</a:t>
            </a:r>
            <a:r>
              <a:rPr lang="en-IN" b="0" dirty="0">
                <a:solidFill>
                  <a:srgbClr val="CCCCCC"/>
                </a:solidFill>
                <a:effectLst/>
                <a:latin typeface="Consolas" panose="020B0609020204030204" pitchFamily="49" charset="0"/>
              </a:rPr>
              <a:t>(</a:t>
            </a:r>
            <a:r>
              <a:rPr lang="en-IN" b="0" dirty="0">
                <a:solidFill>
                  <a:srgbClr val="CE9178"/>
                </a:solidFill>
                <a:effectLst/>
                <a:latin typeface="Consolas" panose="020B0609020204030204" pitchFamily="49" charset="0"/>
              </a:rPr>
              <a:t>"http"</a:t>
            </a:r>
            <a:r>
              <a:rPr lang="en-IN" b="0" dirty="0">
                <a:solidFill>
                  <a:srgbClr val="CCCCCC"/>
                </a:solidFill>
                <a:effectLst/>
                <a:latin typeface="Consolas" panose="020B0609020204030204" pitchFamily="49" charset="0"/>
              </a:rPr>
              <a:t>);</a:t>
            </a:r>
          </a:p>
          <a:p>
            <a:pPr>
              <a:lnSpc>
                <a:spcPts val="1425"/>
              </a:lnSpc>
              <a:buNone/>
            </a:pPr>
            <a:br>
              <a:rPr lang="en-IN" b="0" dirty="0">
                <a:solidFill>
                  <a:srgbClr val="CCCCCC"/>
                </a:solidFill>
                <a:effectLst/>
                <a:latin typeface="Consolas" panose="020B0609020204030204" pitchFamily="49" charset="0"/>
              </a:rPr>
            </a:br>
            <a:endParaRPr lang="en-IN" b="0" dirty="0">
              <a:solidFill>
                <a:srgbClr val="CCCCCC"/>
              </a:solidFill>
              <a:effectLst/>
              <a:latin typeface="Consolas" panose="020B0609020204030204" pitchFamily="49" charset="0"/>
            </a:endParaRPr>
          </a:p>
          <a:p>
            <a:pPr>
              <a:lnSpc>
                <a:spcPts val="1425"/>
              </a:lnSpc>
              <a:buNone/>
            </a:pPr>
            <a:r>
              <a:rPr lang="en-IN" b="0" dirty="0">
                <a:solidFill>
                  <a:srgbClr val="569CD6"/>
                </a:solidFill>
                <a:effectLst/>
                <a:latin typeface="Consolas" panose="020B0609020204030204" pitchFamily="49" charset="0"/>
              </a:rPr>
              <a:t>const</a:t>
            </a:r>
            <a:r>
              <a:rPr lang="en-IN" b="0" dirty="0">
                <a:solidFill>
                  <a:srgbClr val="CCCCCC"/>
                </a:solidFill>
                <a:effectLst/>
                <a:latin typeface="Consolas" panose="020B0609020204030204" pitchFamily="49" charset="0"/>
              </a:rPr>
              <a:t> </a:t>
            </a:r>
            <a:r>
              <a:rPr lang="en-IN" b="0" dirty="0">
                <a:solidFill>
                  <a:srgbClr val="4FC1FF"/>
                </a:solidFill>
                <a:effectLst/>
                <a:latin typeface="Consolas" panose="020B0609020204030204" pitchFamily="49" charset="0"/>
              </a:rPr>
              <a:t>server</a:t>
            </a:r>
            <a:r>
              <a:rPr lang="en-IN" b="0" dirty="0">
                <a:solidFill>
                  <a:srgbClr val="CCCCCC"/>
                </a:solidFill>
                <a:effectLst/>
                <a:latin typeface="Consolas" panose="020B0609020204030204" pitchFamily="49" charset="0"/>
              </a:rPr>
              <a:t> </a:t>
            </a:r>
            <a:r>
              <a:rPr lang="en-IN" b="0" dirty="0">
                <a:solidFill>
                  <a:srgbClr val="D4D4D4"/>
                </a:solidFill>
                <a:effectLst/>
                <a:latin typeface="Consolas" panose="020B0609020204030204" pitchFamily="49" charset="0"/>
              </a:rPr>
              <a:t>=</a:t>
            </a:r>
            <a:r>
              <a:rPr lang="en-IN" b="0" dirty="0">
                <a:solidFill>
                  <a:srgbClr val="CCCCCC"/>
                </a:solidFill>
                <a:effectLst/>
                <a:latin typeface="Consolas" panose="020B0609020204030204" pitchFamily="49" charset="0"/>
              </a:rPr>
              <a:t> </a:t>
            </a:r>
            <a:r>
              <a:rPr lang="en-IN" b="0" dirty="0" err="1">
                <a:solidFill>
                  <a:srgbClr val="4EC9B0"/>
                </a:solidFill>
                <a:effectLst/>
                <a:latin typeface="Consolas" panose="020B0609020204030204" pitchFamily="49" charset="0"/>
              </a:rPr>
              <a:t>http</a:t>
            </a:r>
            <a:r>
              <a:rPr lang="en-IN" b="0" dirty="0" err="1">
                <a:solidFill>
                  <a:srgbClr val="CCCCCC"/>
                </a:solidFill>
                <a:effectLst/>
                <a:latin typeface="Consolas" panose="020B0609020204030204" pitchFamily="49" charset="0"/>
              </a:rPr>
              <a:t>.</a:t>
            </a:r>
            <a:r>
              <a:rPr lang="en-IN" b="0" dirty="0" err="1">
                <a:solidFill>
                  <a:srgbClr val="DCDCAA"/>
                </a:solidFill>
                <a:effectLst/>
                <a:latin typeface="Consolas" panose="020B0609020204030204" pitchFamily="49" charset="0"/>
              </a:rPr>
              <a:t>createServer</a:t>
            </a:r>
            <a:r>
              <a:rPr lang="en-IN" b="0" dirty="0">
                <a:solidFill>
                  <a:srgbClr val="CCCCCC"/>
                </a:solidFill>
                <a:effectLst/>
                <a:latin typeface="Consolas" panose="020B0609020204030204" pitchFamily="49" charset="0"/>
              </a:rPr>
              <a:t>((</a:t>
            </a:r>
            <a:r>
              <a:rPr lang="en-IN" b="0" dirty="0" err="1">
                <a:solidFill>
                  <a:srgbClr val="9CDCFE"/>
                </a:solidFill>
                <a:effectLst/>
                <a:latin typeface="Consolas" panose="020B0609020204030204" pitchFamily="49" charset="0"/>
              </a:rPr>
              <a:t>req</a:t>
            </a:r>
            <a:r>
              <a:rPr lang="en-IN" b="0" dirty="0" err="1">
                <a:solidFill>
                  <a:srgbClr val="CCCCCC"/>
                </a:solidFill>
                <a:effectLst/>
                <a:latin typeface="Consolas" panose="020B0609020204030204" pitchFamily="49" charset="0"/>
              </a:rPr>
              <a:t>,</a:t>
            </a:r>
            <a:r>
              <a:rPr lang="en-IN" b="0" dirty="0" err="1">
                <a:solidFill>
                  <a:srgbClr val="9CDCFE"/>
                </a:solidFill>
                <a:effectLst/>
                <a:latin typeface="Consolas" panose="020B0609020204030204" pitchFamily="49" charset="0"/>
              </a:rPr>
              <a:t>res</a:t>
            </a:r>
            <a:r>
              <a:rPr lang="en-IN" b="0" dirty="0">
                <a:solidFill>
                  <a:srgbClr val="CCCCCC"/>
                </a:solidFill>
                <a:effectLst/>
                <a:latin typeface="Consolas" panose="020B0609020204030204" pitchFamily="49" charset="0"/>
              </a:rPr>
              <a:t>)</a:t>
            </a:r>
            <a:r>
              <a:rPr lang="en-IN" b="0" dirty="0">
                <a:solidFill>
                  <a:srgbClr val="569CD6"/>
                </a:solidFill>
                <a:effectLst/>
                <a:latin typeface="Consolas" panose="020B0609020204030204" pitchFamily="49" charset="0"/>
              </a:rPr>
              <a:t>=&gt;</a:t>
            </a:r>
            <a:r>
              <a:rPr lang="en-IN" b="0" dirty="0">
                <a:solidFill>
                  <a:srgbClr val="CCCCCC"/>
                </a:solidFill>
                <a:effectLst/>
                <a:latin typeface="Consolas" panose="020B0609020204030204" pitchFamily="49" charset="0"/>
              </a:rPr>
              <a:t>{</a:t>
            </a:r>
          </a:p>
          <a:p>
            <a:pPr>
              <a:lnSpc>
                <a:spcPts val="1425"/>
              </a:lnSpc>
              <a:buNone/>
            </a:pPr>
            <a:r>
              <a:rPr lang="en-IN" b="0" dirty="0">
                <a:solidFill>
                  <a:srgbClr val="CCCCCC"/>
                </a:solidFill>
                <a:effectLst/>
                <a:latin typeface="Consolas" panose="020B0609020204030204" pitchFamily="49" charset="0"/>
              </a:rPr>
              <a:t>   </a:t>
            </a:r>
            <a:r>
              <a:rPr lang="en-IN" b="0" dirty="0" err="1">
                <a:solidFill>
                  <a:srgbClr val="9CDCFE"/>
                </a:solidFill>
                <a:effectLst/>
                <a:latin typeface="Consolas" panose="020B0609020204030204" pitchFamily="49" charset="0"/>
              </a:rPr>
              <a:t>res</a:t>
            </a:r>
            <a:r>
              <a:rPr lang="en-IN" b="0" dirty="0" err="1">
                <a:solidFill>
                  <a:srgbClr val="CCCCCC"/>
                </a:solidFill>
                <a:effectLst/>
                <a:latin typeface="Consolas" panose="020B0609020204030204" pitchFamily="49" charset="0"/>
              </a:rPr>
              <a:t>.</a:t>
            </a:r>
            <a:r>
              <a:rPr lang="en-IN" b="0" dirty="0" err="1">
                <a:solidFill>
                  <a:srgbClr val="DCDCAA"/>
                </a:solidFill>
                <a:effectLst/>
                <a:latin typeface="Consolas" panose="020B0609020204030204" pitchFamily="49" charset="0"/>
              </a:rPr>
              <a:t>end</a:t>
            </a:r>
            <a:r>
              <a:rPr lang="en-IN" b="0" dirty="0">
                <a:solidFill>
                  <a:srgbClr val="CCCCCC"/>
                </a:solidFill>
                <a:effectLst/>
                <a:latin typeface="Consolas" panose="020B0609020204030204" pitchFamily="49" charset="0"/>
              </a:rPr>
              <a:t>(</a:t>
            </a:r>
            <a:r>
              <a:rPr lang="en-IN" b="0" dirty="0">
                <a:solidFill>
                  <a:srgbClr val="CE9178"/>
                </a:solidFill>
                <a:effectLst/>
                <a:latin typeface="Consolas" panose="020B0609020204030204" pitchFamily="49" charset="0"/>
              </a:rPr>
              <a:t>"Working"</a:t>
            </a:r>
            <a:r>
              <a:rPr lang="en-IN" b="0" dirty="0">
                <a:solidFill>
                  <a:srgbClr val="CCCCCC"/>
                </a:solidFill>
                <a:effectLst/>
                <a:latin typeface="Consolas" panose="020B0609020204030204" pitchFamily="49" charset="0"/>
              </a:rPr>
              <a:t>)</a:t>
            </a:r>
          </a:p>
          <a:p>
            <a:pPr>
              <a:lnSpc>
                <a:spcPts val="1425"/>
              </a:lnSpc>
              <a:buNone/>
            </a:pPr>
            <a:r>
              <a:rPr lang="en-IN" b="0" dirty="0">
                <a:solidFill>
                  <a:srgbClr val="CCCCCC"/>
                </a:solidFill>
                <a:effectLst/>
                <a:latin typeface="Consolas" panose="020B0609020204030204" pitchFamily="49" charset="0"/>
              </a:rPr>
              <a:t>})</a:t>
            </a:r>
          </a:p>
          <a:p>
            <a:pPr>
              <a:lnSpc>
                <a:spcPts val="1425"/>
              </a:lnSpc>
              <a:buNone/>
            </a:pPr>
            <a:br>
              <a:rPr lang="en-IN" b="0" dirty="0">
                <a:solidFill>
                  <a:srgbClr val="CCCCCC"/>
                </a:solidFill>
                <a:effectLst/>
                <a:latin typeface="Consolas" panose="020B0609020204030204" pitchFamily="49" charset="0"/>
              </a:rPr>
            </a:br>
            <a:endParaRPr lang="en-IN" b="0" dirty="0">
              <a:solidFill>
                <a:srgbClr val="CCCCCC"/>
              </a:solidFill>
              <a:effectLst/>
              <a:latin typeface="Consolas" panose="020B0609020204030204" pitchFamily="49" charset="0"/>
            </a:endParaRPr>
          </a:p>
          <a:p>
            <a:pPr>
              <a:lnSpc>
                <a:spcPts val="1425"/>
              </a:lnSpc>
              <a:buNone/>
            </a:pPr>
            <a:r>
              <a:rPr lang="en-IN" b="0" dirty="0" err="1">
                <a:solidFill>
                  <a:srgbClr val="4FC1FF"/>
                </a:solidFill>
                <a:effectLst/>
                <a:latin typeface="Consolas" panose="020B0609020204030204" pitchFamily="49" charset="0"/>
              </a:rPr>
              <a:t>server</a:t>
            </a:r>
            <a:r>
              <a:rPr lang="en-IN" b="0" dirty="0" err="1">
                <a:solidFill>
                  <a:srgbClr val="CCCCCC"/>
                </a:solidFill>
                <a:effectLst/>
                <a:latin typeface="Consolas" panose="020B0609020204030204" pitchFamily="49" charset="0"/>
              </a:rPr>
              <a:t>.</a:t>
            </a:r>
            <a:r>
              <a:rPr lang="en-IN" b="0" dirty="0" err="1">
                <a:solidFill>
                  <a:srgbClr val="DCDCAA"/>
                </a:solidFill>
                <a:effectLst/>
                <a:latin typeface="Consolas" panose="020B0609020204030204" pitchFamily="49" charset="0"/>
              </a:rPr>
              <a:t>listen</a:t>
            </a:r>
            <a:r>
              <a:rPr lang="en-IN" b="0" dirty="0">
                <a:solidFill>
                  <a:srgbClr val="CCCCCC"/>
                </a:solidFill>
                <a:effectLst/>
                <a:latin typeface="Consolas" panose="020B0609020204030204" pitchFamily="49" charset="0"/>
              </a:rPr>
              <a:t>(</a:t>
            </a:r>
            <a:r>
              <a:rPr lang="en-IN" b="0" dirty="0">
                <a:solidFill>
                  <a:srgbClr val="B5CEA8"/>
                </a:solidFill>
                <a:effectLst/>
                <a:latin typeface="Consolas" panose="020B0609020204030204" pitchFamily="49" charset="0"/>
              </a:rPr>
              <a:t>3000</a:t>
            </a:r>
            <a:r>
              <a:rPr lang="en-IN" b="0" dirty="0">
                <a:solidFill>
                  <a:srgbClr val="CCCCCC"/>
                </a:solidFill>
                <a:effectLst/>
                <a:latin typeface="Consolas" panose="020B0609020204030204" pitchFamily="49" charset="0"/>
              </a:rPr>
              <a:t>,()</a:t>
            </a:r>
            <a:r>
              <a:rPr lang="en-IN" b="0" dirty="0">
                <a:solidFill>
                  <a:srgbClr val="569CD6"/>
                </a:solidFill>
                <a:effectLst/>
                <a:latin typeface="Consolas" panose="020B0609020204030204" pitchFamily="49" charset="0"/>
              </a:rPr>
              <a:t>=&gt;</a:t>
            </a:r>
            <a:r>
              <a:rPr lang="en-IN" b="0" dirty="0">
                <a:solidFill>
                  <a:srgbClr val="CCCCCC"/>
                </a:solidFill>
                <a:effectLst/>
                <a:latin typeface="Consolas" panose="020B0609020204030204" pitchFamily="49" charset="0"/>
              </a:rPr>
              <a:t>{</a:t>
            </a:r>
          </a:p>
          <a:p>
            <a:pPr>
              <a:lnSpc>
                <a:spcPts val="1425"/>
              </a:lnSpc>
              <a:buNone/>
            </a:pPr>
            <a:r>
              <a:rPr lang="en-IN" b="0" dirty="0">
                <a:solidFill>
                  <a:srgbClr val="CCCCCC"/>
                </a:solidFill>
                <a:effectLst/>
                <a:latin typeface="Consolas" panose="020B0609020204030204" pitchFamily="49" charset="0"/>
              </a:rPr>
              <a:t>   </a:t>
            </a:r>
            <a:r>
              <a:rPr lang="en-IN" b="0" dirty="0">
                <a:solidFill>
                  <a:srgbClr val="9CDCFE"/>
                </a:solidFill>
                <a:effectLst/>
                <a:latin typeface="Consolas" panose="020B0609020204030204" pitchFamily="49" charset="0"/>
              </a:rPr>
              <a:t>console</a:t>
            </a:r>
            <a:r>
              <a:rPr lang="en-IN" b="0" dirty="0">
                <a:solidFill>
                  <a:srgbClr val="CCCCCC"/>
                </a:solidFill>
                <a:effectLst/>
                <a:latin typeface="Consolas" panose="020B0609020204030204" pitchFamily="49" charset="0"/>
              </a:rPr>
              <a:t>.</a:t>
            </a:r>
            <a:r>
              <a:rPr lang="en-IN" b="0" dirty="0">
                <a:solidFill>
                  <a:srgbClr val="DCDCAA"/>
                </a:solidFill>
                <a:effectLst/>
                <a:latin typeface="Consolas" panose="020B0609020204030204" pitchFamily="49" charset="0"/>
              </a:rPr>
              <a:t>log</a:t>
            </a:r>
            <a:r>
              <a:rPr lang="en-IN" b="0" dirty="0">
                <a:solidFill>
                  <a:srgbClr val="CCCCCC"/>
                </a:solidFill>
                <a:effectLst/>
                <a:latin typeface="Consolas" panose="020B0609020204030204" pitchFamily="49" charset="0"/>
              </a:rPr>
              <a:t>(</a:t>
            </a:r>
            <a:r>
              <a:rPr lang="en-IN" b="0" dirty="0">
                <a:solidFill>
                  <a:srgbClr val="CE9178"/>
                </a:solidFill>
                <a:effectLst/>
                <a:latin typeface="Consolas" panose="020B0609020204030204" pitchFamily="49" charset="0"/>
              </a:rPr>
              <a:t>"listening"</a:t>
            </a:r>
            <a:r>
              <a:rPr lang="en-IN" b="0" dirty="0">
                <a:solidFill>
                  <a:srgbClr val="CCCCCC"/>
                </a:solidFill>
                <a:effectLst/>
                <a:latin typeface="Consolas" panose="020B0609020204030204" pitchFamily="49" charset="0"/>
              </a:rPr>
              <a:t>); </a:t>
            </a:r>
          </a:p>
          <a:p>
            <a:pPr>
              <a:lnSpc>
                <a:spcPts val="1425"/>
              </a:lnSpc>
              <a:buNone/>
            </a:pPr>
            <a:r>
              <a:rPr lang="en-IN"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6566218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430DD5-FA4D-6255-BD55-2F1094D6406D}"/>
              </a:ext>
            </a:extLst>
          </p:cNvPr>
          <p:cNvPicPr>
            <a:picLocks noChangeAspect="1"/>
          </p:cNvPicPr>
          <p:nvPr/>
        </p:nvPicPr>
        <p:blipFill>
          <a:blip r:embed="rId2"/>
          <a:stretch>
            <a:fillRect/>
          </a:stretch>
        </p:blipFill>
        <p:spPr>
          <a:xfrm>
            <a:off x="0" y="0"/>
            <a:ext cx="8426883" cy="3010055"/>
          </a:xfrm>
          <a:prstGeom prst="rect">
            <a:avLst/>
          </a:prstGeom>
        </p:spPr>
      </p:pic>
      <p:pic>
        <p:nvPicPr>
          <p:cNvPr id="5" name="Picture 4">
            <a:extLst>
              <a:ext uri="{FF2B5EF4-FFF2-40B4-BE49-F238E27FC236}">
                <a16:creationId xmlns:a16="http://schemas.microsoft.com/office/drawing/2014/main" id="{DA5655CB-D9D0-4065-59D4-F9EC73773094}"/>
              </a:ext>
            </a:extLst>
          </p:cNvPr>
          <p:cNvPicPr>
            <a:picLocks noChangeAspect="1"/>
          </p:cNvPicPr>
          <p:nvPr/>
        </p:nvPicPr>
        <p:blipFill>
          <a:blip r:embed="rId3"/>
          <a:stretch>
            <a:fillRect/>
          </a:stretch>
        </p:blipFill>
        <p:spPr>
          <a:xfrm>
            <a:off x="4125653" y="1771129"/>
            <a:ext cx="7988711" cy="4959605"/>
          </a:xfrm>
          <a:prstGeom prst="rect">
            <a:avLst/>
          </a:prstGeom>
        </p:spPr>
      </p:pic>
    </p:spTree>
    <p:extLst>
      <p:ext uri="{BB962C8B-B14F-4D97-AF65-F5344CB8AC3E}">
        <p14:creationId xmlns:p14="http://schemas.microsoft.com/office/powerpoint/2010/main" val="1196776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423B502E-F3CD-1693-8741-321AEFB0F471}"/>
              </a:ext>
            </a:extLst>
          </p:cNvPr>
          <p:cNvSpPr>
            <a:spLocks noGrp="1"/>
          </p:cNvSpPr>
          <p:nvPr>
            <p:ph type="body" sz="half" idx="2"/>
          </p:nvPr>
        </p:nvSpPr>
        <p:spPr>
          <a:xfrm>
            <a:off x="0" y="-1"/>
            <a:ext cx="12192000" cy="6729573"/>
          </a:xfrm>
        </p:spPr>
        <p:txBody>
          <a:bodyPr anchor="t">
            <a:normAutofit lnSpcReduction="10000"/>
          </a:bodyPr>
          <a:lstStyle/>
          <a:p>
            <a:pPr algn="l"/>
            <a:r>
              <a:rPr lang="en-IN" sz="1800" dirty="0"/>
              <a:t>If any data coming from the client as a request body in that case node JS internally trigger an event called data.</a:t>
            </a:r>
          </a:p>
          <a:p>
            <a:pPr algn="l"/>
            <a:r>
              <a:rPr lang="en-IN" sz="1800" dirty="0"/>
              <a:t>We have to listen to that event and access the data.</a:t>
            </a:r>
          </a:p>
          <a:p>
            <a:pPr algn="l"/>
            <a:r>
              <a:rPr lang="en-IN" sz="1800" dirty="0">
                <a:solidFill>
                  <a:srgbClr val="00B0F0"/>
                </a:solidFill>
              </a:rPr>
              <a:t>How to listen Events in Nodejs</a:t>
            </a:r>
          </a:p>
          <a:p>
            <a:pPr algn="l"/>
            <a:r>
              <a:rPr lang="en-IN" sz="1800" dirty="0">
                <a:solidFill>
                  <a:srgbClr val="00B0F0"/>
                </a:solidFill>
              </a:rPr>
              <a:t>	</a:t>
            </a:r>
            <a:r>
              <a:rPr lang="en-US" sz="1800" dirty="0"/>
              <a:t> We have multiple ways to listen to events in Node.js.</a:t>
            </a:r>
            <a:br>
              <a:rPr lang="en-US" sz="1800" dirty="0"/>
            </a:br>
            <a:r>
              <a:rPr lang="en-US" sz="1800" dirty="0"/>
              <a:t>		One of the ways is by using the req object, which provides access to the on() function.</a:t>
            </a:r>
          </a:p>
          <a:p>
            <a:pPr algn="l"/>
            <a:r>
              <a:rPr lang="en-US" sz="1800" dirty="0"/>
              <a:t>	The </a:t>
            </a:r>
            <a:r>
              <a:rPr lang="en-US" dirty="0"/>
              <a:t>on()</a:t>
            </a:r>
            <a:r>
              <a:rPr lang="en-US" sz="1800" dirty="0"/>
              <a:t> function takes two arguments:</a:t>
            </a:r>
          </a:p>
          <a:p>
            <a:pPr algn="l"/>
            <a:r>
              <a:rPr lang="en-US" sz="1800" b="1" dirty="0"/>
              <a:t>				eventName</a:t>
            </a:r>
            <a:r>
              <a:rPr lang="en-US" sz="1800" dirty="0"/>
              <a:t> – the name of the event we want to listen to.</a:t>
            </a:r>
          </a:p>
          <a:p>
            <a:pPr algn="l"/>
            <a:r>
              <a:rPr lang="en-US" sz="1800" b="1" dirty="0"/>
              <a:t>				callback function</a:t>
            </a:r>
            <a:r>
              <a:rPr lang="en-US" sz="1800" dirty="0"/>
              <a:t> – also called the event handler, which takes one parameter.</a:t>
            </a:r>
          </a:p>
          <a:p>
            <a:r>
              <a:rPr lang="en-US" sz="1800" dirty="0"/>
              <a:t>Whenever we call </a:t>
            </a:r>
            <a:r>
              <a:rPr lang="en-US" dirty="0"/>
              <a:t>on()</a:t>
            </a:r>
            <a:r>
              <a:rPr lang="en-US" sz="1800" dirty="0"/>
              <a:t> and configure the event, the callback function will be executed automatically when that event is triggered. Internally, Node.js copies the data coming from the request body into the parameter of the callback function.</a:t>
            </a:r>
          </a:p>
          <a:p>
            <a:r>
              <a:rPr lang="en-US" sz="1800" b="1" dirty="0">
                <a:solidFill>
                  <a:srgbClr val="F8BCF1"/>
                </a:solidFill>
              </a:rPr>
              <a:t>Note: Whenever the request body receives data, the event gets triggered, and the callback function will execute each time new data is received. This means the callback may be called multiple times depending on how the data is sent in chunks.</a:t>
            </a:r>
          </a:p>
          <a:p>
            <a:pPr algn="l"/>
            <a:r>
              <a:rPr lang="en-US" sz="1800" dirty="0"/>
              <a:t>	</a:t>
            </a:r>
          </a:p>
          <a:p>
            <a:pPr algn="l"/>
            <a:r>
              <a:rPr lang="en-US" sz="1800" dirty="0">
                <a:solidFill>
                  <a:srgbClr val="F8BCF1"/>
                </a:solidFill>
              </a:rPr>
              <a:t>req.on</a:t>
            </a:r>
            <a:r>
              <a:rPr lang="en-US" sz="1800" dirty="0"/>
              <a:t>(</a:t>
            </a:r>
            <a:r>
              <a:rPr lang="en-US" sz="1800" dirty="0">
                <a:solidFill>
                  <a:schemeClr val="accent1">
                    <a:lumMod val="60000"/>
                    <a:lumOff val="40000"/>
                  </a:schemeClr>
                </a:solidFill>
              </a:rPr>
              <a:t>eventName</a:t>
            </a:r>
            <a:r>
              <a:rPr lang="en-US" sz="1800" dirty="0"/>
              <a:t>,</a:t>
            </a:r>
            <a:r>
              <a:rPr lang="en-US" sz="1800" dirty="0">
                <a:solidFill>
                  <a:srgbClr val="FFFF00"/>
                </a:solidFill>
              </a:rPr>
              <a:t>(dataOfEvent)=&gt;{</a:t>
            </a:r>
          </a:p>
          <a:p>
            <a:pPr algn="l"/>
            <a:endParaRPr lang="en-US" sz="1800" dirty="0">
              <a:solidFill>
                <a:srgbClr val="FFFF00"/>
              </a:solidFill>
            </a:endParaRPr>
          </a:p>
          <a:p>
            <a:pPr algn="l"/>
            <a:r>
              <a:rPr lang="en-US" sz="1800" dirty="0">
                <a:solidFill>
                  <a:srgbClr val="FFFF00"/>
                </a:solidFill>
              </a:rPr>
              <a:t> }</a:t>
            </a:r>
          </a:p>
          <a:p>
            <a:pPr algn="l"/>
            <a:endParaRPr lang="en-IN" sz="1800" dirty="0"/>
          </a:p>
        </p:txBody>
      </p:sp>
      <p:sp>
        <p:nvSpPr>
          <p:cNvPr id="4" name="Rectangle 3">
            <a:extLst>
              <a:ext uri="{FF2B5EF4-FFF2-40B4-BE49-F238E27FC236}">
                <a16:creationId xmlns:a16="http://schemas.microsoft.com/office/drawing/2014/main" id="{A2378347-2EEF-E96D-8009-AC435CC71384}"/>
              </a:ext>
            </a:extLst>
          </p:cNvPr>
          <p:cNvSpPr/>
          <p:nvPr/>
        </p:nvSpPr>
        <p:spPr>
          <a:xfrm>
            <a:off x="5332286" y="4705563"/>
            <a:ext cx="5989835" cy="2024009"/>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IN" dirty="0"/>
              <a:t>Copied data will store in Hexadecimal format</a:t>
            </a:r>
          </a:p>
          <a:p>
            <a:pPr algn="ctr"/>
            <a:br>
              <a:rPr lang="en-IN" dirty="0"/>
            </a:br>
            <a:r>
              <a:rPr lang="en-IN" b="1" dirty="0">
                <a:solidFill>
                  <a:srgbClr val="F8BCF1"/>
                </a:solidFill>
              </a:rPr>
              <a:t>so we need to convert as JSON format</a:t>
            </a:r>
          </a:p>
        </p:txBody>
      </p:sp>
      <p:sp>
        <p:nvSpPr>
          <p:cNvPr id="5" name="Arrow: Curved Down 4">
            <a:extLst>
              <a:ext uri="{FF2B5EF4-FFF2-40B4-BE49-F238E27FC236}">
                <a16:creationId xmlns:a16="http://schemas.microsoft.com/office/drawing/2014/main" id="{6E8CE051-99D9-26DD-4D64-EAF9AD6BE05E}"/>
              </a:ext>
            </a:extLst>
          </p:cNvPr>
          <p:cNvSpPr/>
          <p:nvPr/>
        </p:nvSpPr>
        <p:spPr>
          <a:xfrm>
            <a:off x="3030875" y="4613096"/>
            <a:ext cx="2301411" cy="554805"/>
          </a:xfrm>
          <a:prstGeom prst="curvedDown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IN">
              <a:solidFill>
                <a:schemeClr val="tx1"/>
              </a:solidFill>
            </a:endParaRPr>
          </a:p>
        </p:txBody>
      </p:sp>
    </p:spTree>
    <p:extLst>
      <p:ext uri="{BB962C8B-B14F-4D97-AF65-F5344CB8AC3E}">
        <p14:creationId xmlns:p14="http://schemas.microsoft.com/office/powerpoint/2010/main" val="259785758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VTI">
  <a:themeElements>
    <a:clrScheme name="Blue Green">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Arial Nova">
      <a:majorFont>
        <a:latin typeface="Arial Nova Light"/>
        <a:ea typeface=""/>
        <a:cs typeface=""/>
      </a:majorFont>
      <a:minorFont>
        <a:latin typeface="Arial Nova"/>
        <a:ea typeface=""/>
        <a:cs typeface=""/>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VTI" id="{35C4A07C-0176-4A32-9BCB-B016516853F0}" vid="{9B70D35C-BCA8-4715-BB49-8BE54A7FC07C}"/>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CB38EC-895A-4F8F-8F75-E263501ABB5A}">
  <ds:schemaRefs>
    <ds:schemaRef ds:uri="http://schemas.microsoft.com/sharepoint/v3/contenttype/forms"/>
  </ds:schemaRefs>
</ds:datastoreItem>
</file>

<file path=customXml/itemProps2.xml><?xml version="1.0" encoding="utf-8"?>
<ds:datastoreItem xmlns:ds="http://schemas.openxmlformats.org/officeDocument/2006/customXml" ds:itemID="{F7E70FC5-1855-47AB-8CE1-CB3C873A8988}">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5560E646-30AD-4BA0-97EA-A7A07DF5499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{577E2585-6C44-4861-8299-3E266CE582FB}tf11665031_win32</Template>
  <TotalTime>221</TotalTime>
  <Words>681</Words>
  <Application>Microsoft Office PowerPoint</Application>
  <PresentationFormat>Widescreen</PresentationFormat>
  <Paragraphs>82</Paragraphs>
  <Slides>16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Arial Nova</vt:lpstr>
      <vt:lpstr>Arial Nova Light</vt:lpstr>
      <vt:lpstr>Consolas</vt:lpstr>
      <vt:lpstr>fkGrotesk</vt:lpstr>
      <vt:lpstr>fkGroteskNeue</vt:lpstr>
      <vt:lpstr>Wingdings 2</vt:lpstr>
      <vt:lpstr>SlateVTI</vt:lpstr>
      <vt:lpstr>BackEnd</vt:lpstr>
      <vt:lpstr>PowerPoint Presentation</vt:lpstr>
      <vt:lpstr>Object</vt:lpstr>
      <vt:lpstr>CallBack</vt:lpstr>
      <vt:lpstr>Promise</vt:lpstr>
      <vt:lpstr>CallBack Hell</vt:lpstr>
      <vt:lpstr>asynchronous programming</vt:lpstr>
      <vt:lpstr>JavaScript Engine Architecture </vt:lpstr>
      <vt:lpstr>Currying</vt:lpstr>
      <vt:lpstr>COMMON JS MODULE PATTERN </vt:lpstr>
      <vt:lpstr>Data</vt:lpstr>
      <vt:lpstr>How to access data from Request Body of HTTP request </vt:lpstr>
      <vt:lpstr>How to access the data at backend if the data coming in request body. </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Jhana Karthik</dc:creator>
  <cp:lastModifiedBy>Jhana Karthik</cp:lastModifiedBy>
  <cp:revision>13</cp:revision>
  <dcterms:created xsi:type="dcterms:W3CDTF">2025-11-11T14:15:00Z</dcterms:created>
  <dcterms:modified xsi:type="dcterms:W3CDTF">2025-11-11T18:07:07Z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