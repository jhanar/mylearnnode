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sldIdLst>
    <p:sldId id="280" r:id="rId5"/>
    <p:sldId id="281" r:id="rId6"/>
    <p:sldId id="282" r:id="rId7"/>
    <p:sldId id="283" r:id="rId8"/>
    <p:sldId id="284" r:id="rId9"/>
    <p:sldId id="285" r:id="rId10"/>
    <p:sldId id="286" r:id="rId11"/>
    <p:sldId id="287" r:id="rId12"/>
    <p:sldId id="288" r:id="rId13"/>
    <p:sldId id="289" r:id="rId14"/>
    <p:sldId id="290" r:id="rId15"/>
    <p:sldId id="291" r:id="rId16"/>
    <p:sldId id="299" r:id="rId17"/>
    <p:sldId id="300" r:id="rId18"/>
    <p:sldId id="295" r:id="rId19"/>
    <p:sldId id="297" r:id="rId20"/>
    <p:sldId id="293" r:id="rId21"/>
    <p:sldId id="294"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BCF1"/>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19" autoAdjust="0"/>
  </p:normalViewPr>
  <p:slideViewPr>
    <p:cSldViewPr snapToGrid="0">
      <p:cViewPr varScale="1">
        <p:scale>
          <a:sx n="62" d="100"/>
          <a:sy n="62" d="100"/>
        </p:scale>
        <p:origin x="828"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77348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D38747-4367-4BD2-8D51-C97E202738E2}" type="datetime1">
              <a:rPr lang="en-US" smtClean="0"/>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9029819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C55A3C-5767-4844-A0A3-83778C2E5409}" type="datetime1">
              <a:rPr lang="en-US" smtClean="0"/>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062771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763439"/>
            <a:ext cx="9590550" cy="133349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AE507A8-A5CF-4D38-AB86-7EDDA87A85D4}" type="datetime1">
              <a:rPr lang="en-US" smtClean="0"/>
              <a:t>11/13/2025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6642051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126187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76450"/>
            <a:ext cx="4856841" cy="362267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0716" y="2076451"/>
            <a:ext cx="4856841" cy="3622672"/>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FCD27C-8599-43EF-BA1D-14DDC1946E06}" type="datetime1">
              <a:rPr lang="en-US" smtClean="0"/>
              <a:t>11/13/2025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15774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a:extLst>
              <a:ext uri="{FF2B5EF4-FFF2-40B4-BE49-F238E27FC236}">
                <a16:creationId xmlns:a16="http://schemas.microsoft.com/office/drawing/2014/main" id="{37B721FF-D609-4D98-9D19-CF75AA8A5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29200" cy="4099959"/>
          </a:xfrm>
          <a:prstGeom prst="rect">
            <a:avLst/>
          </a:prstGeom>
        </p:spPr>
      </p:pic>
      <p:pic>
        <p:nvPicPr>
          <p:cNvPr id="21" name="Picture 20" descr="Slate-V2-HD-compPhotoInset.png">
            <a:extLst>
              <a:ext uri="{FF2B5EF4-FFF2-40B4-BE49-F238E27FC236}">
                <a16:creationId xmlns:a16="http://schemas.microsoft.com/office/drawing/2014/main" id="{073936BD-C868-433F-8E84-D6DD8E640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8357" y="1734506"/>
            <a:ext cx="5029200" cy="4099959"/>
          </a:xfrm>
          <a:prstGeom prst="rect">
            <a:avLst/>
          </a:prstGeom>
        </p:spPr>
      </p:pic>
      <p:sp>
        <p:nvSpPr>
          <p:cNvPr id="2" name="Title 1"/>
          <p:cNvSpPr>
            <a:spLocks noGrp="1"/>
          </p:cNvSpPr>
          <p:nvPr>
            <p:ph type="title"/>
          </p:nvPr>
        </p:nvSpPr>
        <p:spPr>
          <a:xfrm>
            <a:off x="913795" y="609600"/>
            <a:ext cx="10353762" cy="97045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46013" y="1855153"/>
            <a:ext cx="4764764" cy="69249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46013" y="2702103"/>
            <a:ext cx="4764764"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3166" y="1855152"/>
            <a:ext cx="4779582" cy="692495"/>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3167" y="2702103"/>
            <a:ext cx="4779581"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9343D99-809A-49C0-96E5-4250D0B498EE}" type="datetime1">
              <a:rPr lang="en-US" smtClean="0"/>
              <a:t>11/13/2025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203152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3DE9B-B678-4EFB-BB7D-A4370204A0B0}" type="datetime1">
              <a:rPr lang="en-US" smtClean="0"/>
              <a:t>11/13/2025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343349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8812DA-F765-4142-A6A3-A8ED7235E082}" type="datetime1">
              <a:rPr lang="en-US" smtClean="0"/>
              <a:t>11/13/2025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515851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8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0800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673351"/>
            <a:ext cx="3706889" cy="301625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0277FD-7DE6-41D4-930D-AC99F5AFE54E}" type="datetime1">
              <a:rPr lang="en-US" smtClean="0"/>
              <a:t>11/13/2025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0581491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a:extLst>
              <a:ext uri="{FF2B5EF4-FFF2-40B4-BE49-F238E27FC236}">
                <a16:creationId xmlns:a16="http://schemas.microsoft.com/office/drawing/2014/main" id="{4D06E496-ACBA-4063-B4A1-C5C484EE5A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763701"/>
            <a:ext cx="5707899" cy="1675559"/>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73698" y="2679699"/>
            <a:ext cx="4588094" cy="3135695"/>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EA15526-7079-4B7B-987C-1B5FAE11A0FF}" type="datetime1">
              <a:rPr lang="en-US" smtClean="0"/>
              <a:t>11/13/2025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425126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a:extLst>
              <a:ext uri="{FF2B5EF4-FFF2-40B4-BE49-F238E27FC236}">
                <a16:creationId xmlns:a16="http://schemas.microsoft.com/office/drawing/2014/main" id="{CE39118B-B3AD-4BD4-BA22-DEFF4E76C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247728"/>
            <a:ext cx="10353762" cy="543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F1B079-7EF0-44EE-B798-BCC497C9F3B2}" type="datetime1">
              <a:rPr lang="en-US" smtClean="0"/>
              <a:t>11/13/2025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198098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normAutofit/>
          </a:bodyPr>
          <a:lstStyle>
            <a:lvl1pPr>
              <a:defRPr sz="40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8FF70A8-1D13-4657-95F0-A9EA54967B8D}" type="datetime1">
              <a:rPr lang="en-US" smtClean="0"/>
              <a:t>11/13/2025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681927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1EB90AC-71BD-4C7F-8ACA-7B3F18292E63}" type="datetime1">
              <a:rPr lang="en-US" smtClean="0"/>
              <a:t>11/13/2025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
        <p:nvSpPr>
          <p:cNvPr id="11" name="TextBox 10">
            <a:extLst>
              <a:ext uri="{FF2B5EF4-FFF2-40B4-BE49-F238E27FC236}">
                <a16:creationId xmlns:a16="http://schemas.microsoft.com/office/drawing/2014/main" id="{223F0D53-0705-41B7-8554-09D21E7807F9}"/>
              </a:ext>
            </a:extLst>
          </p:cNvPr>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a:extLst>
              <a:ext uri="{FF2B5EF4-FFF2-40B4-BE49-F238E27FC236}">
                <a16:creationId xmlns:a16="http://schemas.microsoft.com/office/drawing/2014/main" id="{C7F647CD-0F1A-4BB3-89E0-A74F1E1B098D}"/>
              </a:ext>
            </a:extLst>
          </p:cNvPr>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8520980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E6EFC2C-8905-46F0-B443-CE905B76BA01}" type="datetime1">
              <a:rPr lang="en-US" smtClean="0"/>
              <a:t>11/13/2025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063243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49"/>
            <a:ext cx="3300984" cy="764783"/>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768110"/>
            <a:ext cx="3300984" cy="302308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D9079DC3-C9B5-499E-9140-0DC28B7074E2}" type="datetime1">
              <a:rPr lang="en-US" smtClean="0"/>
              <a:t>11/13/2025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7975862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a:extLst>
              <a:ext uri="{FF2B5EF4-FFF2-40B4-BE49-F238E27FC236}">
                <a16:creationId xmlns:a16="http://schemas.microsoft.com/office/drawing/2014/main" id="{7E87C569-D426-4615-ADA7-B370EA983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a:extLst>
              <a:ext uri="{FF2B5EF4-FFF2-40B4-BE49-F238E27FC236}">
                <a16:creationId xmlns:a16="http://schemas.microsoft.com/office/drawing/2014/main" id="{7B353ED4-7AD0-46C9-88ED-1A16B1433A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a:extLst>
              <a:ext uri="{FF2B5EF4-FFF2-40B4-BE49-F238E27FC236}">
                <a16:creationId xmlns:a16="http://schemas.microsoft.com/office/drawing/2014/main" id="{F561D985-AD57-459A-B3A6-EBF296039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572443"/>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BB33EA-E472-4D22-9C03-A9C14AA21CED}" type="datetime1">
              <a:rPr lang="en-US" smtClean="0"/>
              <a:t>11/13/2025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25455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125730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76450"/>
            <a:ext cx="10353762" cy="3714749"/>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6000749"/>
            <a:ext cx="2743200"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073ED0CC-082F-4160-86E5-0D6041F12778}" type="datetime1">
              <a:rPr lang="en-US" smtClean="0"/>
              <a:t>11/13/2025</a:t>
            </a:fld>
            <a:endParaRPr lang="en-US" dirty="0"/>
          </a:p>
        </p:txBody>
      </p:sp>
      <p:sp>
        <p:nvSpPr>
          <p:cNvPr id="5" name="Footer Placeholder 4"/>
          <p:cNvSpPr>
            <a:spLocks noGrp="1"/>
          </p:cNvSpPr>
          <p:nvPr>
            <p:ph type="ftr" sz="quarter" idx="3"/>
          </p:nvPr>
        </p:nvSpPr>
        <p:spPr>
          <a:xfrm>
            <a:off x="913795" y="6000749"/>
            <a:ext cx="6672865" cy="365125"/>
          </a:xfrm>
          <a:prstGeom prst="rect">
            <a:avLst/>
          </a:prstGeom>
        </p:spPr>
        <p:txBody>
          <a:bodyPr vert="horz" lIns="91440" tIns="45720" rIns="91440" bIns="45720" rtlCol="0" anchor="ctr"/>
          <a:lstStyle>
            <a:lvl1pPr algn="l">
              <a:defRPr sz="11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6000749"/>
            <a:ext cx="753545"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401274407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457200" rtl="0" eaLnBrk="1" latinLnBrk="0" hangingPunct="1">
        <a:lnSpc>
          <a:spcPct val="90000"/>
        </a:lnSpc>
        <a:spcBef>
          <a:spcPct val="0"/>
        </a:spcBef>
        <a:buNone/>
        <a:defRPr sz="4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3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pic>
        <p:nvPicPr>
          <p:cNvPr id="6" name="Picture 5" descr="A picture containing large, sitting, white, numbers">
            <a:extLst>
              <a:ext uri="{FF2B5EF4-FFF2-40B4-BE49-F238E27FC236}">
                <a16:creationId xmlns:a16="http://schemas.microsoft.com/office/drawing/2014/main" id="{9A5D9ED1-DFCC-4799-89E2-D118451B98DF}"/>
              </a:ext>
            </a:extLst>
          </p:cNvPr>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322" y="0"/>
            <a:ext cx="12191356" cy="6858000"/>
          </a:xfrm>
          <a:prstGeom prst="rect">
            <a:avLst/>
          </a:prstGeom>
        </p:spPr>
      </p:pic>
      <p:sp useBgFill="1">
        <p:nvSpPr>
          <p:cNvPr id="96" name="Freeform 5">
            <a:extLst>
              <a:ext uri="{FF2B5EF4-FFF2-40B4-BE49-F238E27FC236}">
                <a16:creationId xmlns:a16="http://schemas.microsoft.com/office/drawing/2014/main" id="{FE469E50-3893-4ED6-92BA-2985C32B0C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rot="5400000">
            <a:off x="7131809" y="1385982"/>
            <a:ext cx="4031414" cy="4100418"/>
          </a:xfrm>
          <a:custGeom>
            <a:avLst/>
            <a:gdLst>
              <a:gd name="T0" fmla="*/ 1577 w 1601"/>
              <a:gd name="T1" fmla="*/ 0 h 696"/>
              <a:gd name="T2" fmla="*/ 833 w 1601"/>
              <a:gd name="T3" fmla="*/ 0 h 696"/>
              <a:gd name="T4" fmla="*/ 768 w 1601"/>
              <a:gd name="T5" fmla="*/ 0 h 696"/>
              <a:gd name="T6" fmla="*/ 24 w 1601"/>
              <a:gd name="T7" fmla="*/ 0 h 696"/>
              <a:gd name="T8" fmla="*/ 0 w 1601"/>
              <a:gd name="T9" fmla="*/ 27 h 696"/>
              <a:gd name="T10" fmla="*/ 0 w 1601"/>
              <a:gd name="T11" fmla="*/ 669 h 696"/>
              <a:gd name="T12" fmla="*/ 24 w 1601"/>
              <a:gd name="T13" fmla="*/ 696 h 696"/>
              <a:gd name="T14" fmla="*/ 768 w 1601"/>
              <a:gd name="T15" fmla="*/ 696 h 696"/>
              <a:gd name="T16" fmla="*/ 833 w 1601"/>
              <a:gd name="T17" fmla="*/ 696 h 696"/>
              <a:gd name="T18" fmla="*/ 1577 w 1601"/>
              <a:gd name="T19" fmla="*/ 696 h 696"/>
              <a:gd name="T20" fmla="*/ 1601 w 1601"/>
              <a:gd name="T21" fmla="*/ 669 h 696"/>
              <a:gd name="T22" fmla="*/ 1601 w 1601"/>
              <a:gd name="T23" fmla="*/ 27 h 696"/>
              <a:gd name="T24" fmla="*/ 1577 w 1601"/>
              <a:gd name="T25" fmla="*/ 0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01" h="696">
                <a:moveTo>
                  <a:pt x="1577" y="0"/>
                </a:moveTo>
                <a:cubicBezTo>
                  <a:pt x="833" y="0"/>
                  <a:pt x="833" y="0"/>
                  <a:pt x="833" y="0"/>
                </a:cubicBezTo>
                <a:cubicBezTo>
                  <a:pt x="768" y="0"/>
                  <a:pt x="768" y="0"/>
                  <a:pt x="768" y="0"/>
                </a:cubicBezTo>
                <a:cubicBezTo>
                  <a:pt x="24" y="0"/>
                  <a:pt x="24" y="0"/>
                  <a:pt x="24" y="0"/>
                </a:cubicBezTo>
                <a:cubicBezTo>
                  <a:pt x="11" y="0"/>
                  <a:pt x="0" y="12"/>
                  <a:pt x="0" y="27"/>
                </a:cubicBezTo>
                <a:cubicBezTo>
                  <a:pt x="0" y="669"/>
                  <a:pt x="0" y="669"/>
                  <a:pt x="0" y="669"/>
                </a:cubicBezTo>
                <a:cubicBezTo>
                  <a:pt x="0" y="684"/>
                  <a:pt x="11" y="696"/>
                  <a:pt x="24" y="696"/>
                </a:cubicBezTo>
                <a:cubicBezTo>
                  <a:pt x="768" y="696"/>
                  <a:pt x="768" y="696"/>
                  <a:pt x="768" y="696"/>
                </a:cubicBezTo>
                <a:cubicBezTo>
                  <a:pt x="833" y="696"/>
                  <a:pt x="833" y="696"/>
                  <a:pt x="833" y="696"/>
                </a:cubicBezTo>
                <a:cubicBezTo>
                  <a:pt x="1577" y="696"/>
                  <a:pt x="1577" y="696"/>
                  <a:pt x="1577" y="696"/>
                </a:cubicBezTo>
                <a:cubicBezTo>
                  <a:pt x="1590" y="696"/>
                  <a:pt x="1601" y="684"/>
                  <a:pt x="1601" y="669"/>
                </a:cubicBezTo>
                <a:cubicBezTo>
                  <a:pt x="1601" y="27"/>
                  <a:pt x="1601" y="27"/>
                  <a:pt x="1601" y="27"/>
                </a:cubicBezTo>
                <a:cubicBezTo>
                  <a:pt x="1601" y="12"/>
                  <a:pt x="1590" y="0"/>
                  <a:pt x="1577" y="0"/>
                </a:cubicBezTo>
                <a:close/>
              </a:path>
            </a:pathLst>
          </a:custGeom>
          <a:ln>
            <a:noFill/>
          </a:ln>
          <a:effectLst>
            <a:outerShdw blurRad="50800" dist="38100" dir="5400000" algn="tl" rotWithShape="0">
              <a:srgbClr val="000000">
                <a:alpha val="43000"/>
              </a:srgbClr>
            </a:outerShdw>
          </a:effectLst>
          <a:extLst>
            <a:ext uri="{91240B29-F687-4f45-9708-019B960494DF}">
              <a14:hiddenLine xmlns="" xmlns:a14="http://schemas.microsoft.com/office/drawing/2010/main" xmlns:p14="http://schemas.microsoft.com/office/powerpoint/2010/main" xmlns:a16="http://schemas.microsoft.com/office/drawing/2014/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rial Nova"/>
              <a:ea typeface="+mn-ea"/>
              <a:cs typeface="+mn-cs"/>
            </a:endParaRPr>
          </a:p>
        </p:txBody>
      </p:sp>
      <p:sp>
        <p:nvSpPr>
          <p:cNvPr id="2" name="Title 1">
            <a:extLst>
              <a:ext uri="{FF2B5EF4-FFF2-40B4-BE49-F238E27FC236}">
                <a16:creationId xmlns:a16="http://schemas.microsoft.com/office/drawing/2014/main" id="{0D1F047C-C727-42A7-85C5-68C5AA1B1A93}"/>
              </a:ext>
            </a:extLst>
          </p:cNvPr>
          <p:cNvSpPr>
            <a:spLocks noGrp="1"/>
          </p:cNvSpPr>
          <p:nvPr>
            <p:ph type="ctrTitle"/>
          </p:nvPr>
        </p:nvSpPr>
        <p:spPr>
          <a:xfrm>
            <a:off x="7389962" y="1673524"/>
            <a:ext cx="3485073" cy="2420504"/>
          </a:xfrm>
        </p:spPr>
        <p:txBody>
          <a:bodyPr>
            <a:normAutofit/>
          </a:bodyPr>
          <a:lstStyle/>
          <a:p>
            <a:pPr algn="l"/>
            <a:r>
              <a:rPr lang="en-US" sz="4000" dirty="0" err="1"/>
              <a:t>BackEnd</a:t>
            </a:r>
            <a:endParaRPr lang="en-US" sz="4000" dirty="0"/>
          </a:p>
        </p:txBody>
      </p:sp>
      <p:sp>
        <p:nvSpPr>
          <p:cNvPr id="3" name="Subtitle 2">
            <a:extLst>
              <a:ext uri="{FF2B5EF4-FFF2-40B4-BE49-F238E27FC236}">
                <a16:creationId xmlns:a16="http://schemas.microsoft.com/office/drawing/2014/main" id="{DB93FB3F-A8D4-46D3-A1C6-C79C64563729}"/>
              </a:ext>
            </a:extLst>
          </p:cNvPr>
          <p:cNvSpPr>
            <a:spLocks noGrp="1"/>
          </p:cNvSpPr>
          <p:nvPr>
            <p:ph type="subTitle" idx="1"/>
          </p:nvPr>
        </p:nvSpPr>
        <p:spPr>
          <a:xfrm>
            <a:off x="7097306" y="4157933"/>
            <a:ext cx="4100417" cy="1026544"/>
          </a:xfrm>
        </p:spPr>
        <p:txBody>
          <a:bodyPr>
            <a:normAutofit/>
          </a:bodyPr>
          <a:lstStyle/>
          <a:p>
            <a:pPr algn="l"/>
            <a:r>
              <a:rPr lang="en-US" dirty="0" err="1">
                <a:solidFill>
                  <a:srgbClr val="5792BA"/>
                </a:solidFill>
              </a:rPr>
              <a:t>NodeJs</a:t>
            </a:r>
            <a:r>
              <a:rPr lang="en-US" dirty="0">
                <a:solidFill>
                  <a:srgbClr val="5792BA"/>
                </a:solidFill>
              </a:rPr>
              <a:t>, </a:t>
            </a:r>
            <a:r>
              <a:rPr lang="en-US" dirty="0" err="1">
                <a:solidFill>
                  <a:srgbClr val="5792BA"/>
                </a:solidFill>
              </a:rPr>
              <a:t>ExpressJs</a:t>
            </a:r>
            <a:r>
              <a:rPr lang="en-US" dirty="0">
                <a:solidFill>
                  <a:srgbClr val="5792BA"/>
                </a:solidFill>
              </a:rPr>
              <a:t>, MongoDB</a:t>
            </a:r>
            <a:endParaRPr lang="en-US" sz="2300" dirty="0">
              <a:solidFill>
                <a:srgbClr val="5792BA"/>
              </a:solidFill>
            </a:endParaRPr>
          </a:p>
        </p:txBody>
      </p:sp>
    </p:spTree>
    <p:extLst>
      <p:ext uri="{BB962C8B-B14F-4D97-AF65-F5344CB8AC3E}">
        <p14:creationId xmlns:p14="http://schemas.microsoft.com/office/powerpoint/2010/main" val="15831201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738E1CD2-DC64-76E7-D468-CDF5857409A0}"/>
              </a:ext>
            </a:extLst>
          </p:cNvPr>
          <p:cNvSpPr>
            <a:spLocks noGrp="1"/>
          </p:cNvSpPr>
          <p:nvPr>
            <p:ph idx="1"/>
          </p:nvPr>
        </p:nvSpPr>
        <p:spPr>
          <a:xfrm>
            <a:off x="71438" y="174625"/>
            <a:ext cx="11196637" cy="5616575"/>
          </a:xfrm>
        </p:spPr>
        <p:txBody>
          <a:bodyPr/>
          <a:lstStyle/>
          <a:p>
            <a:pPr>
              <a:buNone/>
            </a:pPr>
            <a:r>
              <a:rPr lang="en-IN" dirty="0">
                <a:effectLst/>
                <a:latin typeface="fkGrotesk"/>
              </a:rPr>
              <a:t>Refresh JavaScript Concept</a:t>
            </a:r>
          </a:p>
          <a:p>
            <a:pPr>
              <a:buFont typeface="Arial" panose="020B0604020202020204" pitchFamily="34" charset="0"/>
              <a:buChar char="•"/>
            </a:pPr>
            <a:r>
              <a:rPr lang="en-IN" dirty="0">
                <a:effectLst/>
                <a:latin typeface="fkGroteskNeue"/>
              </a:rPr>
              <a:t>object</a:t>
            </a:r>
          </a:p>
          <a:p>
            <a:pPr>
              <a:buFont typeface="Arial" panose="020B0604020202020204" pitchFamily="34" charset="0"/>
              <a:buChar char="•"/>
            </a:pPr>
            <a:r>
              <a:rPr lang="en-IN" dirty="0">
                <a:effectLst/>
                <a:latin typeface="fkGroteskNeue"/>
              </a:rPr>
              <a:t>callback</a:t>
            </a:r>
          </a:p>
          <a:p>
            <a:pPr>
              <a:buFont typeface="Arial" panose="020B0604020202020204" pitchFamily="34" charset="0"/>
              <a:buChar char="•"/>
            </a:pPr>
            <a:r>
              <a:rPr lang="en-IN" dirty="0">
                <a:effectLst/>
                <a:latin typeface="fkGroteskNeue"/>
              </a:rPr>
              <a:t>promises</a:t>
            </a:r>
          </a:p>
          <a:p>
            <a:pPr>
              <a:buFont typeface="Arial" panose="020B0604020202020204" pitchFamily="34" charset="0"/>
              <a:buChar char="•"/>
            </a:pPr>
            <a:r>
              <a:rPr lang="en-IN" dirty="0">
                <a:effectLst/>
                <a:latin typeface="fkGroteskNeue"/>
              </a:rPr>
              <a:t>callback hell</a:t>
            </a:r>
          </a:p>
          <a:p>
            <a:pPr>
              <a:buFont typeface="Arial" panose="020B0604020202020204" pitchFamily="34" charset="0"/>
              <a:buChar char="•"/>
            </a:pPr>
            <a:r>
              <a:rPr lang="en-IN" dirty="0">
                <a:effectLst/>
                <a:latin typeface="fkGroteskNeue"/>
              </a:rPr>
              <a:t>asynchronous programming</a:t>
            </a:r>
          </a:p>
          <a:p>
            <a:pPr>
              <a:buFont typeface="Arial" panose="020B0604020202020204" pitchFamily="34" charset="0"/>
              <a:buChar char="•"/>
            </a:pPr>
            <a:r>
              <a:rPr lang="en-IN" dirty="0">
                <a:effectLst/>
                <a:latin typeface="fkGroteskNeue"/>
              </a:rPr>
              <a:t>JavaScript Engine Architecture</a:t>
            </a:r>
          </a:p>
        </p:txBody>
      </p:sp>
    </p:spTree>
    <p:extLst>
      <p:ext uri="{BB962C8B-B14F-4D97-AF65-F5344CB8AC3E}">
        <p14:creationId xmlns:p14="http://schemas.microsoft.com/office/powerpoint/2010/main" val="24551051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444C5F-CC7C-BC68-08D2-B620AF9014E1}"/>
              </a:ext>
            </a:extLst>
          </p:cNvPr>
          <p:cNvSpPr>
            <a:spLocks noGrp="1"/>
          </p:cNvSpPr>
          <p:nvPr>
            <p:ph type="title"/>
          </p:nvPr>
        </p:nvSpPr>
        <p:spPr/>
        <p:txBody>
          <a:bodyPr/>
          <a:lstStyle/>
          <a:p>
            <a:r>
              <a:rPr lang="en-IN" dirty="0"/>
              <a:t>Object</a:t>
            </a:r>
          </a:p>
        </p:txBody>
      </p:sp>
      <p:sp>
        <p:nvSpPr>
          <p:cNvPr id="3" name="Content Placeholder 2">
            <a:extLst>
              <a:ext uri="{FF2B5EF4-FFF2-40B4-BE49-F238E27FC236}">
                <a16:creationId xmlns:a16="http://schemas.microsoft.com/office/drawing/2014/main" id="{6CC5BD4E-DB46-E258-486D-065FADE512E8}"/>
              </a:ext>
            </a:extLst>
          </p:cNvPr>
          <p:cNvSpPr>
            <a:spLocks noGrp="1"/>
          </p:cNvSpPr>
          <p:nvPr>
            <p:ph idx="1"/>
          </p:nvPr>
        </p:nvSpPr>
        <p:spPr/>
        <p:txBody>
          <a:bodyPr/>
          <a:lstStyle/>
          <a:p>
            <a:pPr marL="36900" indent="0">
              <a:buNone/>
            </a:pPr>
            <a:r>
              <a:rPr lang="en-IN" sz="4000" dirty="0">
                <a:solidFill>
                  <a:schemeClr val="tx1">
                    <a:lumMod val="95000"/>
                  </a:schemeClr>
                </a:solidFill>
                <a:effectLst/>
                <a:latin typeface="fkGroteskNeue"/>
              </a:rPr>
              <a:t>O</a:t>
            </a:r>
            <a:r>
              <a:rPr lang="en-US" sz="2400" dirty="0" err="1"/>
              <a:t>bject</a:t>
            </a:r>
            <a:r>
              <a:rPr lang="en-US" sz="2400" dirty="0"/>
              <a:t> is a pattern to store and manage the data</a:t>
            </a:r>
          </a:p>
          <a:p>
            <a:pPr lvl="1"/>
            <a:r>
              <a:rPr lang="en-US" sz="2400" dirty="0"/>
              <a:t>property format (key value pair format)</a:t>
            </a:r>
          </a:p>
          <a:p>
            <a:pPr lvl="1"/>
            <a:r>
              <a:rPr lang="en-US" sz="2400" dirty="0"/>
              <a:t>access, insert, update, remove ✔️</a:t>
            </a:r>
          </a:p>
          <a:p>
            <a:pPr lvl="1"/>
            <a:endParaRPr lang="en-US" sz="2400" dirty="0"/>
          </a:p>
          <a:p>
            <a:pPr lvl="1"/>
            <a:endParaRPr lang="en-US" sz="2400" dirty="0"/>
          </a:p>
          <a:p>
            <a:endParaRPr lang="en-IN" dirty="0">
              <a:effectLst/>
              <a:latin typeface="fkGroteskNeue"/>
            </a:endParaRPr>
          </a:p>
          <a:p>
            <a:endParaRPr lang="en-IN" dirty="0"/>
          </a:p>
        </p:txBody>
      </p:sp>
    </p:spTree>
    <p:extLst>
      <p:ext uri="{BB962C8B-B14F-4D97-AF65-F5344CB8AC3E}">
        <p14:creationId xmlns:p14="http://schemas.microsoft.com/office/powerpoint/2010/main" val="14430397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21309-F66B-9F35-A6EF-F63930B71629}"/>
              </a:ext>
            </a:extLst>
          </p:cNvPr>
          <p:cNvSpPr>
            <a:spLocks noGrp="1"/>
          </p:cNvSpPr>
          <p:nvPr>
            <p:ph type="title"/>
          </p:nvPr>
        </p:nvSpPr>
        <p:spPr/>
        <p:txBody>
          <a:bodyPr/>
          <a:lstStyle/>
          <a:p>
            <a:r>
              <a:rPr lang="en-IN" dirty="0" err="1"/>
              <a:t>CallBack</a:t>
            </a:r>
            <a:endParaRPr lang="en-IN" dirty="0"/>
          </a:p>
        </p:txBody>
      </p:sp>
      <p:sp>
        <p:nvSpPr>
          <p:cNvPr id="3" name="Content Placeholder 2">
            <a:extLst>
              <a:ext uri="{FF2B5EF4-FFF2-40B4-BE49-F238E27FC236}">
                <a16:creationId xmlns:a16="http://schemas.microsoft.com/office/drawing/2014/main" id="{29B1658D-1BF0-1904-65B1-D003D7834A19}"/>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53791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49DE5-D3CE-7339-D9D5-A645EA0208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BABA9-B87A-CD10-F53E-0EAFE4D0508D}"/>
              </a:ext>
            </a:extLst>
          </p:cNvPr>
          <p:cNvSpPr>
            <a:spLocks noGrp="1"/>
          </p:cNvSpPr>
          <p:nvPr>
            <p:ph type="title"/>
          </p:nvPr>
        </p:nvSpPr>
        <p:spPr/>
        <p:txBody>
          <a:bodyPr/>
          <a:lstStyle/>
          <a:p>
            <a:r>
              <a:rPr lang="en-IN" dirty="0"/>
              <a:t>Promise</a:t>
            </a:r>
          </a:p>
        </p:txBody>
      </p:sp>
      <p:sp>
        <p:nvSpPr>
          <p:cNvPr id="3" name="Content Placeholder 2">
            <a:extLst>
              <a:ext uri="{FF2B5EF4-FFF2-40B4-BE49-F238E27FC236}">
                <a16:creationId xmlns:a16="http://schemas.microsoft.com/office/drawing/2014/main" id="{81C50B20-2D4C-BEF9-F84B-91C33A2B728F}"/>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506344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AF08B9-3C6C-4E17-3E91-6324A86881D9}"/>
              </a:ext>
            </a:extLst>
          </p:cNvPr>
          <p:cNvSpPr>
            <a:spLocks noGrp="1"/>
          </p:cNvSpPr>
          <p:nvPr>
            <p:ph type="title"/>
          </p:nvPr>
        </p:nvSpPr>
        <p:spPr/>
        <p:txBody>
          <a:bodyPr/>
          <a:lstStyle/>
          <a:p>
            <a:r>
              <a:rPr lang="en-IN" dirty="0" err="1"/>
              <a:t>CallBack</a:t>
            </a:r>
            <a:r>
              <a:rPr lang="en-IN" dirty="0"/>
              <a:t> Hell</a:t>
            </a:r>
          </a:p>
        </p:txBody>
      </p:sp>
      <p:sp>
        <p:nvSpPr>
          <p:cNvPr id="3" name="Content Placeholder 2">
            <a:extLst>
              <a:ext uri="{FF2B5EF4-FFF2-40B4-BE49-F238E27FC236}">
                <a16:creationId xmlns:a16="http://schemas.microsoft.com/office/drawing/2014/main" id="{BE879AF4-9AFA-D4EF-1770-2B1C0E4A71D5}"/>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15290585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B3D0CF-60A2-B7C8-663C-8F705A22951E}"/>
              </a:ext>
            </a:extLst>
          </p:cNvPr>
          <p:cNvSpPr>
            <a:spLocks noGrp="1"/>
          </p:cNvSpPr>
          <p:nvPr>
            <p:ph idx="1"/>
          </p:nvPr>
        </p:nvSpPr>
        <p:spPr/>
        <p:txBody>
          <a:bodyPr/>
          <a:lstStyle/>
          <a:p>
            <a:endParaRPr lang="en-IN"/>
          </a:p>
        </p:txBody>
      </p:sp>
      <p:sp>
        <p:nvSpPr>
          <p:cNvPr id="4" name="Title 3">
            <a:extLst>
              <a:ext uri="{FF2B5EF4-FFF2-40B4-BE49-F238E27FC236}">
                <a16:creationId xmlns:a16="http://schemas.microsoft.com/office/drawing/2014/main" id="{F0D3CD42-E0FE-5F39-906A-6688B6C15031}"/>
              </a:ext>
            </a:extLst>
          </p:cNvPr>
          <p:cNvSpPr txBox="1">
            <a:spLocks noGrp="1"/>
          </p:cNvSpPr>
          <p:nvPr>
            <p:ph type="title"/>
          </p:nvPr>
        </p:nvSpPr>
        <p:spPr>
          <a:xfrm>
            <a:off x="914400" y="873535"/>
            <a:ext cx="10353675" cy="729430"/>
          </a:xfrm>
          <a:prstGeom prst="rect">
            <a:avLst/>
          </a:prstGeom>
          <a:noFill/>
        </p:spPr>
        <p:txBody>
          <a:bodyPr wrap="square">
            <a:spAutoFit/>
          </a:bodyPr>
          <a:lstStyle/>
          <a:p>
            <a:pPr algn="l"/>
            <a:r>
              <a:rPr lang="en-IN" b="0" i="0" dirty="0">
                <a:effectLst/>
                <a:latin typeface="fkGroteskNeue"/>
              </a:rPr>
              <a:t>asynchronous programming</a:t>
            </a:r>
          </a:p>
        </p:txBody>
      </p:sp>
    </p:spTree>
    <p:extLst>
      <p:ext uri="{BB962C8B-B14F-4D97-AF65-F5344CB8AC3E}">
        <p14:creationId xmlns:p14="http://schemas.microsoft.com/office/powerpoint/2010/main" val="35308503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4898FC-C3EF-C392-789F-9CA9F8CEDDBE}"/>
              </a:ext>
            </a:extLst>
          </p:cNvPr>
          <p:cNvSpPr>
            <a:spLocks noGrp="1"/>
          </p:cNvSpPr>
          <p:nvPr>
            <p:ph type="title"/>
          </p:nvPr>
        </p:nvSpPr>
        <p:spPr/>
        <p:txBody>
          <a:bodyPr>
            <a:normAutofit fontScale="90000"/>
          </a:bodyPr>
          <a:lstStyle/>
          <a:p>
            <a:r>
              <a:rPr lang="en-IN" dirty="0">
                <a:effectLst/>
                <a:latin typeface="fkGroteskNeue"/>
              </a:rPr>
              <a:t>JavaScript Engine Architecture</a:t>
            </a:r>
            <a:br>
              <a:rPr lang="en-IN" dirty="0"/>
            </a:br>
            <a:endParaRPr lang="en-IN" dirty="0"/>
          </a:p>
        </p:txBody>
      </p:sp>
      <p:sp>
        <p:nvSpPr>
          <p:cNvPr id="3" name="Content Placeholder 2">
            <a:extLst>
              <a:ext uri="{FF2B5EF4-FFF2-40B4-BE49-F238E27FC236}">
                <a16:creationId xmlns:a16="http://schemas.microsoft.com/office/drawing/2014/main" id="{1D99E571-D3AC-36D7-C1C4-DDB1CD129686}"/>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1243187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9939F3-A1A3-9FD0-812F-12C225642202}"/>
              </a:ext>
            </a:extLst>
          </p:cNvPr>
          <p:cNvSpPr>
            <a:spLocks noGrp="1"/>
          </p:cNvSpPr>
          <p:nvPr>
            <p:ph idx="1"/>
          </p:nvPr>
        </p:nvSpPr>
        <p:spPr/>
        <p:txBody>
          <a:bodyPr/>
          <a:lstStyle/>
          <a:p>
            <a:endParaRPr lang="en-IN"/>
          </a:p>
        </p:txBody>
      </p:sp>
      <p:sp>
        <p:nvSpPr>
          <p:cNvPr id="4" name="Title 3">
            <a:extLst>
              <a:ext uri="{FF2B5EF4-FFF2-40B4-BE49-F238E27FC236}">
                <a16:creationId xmlns:a16="http://schemas.microsoft.com/office/drawing/2014/main" id="{C09ED3BA-F861-1157-167B-15A3A339D069}"/>
              </a:ext>
            </a:extLst>
          </p:cNvPr>
          <p:cNvSpPr txBox="1">
            <a:spLocks noGrp="1"/>
          </p:cNvSpPr>
          <p:nvPr>
            <p:ph type="title"/>
          </p:nvPr>
        </p:nvSpPr>
        <p:spPr>
          <a:xfrm>
            <a:off x="914400" y="873535"/>
            <a:ext cx="10353675" cy="729430"/>
          </a:xfrm>
          <a:prstGeom prst="rect">
            <a:avLst/>
          </a:prstGeom>
          <a:noFill/>
        </p:spPr>
        <p:txBody>
          <a:bodyPr wrap="square">
            <a:spAutoFit/>
          </a:bodyPr>
          <a:lstStyle/>
          <a:p>
            <a:pPr algn="l"/>
            <a:r>
              <a:rPr lang="en-IN" dirty="0"/>
              <a:t>Currying</a:t>
            </a:r>
          </a:p>
        </p:txBody>
      </p:sp>
    </p:spTree>
    <p:extLst>
      <p:ext uri="{BB962C8B-B14F-4D97-AF65-F5344CB8AC3E}">
        <p14:creationId xmlns:p14="http://schemas.microsoft.com/office/powerpoint/2010/main" val="382112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120E1C-0DD7-2657-3688-77AB2D388675}"/>
              </a:ext>
            </a:extLst>
          </p:cNvPr>
          <p:cNvSpPr>
            <a:spLocks noGrp="1"/>
          </p:cNvSpPr>
          <p:nvPr>
            <p:ph type="title"/>
          </p:nvPr>
        </p:nvSpPr>
        <p:spPr/>
        <p:txBody>
          <a:bodyPr>
            <a:normAutofit fontScale="90000"/>
          </a:bodyPr>
          <a:lstStyle/>
          <a:p>
            <a:r>
              <a:rPr lang="en-US" dirty="0">
                <a:effectLst/>
                <a:latin typeface="fkGroteskNeue"/>
              </a:rPr>
              <a:t>COMMON JS MODULE PATTERN</a:t>
            </a:r>
            <a:br>
              <a:rPr lang="en-US" dirty="0">
                <a:effectLst/>
                <a:latin typeface="fkGroteskNeue"/>
              </a:rPr>
            </a:br>
            <a:endParaRPr lang="en-IN" dirty="0"/>
          </a:p>
        </p:txBody>
      </p:sp>
      <p:sp>
        <p:nvSpPr>
          <p:cNvPr id="3" name="Content Placeholder 2">
            <a:extLst>
              <a:ext uri="{FF2B5EF4-FFF2-40B4-BE49-F238E27FC236}">
                <a16:creationId xmlns:a16="http://schemas.microsoft.com/office/drawing/2014/main" id="{DEC9DE98-1EBB-3C7C-2C9C-22E1D830ADF9}"/>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324099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FF7C7-191E-059B-0D22-CE43C649B276}"/>
              </a:ext>
            </a:extLst>
          </p:cNvPr>
          <p:cNvSpPr>
            <a:spLocks noGrp="1"/>
          </p:cNvSpPr>
          <p:nvPr>
            <p:ph type="title"/>
          </p:nvPr>
        </p:nvSpPr>
        <p:spPr/>
        <p:txBody>
          <a:bodyPr/>
          <a:lstStyle/>
          <a:p>
            <a:r>
              <a:rPr lang="en-US" dirty="0">
                <a:effectLst/>
                <a:latin typeface="fkGroteskNeue"/>
              </a:rPr>
              <a:t>Data</a:t>
            </a:r>
            <a:endParaRPr lang="en-IN" dirty="0"/>
          </a:p>
        </p:txBody>
      </p:sp>
      <p:sp>
        <p:nvSpPr>
          <p:cNvPr id="3" name="Content Placeholder 2">
            <a:extLst>
              <a:ext uri="{FF2B5EF4-FFF2-40B4-BE49-F238E27FC236}">
                <a16:creationId xmlns:a16="http://schemas.microsoft.com/office/drawing/2014/main" id="{5F435814-93ED-758A-9956-5CFF1CF3E570}"/>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22329949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E2F8E-8E09-D940-B3D5-2CD5EBCDDBFE}"/>
              </a:ext>
            </a:extLst>
          </p:cNvPr>
          <p:cNvSpPr>
            <a:spLocks noGrp="1"/>
          </p:cNvSpPr>
          <p:nvPr>
            <p:ph type="title"/>
          </p:nvPr>
        </p:nvSpPr>
        <p:spPr>
          <a:xfrm>
            <a:off x="193496" y="98462"/>
            <a:ext cx="10353762" cy="746589"/>
          </a:xfrm>
        </p:spPr>
        <p:txBody>
          <a:bodyPr>
            <a:normAutofit fontScale="90000"/>
          </a:bodyPr>
          <a:lstStyle/>
          <a:p>
            <a:pPr algn="l"/>
            <a:r>
              <a:rPr lang="en-US" sz="3100" dirty="0"/>
              <a:t>How to access data from Request Body of HTTP request</a:t>
            </a:r>
            <a:br>
              <a:rPr lang="en-US" dirty="0"/>
            </a:br>
            <a:endParaRPr lang="en-IN" dirty="0"/>
          </a:p>
        </p:txBody>
      </p:sp>
      <p:sp>
        <p:nvSpPr>
          <p:cNvPr id="3" name="Content Placeholder 2">
            <a:extLst>
              <a:ext uri="{FF2B5EF4-FFF2-40B4-BE49-F238E27FC236}">
                <a16:creationId xmlns:a16="http://schemas.microsoft.com/office/drawing/2014/main" id="{F6B46A0E-B75E-D71A-1EC0-C1E048EBEC62}"/>
              </a:ext>
            </a:extLst>
          </p:cNvPr>
          <p:cNvSpPr>
            <a:spLocks noGrp="1"/>
          </p:cNvSpPr>
          <p:nvPr>
            <p:ph idx="1"/>
          </p:nvPr>
        </p:nvSpPr>
        <p:spPr>
          <a:xfrm>
            <a:off x="246580" y="534256"/>
            <a:ext cx="11945420" cy="6102850"/>
          </a:xfrm>
        </p:spPr>
        <p:txBody>
          <a:bodyPr/>
          <a:lstStyle/>
          <a:p>
            <a:r>
              <a:rPr lang="en-US" sz="2000" dirty="0"/>
              <a:t>The client can send requests to the backend/server, and these requests hold the data</a:t>
            </a:r>
          </a:p>
          <a:p>
            <a:pPr lvl="8"/>
            <a:endParaRPr lang="en-IN" dirty="0"/>
          </a:p>
          <a:p>
            <a:pPr marL="2877600" lvl="8" indent="0">
              <a:buNone/>
            </a:pPr>
            <a:r>
              <a:rPr lang="en-US" sz="2400" dirty="0">
                <a:solidFill>
                  <a:schemeClr val="accent1">
                    <a:lumMod val="40000"/>
                    <a:lumOff val="60000"/>
                  </a:schemeClr>
                </a:solidFill>
                <a:latin typeface="fkGroteskNeue"/>
              </a:rPr>
              <a:t>																																																										</a:t>
            </a:r>
            <a:endParaRPr lang="en-IN" dirty="0"/>
          </a:p>
        </p:txBody>
      </p:sp>
      <p:sp>
        <p:nvSpPr>
          <p:cNvPr id="5" name="Rectangle 4">
            <a:extLst>
              <a:ext uri="{FF2B5EF4-FFF2-40B4-BE49-F238E27FC236}">
                <a16:creationId xmlns:a16="http://schemas.microsoft.com/office/drawing/2014/main" id="{E896B666-6905-9833-4D54-B1E032E36438}"/>
              </a:ext>
            </a:extLst>
          </p:cNvPr>
          <p:cNvSpPr/>
          <p:nvPr/>
        </p:nvSpPr>
        <p:spPr>
          <a:xfrm>
            <a:off x="193496" y="1181532"/>
            <a:ext cx="2681555" cy="101714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t>Client</a:t>
            </a:r>
          </a:p>
        </p:txBody>
      </p:sp>
      <p:sp>
        <p:nvSpPr>
          <p:cNvPr id="6" name="Rectangle 5">
            <a:extLst>
              <a:ext uri="{FF2B5EF4-FFF2-40B4-BE49-F238E27FC236}">
                <a16:creationId xmlns:a16="http://schemas.microsoft.com/office/drawing/2014/main" id="{5426F032-0435-5BEA-3DB3-C12B5F48D618}"/>
              </a:ext>
            </a:extLst>
          </p:cNvPr>
          <p:cNvSpPr/>
          <p:nvPr/>
        </p:nvSpPr>
        <p:spPr>
          <a:xfrm>
            <a:off x="9138863" y="1145568"/>
            <a:ext cx="2455524" cy="101714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Backend/ Server</a:t>
            </a:r>
          </a:p>
        </p:txBody>
      </p:sp>
      <p:sp>
        <p:nvSpPr>
          <p:cNvPr id="7" name="Arrow: Right 6">
            <a:extLst>
              <a:ext uri="{FF2B5EF4-FFF2-40B4-BE49-F238E27FC236}">
                <a16:creationId xmlns:a16="http://schemas.microsoft.com/office/drawing/2014/main" id="{60379764-859C-B593-0EB6-B295035B2162}"/>
              </a:ext>
            </a:extLst>
          </p:cNvPr>
          <p:cNvSpPr/>
          <p:nvPr/>
        </p:nvSpPr>
        <p:spPr>
          <a:xfrm>
            <a:off x="2875051" y="1255159"/>
            <a:ext cx="6340868" cy="74658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latin typeface="fkGroteskNeue"/>
              </a:rPr>
              <a:t>req (Holds data)</a:t>
            </a:r>
            <a:r>
              <a:rPr lang="en-US" dirty="0">
                <a:solidFill>
                  <a:srgbClr val="00B0F0"/>
                </a:solidFill>
                <a:latin typeface="fkGroteskNeue"/>
              </a:rPr>
              <a:t>	</a:t>
            </a:r>
            <a:endParaRPr lang="en-IN" dirty="0"/>
          </a:p>
        </p:txBody>
      </p:sp>
      <p:sp>
        <p:nvSpPr>
          <p:cNvPr id="8" name="Arrow: Down 7">
            <a:extLst>
              <a:ext uri="{FF2B5EF4-FFF2-40B4-BE49-F238E27FC236}">
                <a16:creationId xmlns:a16="http://schemas.microsoft.com/office/drawing/2014/main" id="{70E3FE57-AB57-C60B-8919-3C4546FD01B7}"/>
              </a:ext>
            </a:extLst>
          </p:cNvPr>
          <p:cNvSpPr/>
          <p:nvPr/>
        </p:nvSpPr>
        <p:spPr>
          <a:xfrm>
            <a:off x="4822860" y="1870754"/>
            <a:ext cx="2455524" cy="261991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Path</a:t>
            </a:r>
          </a:p>
          <a:p>
            <a:pPr algn="ctr"/>
            <a:r>
              <a:rPr lang="en-IN" dirty="0"/>
              <a:t>Params</a:t>
            </a:r>
            <a:br>
              <a:rPr lang="en-IN" dirty="0"/>
            </a:br>
            <a:r>
              <a:rPr lang="en-IN" dirty="0">
                <a:solidFill>
                  <a:srgbClr val="C00000"/>
                </a:solidFill>
              </a:rPr>
              <a:t>(</a:t>
            </a:r>
            <a:r>
              <a:rPr lang="en-IN" sz="2000" dirty="0">
                <a:solidFill>
                  <a:schemeClr val="accent3">
                    <a:lumMod val="50000"/>
                  </a:schemeClr>
                </a:solidFill>
                <a:latin typeface="fkGroteskNeue"/>
              </a:rPr>
              <a:t>GET, PUT,</a:t>
            </a:r>
          </a:p>
          <a:p>
            <a:pPr algn="ctr"/>
            <a:r>
              <a:rPr lang="en-IN" sz="2000" dirty="0">
                <a:solidFill>
                  <a:schemeClr val="accent3">
                    <a:lumMod val="50000"/>
                  </a:schemeClr>
                </a:solidFill>
                <a:latin typeface="fkGroteskNeue"/>
              </a:rPr>
              <a:t>DELETE</a:t>
            </a:r>
            <a:r>
              <a:rPr lang="en-IN" sz="2000" dirty="0">
                <a:solidFill>
                  <a:srgbClr val="C00000"/>
                </a:solidFill>
                <a:latin typeface="fkGroteskNeue"/>
              </a:rPr>
              <a:t>)</a:t>
            </a:r>
          </a:p>
        </p:txBody>
      </p:sp>
      <p:sp>
        <p:nvSpPr>
          <p:cNvPr id="10" name="Arrow: Left 9">
            <a:extLst>
              <a:ext uri="{FF2B5EF4-FFF2-40B4-BE49-F238E27FC236}">
                <a16:creationId xmlns:a16="http://schemas.microsoft.com/office/drawing/2014/main" id="{3903F0BD-074C-AC00-9BB1-FAB49AE5846D}"/>
              </a:ext>
            </a:extLst>
          </p:cNvPr>
          <p:cNvSpPr/>
          <p:nvPr/>
        </p:nvSpPr>
        <p:spPr>
          <a:xfrm>
            <a:off x="865598" y="2718372"/>
            <a:ext cx="3957262" cy="2190107"/>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rgbClr val="C00000"/>
                </a:solidFill>
                <a:latin typeface="fkGroteskNeue"/>
              </a:rPr>
              <a:t>Request Body(</a:t>
            </a:r>
            <a:r>
              <a:rPr lang="en-US" sz="2000" dirty="0">
                <a:solidFill>
                  <a:schemeClr val="accent3">
                    <a:lumMod val="50000"/>
                  </a:schemeClr>
                </a:solidFill>
                <a:latin typeface="fkGroteskNeue"/>
              </a:rPr>
              <a:t>Post &amp; Put</a:t>
            </a:r>
            <a:r>
              <a:rPr lang="en-US" sz="2000" dirty="0">
                <a:solidFill>
                  <a:srgbClr val="C00000"/>
                </a:solidFill>
                <a:latin typeface="fkGroteskNeue"/>
              </a:rPr>
              <a:t>)</a:t>
            </a:r>
            <a:endParaRPr lang="en-IN" sz="2000" dirty="0">
              <a:solidFill>
                <a:srgbClr val="C00000"/>
              </a:solidFill>
            </a:endParaRPr>
          </a:p>
        </p:txBody>
      </p:sp>
      <p:sp>
        <p:nvSpPr>
          <p:cNvPr id="15" name="Arrow: Right 14">
            <a:extLst>
              <a:ext uri="{FF2B5EF4-FFF2-40B4-BE49-F238E27FC236}">
                <a16:creationId xmlns:a16="http://schemas.microsoft.com/office/drawing/2014/main" id="{EEB4B8D0-A699-F9F7-6AC2-7EF38F530E9B}"/>
              </a:ext>
            </a:extLst>
          </p:cNvPr>
          <p:cNvSpPr/>
          <p:nvPr/>
        </p:nvSpPr>
        <p:spPr>
          <a:xfrm>
            <a:off x="7134546" y="2671709"/>
            <a:ext cx="4382784" cy="22834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Query Param</a:t>
            </a:r>
            <a:r>
              <a:rPr lang="en-IN" dirty="0">
                <a:solidFill>
                  <a:srgbClr val="C00000"/>
                </a:solidFill>
              </a:rPr>
              <a:t>(</a:t>
            </a:r>
            <a:r>
              <a:rPr lang="en-IN" dirty="0">
                <a:solidFill>
                  <a:schemeClr val="accent3">
                    <a:lumMod val="50000"/>
                  </a:schemeClr>
                </a:solidFill>
                <a:latin typeface="fkGroteskNeue"/>
              </a:rPr>
              <a:t>GET, PUT,DELETE</a:t>
            </a:r>
            <a:r>
              <a:rPr lang="en-IN" dirty="0">
                <a:solidFill>
                  <a:srgbClr val="C00000"/>
                </a:solidFill>
                <a:latin typeface="fkGroteskNeue"/>
              </a:rPr>
              <a:t>)</a:t>
            </a:r>
          </a:p>
          <a:p>
            <a:pPr algn="ctr"/>
            <a:endParaRPr lang="en-IN" dirty="0"/>
          </a:p>
        </p:txBody>
      </p:sp>
    </p:spTree>
    <p:extLst>
      <p:ext uri="{BB962C8B-B14F-4D97-AF65-F5344CB8AC3E}">
        <p14:creationId xmlns:p14="http://schemas.microsoft.com/office/powerpoint/2010/main" val="3754872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C9D5A9-1098-6A87-E762-9ADB8F6A3313}"/>
              </a:ext>
            </a:extLst>
          </p:cNvPr>
          <p:cNvSpPr>
            <a:spLocks noGrp="1"/>
          </p:cNvSpPr>
          <p:nvPr>
            <p:ph type="body" sz="half" idx="2"/>
          </p:nvPr>
        </p:nvSpPr>
        <p:spPr>
          <a:xfrm>
            <a:off x="0" y="0"/>
            <a:ext cx="12192000" cy="6858000"/>
          </a:xfrm>
        </p:spPr>
        <p:txBody>
          <a:bodyPr>
            <a:normAutofit fontScale="85000" lnSpcReduction="10000"/>
          </a:bodyPr>
          <a:lstStyle/>
          <a:p>
            <a:pPr algn="l"/>
            <a:r>
              <a:rPr lang="en-IN" sz="1700" dirty="0">
                <a:solidFill>
                  <a:srgbClr val="92D050"/>
                </a:solidFill>
              </a:rPr>
              <a:t>What is HTTP?</a:t>
            </a:r>
            <a:br>
              <a:rPr lang="en-IN" sz="1700" dirty="0">
                <a:solidFill>
                  <a:srgbClr val="92D050"/>
                </a:solidFill>
              </a:rPr>
            </a:br>
            <a:r>
              <a:rPr lang="en-IN" sz="1700" dirty="0">
                <a:solidFill>
                  <a:srgbClr val="92D050"/>
                </a:solidFill>
              </a:rPr>
              <a:t>	</a:t>
            </a:r>
            <a:r>
              <a:rPr lang="en-US" sz="1700" dirty="0">
                <a:solidFill>
                  <a:schemeClr val="accent6">
                    <a:lumMod val="60000"/>
                    <a:lumOff val="40000"/>
                  </a:schemeClr>
                </a:solidFill>
              </a:rPr>
              <a:t>Using this module we can create Http Server.</a:t>
            </a:r>
            <a:br>
              <a:rPr lang="en-US" sz="1700" dirty="0">
                <a:solidFill>
                  <a:schemeClr val="accent6">
                    <a:lumMod val="60000"/>
                    <a:lumOff val="40000"/>
                  </a:schemeClr>
                </a:solidFill>
              </a:rPr>
            </a:br>
            <a:r>
              <a:rPr lang="en-US" sz="1700" dirty="0">
                <a:solidFill>
                  <a:schemeClr val="accent6">
                    <a:lumMod val="60000"/>
                    <a:lumOff val="40000"/>
                  </a:schemeClr>
                </a:solidFill>
              </a:rPr>
              <a:t>	Http Server is a software program which manages Http request and Http response.</a:t>
            </a:r>
            <a:br>
              <a:rPr lang="en-US" sz="1700" dirty="0">
                <a:solidFill>
                  <a:schemeClr val="accent6">
                    <a:lumMod val="60000"/>
                    <a:lumOff val="40000"/>
                  </a:schemeClr>
                </a:solidFill>
              </a:rPr>
            </a:br>
            <a:br>
              <a:rPr lang="en-US" sz="1700" dirty="0">
                <a:solidFill>
                  <a:schemeClr val="accent6">
                    <a:lumMod val="60000"/>
                    <a:lumOff val="40000"/>
                  </a:schemeClr>
                </a:solidFill>
              </a:rPr>
            </a:br>
            <a:r>
              <a:rPr lang="en-US" sz="1700" dirty="0">
                <a:solidFill>
                  <a:srgbClr val="92D050"/>
                </a:solidFill>
              </a:rPr>
              <a:t>How to </a:t>
            </a:r>
            <a:r>
              <a:rPr lang="en-IN" sz="1700" dirty="0">
                <a:solidFill>
                  <a:srgbClr val="92D050"/>
                </a:solidFill>
              </a:rPr>
              <a:t>Create Http Server/Backend</a:t>
            </a:r>
          </a:p>
          <a:p>
            <a:pPr algn="l"/>
            <a:r>
              <a:rPr lang="en-IN" sz="1700" dirty="0">
                <a:solidFill>
                  <a:schemeClr val="accent6">
                    <a:lumMod val="60000"/>
                    <a:lumOff val="40000"/>
                  </a:schemeClr>
                </a:solidFill>
              </a:rPr>
              <a:t>Create a </a:t>
            </a:r>
            <a:r>
              <a:rPr lang="en-IN" sz="1700" dirty="0" err="1">
                <a:solidFill>
                  <a:schemeClr val="accent6">
                    <a:lumMod val="60000"/>
                    <a:lumOff val="40000"/>
                  </a:schemeClr>
                </a:solidFill>
              </a:rPr>
              <a:t>js</a:t>
            </a:r>
            <a:r>
              <a:rPr lang="en-IN" sz="1700" dirty="0">
                <a:solidFill>
                  <a:schemeClr val="accent6">
                    <a:lumMod val="60000"/>
                    <a:lumOff val="40000"/>
                  </a:schemeClr>
                </a:solidFill>
              </a:rPr>
              <a:t> file</a:t>
            </a:r>
          </a:p>
          <a:p>
            <a:pPr algn="l"/>
            <a:r>
              <a:rPr lang="en-IN" sz="1700" dirty="0">
                <a:solidFill>
                  <a:schemeClr val="accent5">
                    <a:lumMod val="40000"/>
                    <a:lumOff val="60000"/>
                  </a:schemeClr>
                </a:solidFill>
                <a:latin typeface="fkGroteskNeue"/>
              </a:rPr>
              <a:t>Server.js</a:t>
            </a:r>
          </a:p>
          <a:p>
            <a:pPr algn="l"/>
            <a:r>
              <a:rPr lang="en-IN" sz="1700" dirty="0">
                <a:solidFill>
                  <a:schemeClr val="accent6">
                    <a:lumMod val="60000"/>
                    <a:lumOff val="40000"/>
                  </a:schemeClr>
                </a:solidFill>
              </a:rPr>
              <a:t> Import Http Module</a:t>
            </a:r>
          </a:p>
          <a:p>
            <a:pPr algn="l"/>
            <a:r>
              <a:rPr lang="en-US" sz="1700" b="1" dirty="0">
                <a:solidFill>
                  <a:srgbClr val="92D050"/>
                </a:solidFill>
                <a:latin typeface="fkGroteskNeue"/>
              </a:rPr>
              <a:t>// Importing the http module from Node.js</a:t>
            </a:r>
          </a:p>
          <a:p>
            <a:pPr algn="l"/>
            <a:r>
              <a:rPr lang="fr-FR" dirty="0">
                <a:effectLst/>
              </a:rPr>
              <a:t>const http = </a:t>
            </a:r>
            <a:r>
              <a:rPr lang="fr-FR" dirty="0" err="1">
                <a:effectLst/>
              </a:rPr>
              <a:t>require</a:t>
            </a:r>
            <a:r>
              <a:rPr lang="fr-FR" dirty="0">
                <a:effectLst/>
              </a:rPr>
              <a:t>("http");</a:t>
            </a:r>
          </a:p>
          <a:p>
            <a:pPr algn="l"/>
            <a:r>
              <a:rPr lang="fr-FR" dirty="0">
                <a:effectLst/>
              </a:rPr>
              <a:t>const PORT = 3000;</a:t>
            </a:r>
          </a:p>
          <a:p>
            <a:pPr algn="l"/>
            <a:r>
              <a:rPr lang="en-US" sz="1700" b="1" dirty="0">
                <a:solidFill>
                  <a:srgbClr val="92D050"/>
                </a:solidFill>
                <a:latin typeface="fkGroteskNeue"/>
              </a:rPr>
              <a:t>// The 'http' module returns an object that allows us to call the </a:t>
            </a:r>
            <a:r>
              <a:rPr lang="en-US" sz="1700" b="1" dirty="0" err="1">
                <a:solidFill>
                  <a:srgbClr val="92D050"/>
                </a:solidFill>
                <a:latin typeface="fkGroteskNeue"/>
              </a:rPr>
              <a:t>createServer</a:t>
            </a:r>
            <a:r>
              <a:rPr lang="en-US" sz="1700" b="1" dirty="0">
                <a:solidFill>
                  <a:srgbClr val="92D050"/>
                </a:solidFill>
                <a:latin typeface="fkGroteskNeue"/>
              </a:rPr>
              <a:t>() function, It creates an HTTP server that can handle requests with a callback function (req, res).</a:t>
            </a:r>
          </a:p>
          <a:p>
            <a:pPr algn="l"/>
            <a:r>
              <a:rPr lang="en-IN" sz="1700" dirty="0">
                <a:solidFill>
                  <a:schemeClr val="accent6">
                    <a:lumMod val="60000"/>
                    <a:lumOff val="40000"/>
                  </a:schemeClr>
                </a:solidFill>
              </a:rPr>
              <a:t>Use </a:t>
            </a:r>
            <a:r>
              <a:rPr lang="en-IN" sz="1700" dirty="0" err="1">
                <a:solidFill>
                  <a:schemeClr val="accent6">
                    <a:lumMod val="60000"/>
                    <a:lumOff val="40000"/>
                  </a:schemeClr>
                </a:solidFill>
              </a:rPr>
              <a:t>createServer</a:t>
            </a:r>
            <a:r>
              <a:rPr lang="en-IN" sz="1700" dirty="0">
                <a:solidFill>
                  <a:schemeClr val="accent6">
                    <a:lumMod val="60000"/>
                    <a:lumOff val="40000"/>
                  </a:schemeClr>
                </a:solidFill>
              </a:rPr>
              <a:t>() to create Http Server.</a:t>
            </a:r>
            <a:endParaRPr lang="en-US" sz="1700" b="1" dirty="0">
              <a:solidFill>
                <a:srgbClr val="92D050"/>
              </a:solidFill>
              <a:latin typeface="fkGroteskNeue"/>
            </a:endParaRPr>
          </a:p>
          <a:p>
            <a:pPr algn="l"/>
            <a:r>
              <a:rPr lang="en-US" sz="1700" dirty="0">
                <a:solidFill>
                  <a:schemeClr val="accent5">
                    <a:lumMod val="40000"/>
                    <a:lumOff val="60000"/>
                  </a:schemeClr>
                </a:solidFill>
                <a:latin typeface="fkGroteskNeue"/>
              </a:rPr>
              <a:t>const server = </a:t>
            </a:r>
            <a:r>
              <a:rPr lang="en-US" sz="1700" dirty="0" err="1">
                <a:solidFill>
                  <a:schemeClr val="accent5">
                    <a:lumMod val="40000"/>
                    <a:lumOff val="60000"/>
                  </a:schemeClr>
                </a:solidFill>
                <a:latin typeface="fkGroteskNeue"/>
              </a:rPr>
              <a:t>http.createServer</a:t>
            </a:r>
            <a:r>
              <a:rPr lang="en-US" sz="1700" dirty="0">
                <a:solidFill>
                  <a:schemeClr val="accent5">
                    <a:lumMod val="40000"/>
                    <a:lumOff val="60000"/>
                  </a:schemeClr>
                </a:solidFill>
                <a:latin typeface="fkGroteskNeue"/>
              </a:rPr>
              <a:t>((req, res) =&gt; {</a:t>
            </a:r>
          </a:p>
          <a:p>
            <a:pPr algn="l"/>
            <a:r>
              <a:rPr lang="en-US" sz="1700" dirty="0" err="1">
                <a:solidFill>
                  <a:schemeClr val="accent5">
                    <a:lumMod val="40000"/>
                    <a:lumOff val="60000"/>
                  </a:schemeClr>
                </a:solidFill>
                <a:latin typeface="fkGroteskNeue"/>
              </a:rPr>
              <a:t>res.end</a:t>
            </a:r>
            <a:r>
              <a:rPr lang="en-US" sz="1700" dirty="0">
                <a:solidFill>
                  <a:schemeClr val="accent5">
                    <a:lumMod val="40000"/>
                    <a:lumOff val="60000"/>
                  </a:schemeClr>
                </a:solidFill>
                <a:latin typeface="fkGroteskNeue"/>
              </a:rPr>
              <a:t>("Hello, World!");</a:t>
            </a:r>
          </a:p>
          <a:p>
            <a:pPr algn="l"/>
            <a:r>
              <a:rPr lang="en-US" sz="1700" dirty="0">
                <a:solidFill>
                  <a:schemeClr val="accent6">
                    <a:lumMod val="60000"/>
                    <a:lumOff val="40000"/>
                  </a:schemeClr>
                </a:solidFill>
                <a:latin typeface="fkGroteskNeue"/>
              </a:rPr>
              <a:t>});</a:t>
            </a:r>
            <a:endParaRPr lang="en-US" sz="1700" dirty="0">
              <a:solidFill>
                <a:srgbClr val="002060"/>
              </a:solidFill>
              <a:latin typeface="fkGroteskNeue"/>
            </a:endParaRPr>
          </a:p>
          <a:p>
            <a:pPr marL="36900" algn="l"/>
            <a:r>
              <a:rPr lang="en-US" sz="1700" b="1" dirty="0">
                <a:solidFill>
                  <a:srgbClr val="92D050"/>
                </a:solidFill>
                <a:latin typeface="fkGroteskNeue"/>
              </a:rPr>
              <a:t>// The server object has a listen() function that takes two parameters: port and callback.</a:t>
            </a:r>
          </a:p>
          <a:p>
            <a:pPr marL="36900" algn="l"/>
            <a:r>
              <a:rPr lang="en-US" sz="1700" dirty="0" err="1">
                <a:solidFill>
                  <a:schemeClr val="accent6">
                    <a:lumMod val="60000"/>
                    <a:lumOff val="40000"/>
                  </a:schemeClr>
                </a:solidFill>
                <a:latin typeface="fkGroteskNeue"/>
              </a:rPr>
              <a:t>server.listen</a:t>
            </a:r>
            <a:r>
              <a:rPr lang="en-US" sz="1700" dirty="0">
                <a:solidFill>
                  <a:schemeClr val="accent6">
                    <a:lumMod val="60000"/>
                    <a:lumOff val="40000"/>
                  </a:schemeClr>
                </a:solidFill>
                <a:latin typeface="fkGroteskNeue"/>
              </a:rPr>
              <a:t>(PORT, () =&gt; {</a:t>
            </a:r>
          </a:p>
          <a:p>
            <a:pPr marL="36900" algn="l"/>
            <a:r>
              <a:rPr lang="en-US" sz="1700" dirty="0">
                <a:solidFill>
                  <a:schemeClr val="accent6">
                    <a:lumMod val="60000"/>
                    <a:lumOff val="40000"/>
                  </a:schemeClr>
                </a:solidFill>
                <a:latin typeface="fkGroteskNeue"/>
              </a:rPr>
              <a:t>  console.log("Server started on port “, PORT);</a:t>
            </a:r>
          </a:p>
          <a:p>
            <a:pPr marL="36900" algn="l"/>
            <a:r>
              <a:rPr lang="en-US" sz="1700" dirty="0">
                <a:solidFill>
                  <a:schemeClr val="accent6">
                    <a:lumMod val="60000"/>
                    <a:lumOff val="40000"/>
                  </a:schemeClr>
                </a:solidFill>
                <a:latin typeface="fkGroteskNeue"/>
              </a:rPr>
              <a:t>});</a:t>
            </a:r>
            <a:endParaRPr lang="en-US" sz="1700" dirty="0">
              <a:solidFill>
                <a:schemeClr val="accent5">
                  <a:lumMod val="40000"/>
                  <a:lumOff val="60000"/>
                </a:schemeClr>
              </a:solidFill>
              <a:latin typeface="fkGroteskNeue"/>
            </a:endParaRPr>
          </a:p>
          <a:p>
            <a:pPr marL="36900" algn="l"/>
            <a:r>
              <a:rPr lang="en-US" sz="1700" dirty="0">
                <a:solidFill>
                  <a:schemeClr val="accent6">
                    <a:lumMod val="60000"/>
                    <a:lumOff val="40000"/>
                  </a:schemeClr>
                </a:solidFill>
                <a:latin typeface="fkGroteskNeue"/>
              </a:rPr>
              <a:t>});</a:t>
            </a:r>
            <a:endParaRPr lang="en-US" sz="1700" dirty="0">
              <a:solidFill>
                <a:srgbClr val="002060"/>
              </a:solidFill>
              <a:latin typeface="fkGroteskNeue"/>
            </a:endParaRPr>
          </a:p>
          <a:p>
            <a:pPr algn="l"/>
            <a:endParaRPr lang="en-IN" dirty="0">
              <a:solidFill>
                <a:schemeClr val="accent6">
                  <a:lumMod val="60000"/>
                  <a:lumOff val="40000"/>
                </a:schemeClr>
              </a:solidFill>
            </a:endParaRPr>
          </a:p>
          <a:p>
            <a:pPr algn="l"/>
            <a:endParaRPr lang="en-IN" dirty="0">
              <a:solidFill>
                <a:schemeClr val="accent6">
                  <a:lumMod val="60000"/>
                  <a:lumOff val="40000"/>
                </a:schemeClr>
              </a:solidFill>
            </a:endParaRPr>
          </a:p>
          <a:p>
            <a:pPr algn="l"/>
            <a:endParaRPr lang="en-IN" dirty="0"/>
          </a:p>
          <a:p>
            <a:endParaRPr lang="en-IN" dirty="0"/>
          </a:p>
        </p:txBody>
      </p:sp>
    </p:spTree>
    <p:extLst>
      <p:ext uri="{BB962C8B-B14F-4D97-AF65-F5344CB8AC3E}">
        <p14:creationId xmlns:p14="http://schemas.microsoft.com/office/powerpoint/2010/main" val="22773628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460FC-A95E-D9A3-D150-5C2BB0F93C34}"/>
              </a:ext>
            </a:extLst>
          </p:cNvPr>
          <p:cNvSpPr>
            <a:spLocks noGrp="1"/>
          </p:cNvSpPr>
          <p:nvPr>
            <p:ph type="title"/>
          </p:nvPr>
        </p:nvSpPr>
        <p:spPr>
          <a:xfrm>
            <a:off x="0" y="0"/>
            <a:ext cx="10353762" cy="970450"/>
          </a:xfrm>
        </p:spPr>
        <p:txBody>
          <a:bodyPr>
            <a:normAutofit/>
          </a:bodyPr>
          <a:lstStyle/>
          <a:p>
            <a:r>
              <a:rPr lang="en-IN" sz="2000" dirty="0">
                <a:solidFill>
                  <a:schemeClr val="accent6">
                    <a:lumMod val="60000"/>
                    <a:lumOff val="40000"/>
                  </a:schemeClr>
                </a:solidFill>
              </a:rPr>
              <a:t>Letz create a html file and read that content and display in server.</a:t>
            </a:r>
            <a:br>
              <a:rPr lang="en-IN" sz="2000" dirty="0">
                <a:solidFill>
                  <a:schemeClr val="accent6">
                    <a:lumMod val="60000"/>
                    <a:lumOff val="40000"/>
                  </a:schemeClr>
                </a:solidFill>
              </a:rPr>
            </a:br>
            <a:endParaRPr lang="en-IN" sz="2000" dirty="0"/>
          </a:p>
        </p:txBody>
      </p:sp>
      <p:sp>
        <p:nvSpPr>
          <p:cNvPr id="3" name="Text Placeholder 2">
            <a:extLst>
              <a:ext uri="{FF2B5EF4-FFF2-40B4-BE49-F238E27FC236}">
                <a16:creationId xmlns:a16="http://schemas.microsoft.com/office/drawing/2014/main" id="{E9C6CDAF-A3F8-8495-D24F-26D53B652BB7}"/>
              </a:ext>
            </a:extLst>
          </p:cNvPr>
          <p:cNvSpPr>
            <a:spLocks noGrp="1"/>
          </p:cNvSpPr>
          <p:nvPr>
            <p:ph type="body" idx="1"/>
          </p:nvPr>
        </p:nvSpPr>
        <p:spPr>
          <a:xfrm>
            <a:off x="790504" y="688370"/>
            <a:ext cx="4850007" cy="678094"/>
          </a:xfrm>
        </p:spPr>
        <p:txBody>
          <a:bodyPr/>
          <a:lstStyle/>
          <a:p>
            <a:r>
              <a:rPr lang="en-IN" dirty="0"/>
              <a:t>In app.js</a:t>
            </a:r>
          </a:p>
        </p:txBody>
      </p:sp>
      <p:sp>
        <p:nvSpPr>
          <p:cNvPr id="4" name="Text Placeholder 3">
            <a:extLst>
              <a:ext uri="{FF2B5EF4-FFF2-40B4-BE49-F238E27FC236}">
                <a16:creationId xmlns:a16="http://schemas.microsoft.com/office/drawing/2014/main" id="{F3499DB8-D547-9023-B55E-1DF58A10FA1E}"/>
              </a:ext>
            </a:extLst>
          </p:cNvPr>
          <p:cNvSpPr>
            <a:spLocks noGrp="1"/>
          </p:cNvSpPr>
          <p:nvPr>
            <p:ph type="body" sz="half" idx="15"/>
          </p:nvPr>
        </p:nvSpPr>
        <p:spPr>
          <a:xfrm>
            <a:off x="790504" y="1366464"/>
            <a:ext cx="4973297" cy="5322012"/>
          </a:xfrm>
        </p:spPr>
        <p:txBody>
          <a:bodyPr>
            <a:normAutofit/>
          </a:bodyPr>
          <a:lstStyle/>
          <a:p>
            <a:pPr algn="l"/>
            <a:r>
              <a:rPr lang="en-IN" dirty="0">
                <a:effectLst/>
              </a:rPr>
              <a:t>const { </a:t>
            </a:r>
            <a:r>
              <a:rPr lang="en-IN" dirty="0" err="1">
                <a:effectLst/>
              </a:rPr>
              <a:t>createServer</a:t>
            </a:r>
            <a:r>
              <a:rPr lang="en-IN" dirty="0">
                <a:effectLst/>
              </a:rPr>
              <a:t> } = require("http");</a:t>
            </a:r>
          </a:p>
          <a:p>
            <a:pPr algn="l"/>
            <a:r>
              <a:rPr lang="en-IN" dirty="0">
                <a:effectLst/>
              </a:rPr>
              <a:t>const { </a:t>
            </a:r>
            <a:r>
              <a:rPr lang="en-IN" dirty="0" err="1">
                <a:effectLst/>
              </a:rPr>
              <a:t>readFile</a:t>
            </a:r>
            <a:r>
              <a:rPr lang="en-IN" dirty="0">
                <a:effectLst/>
              </a:rPr>
              <a:t> } = require("fs");</a:t>
            </a:r>
          </a:p>
          <a:p>
            <a:pPr algn="l"/>
            <a:r>
              <a:rPr lang="en-IN" dirty="0">
                <a:solidFill>
                  <a:srgbClr val="92D050"/>
                </a:solidFill>
                <a:effectLst/>
              </a:rPr>
              <a:t>//import fs module to read content</a:t>
            </a:r>
          </a:p>
          <a:p>
            <a:pPr algn="l"/>
            <a:r>
              <a:rPr lang="en-IN" dirty="0">
                <a:effectLst/>
              </a:rPr>
              <a:t>const server = </a:t>
            </a:r>
            <a:r>
              <a:rPr lang="en-IN" dirty="0" err="1">
                <a:effectLst/>
              </a:rPr>
              <a:t>createServer</a:t>
            </a:r>
            <a:r>
              <a:rPr lang="en-IN" dirty="0">
                <a:effectLst/>
              </a:rPr>
              <a:t>((</a:t>
            </a:r>
            <a:r>
              <a:rPr lang="en-IN" dirty="0" err="1">
                <a:effectLst/>
              </a:rPr>
              <a:t>req,res</a:t>
            </a:r>
            <a:r>
              <a:rPr lang="en-IN" dirty="0">
                <a:effectLst/>
              </a:rPr>
              <a:t>)=&gt;</a:t>
            </a:r>
          </a:p>
          <a:p>
            <a:pPr algn="l"/>
            <a:r>
              <a:rPr lang="en-IN" dirty="0" err="1">
                <a:effectLst/>
              </a:rPr>
              <a:t>readFile</a:t>
            </a:r>
            <a:r>
              <a:rPr lang="en-IN" dirty="0">
                <a:effectLst/>
              </a:rPr>
              <a:t>("home.html","utf-8",(</a:t>
            </a:r>
            <a:r>
              <a:rPr lang="en-IN" dirty="0" err="1">
                <a:effectLst/>
              </a:rPr>
              <a:t>error,data</a:t>
            </a:r>
            <a:r>
              <a:rPr lang="en-IN" dirty="0">
                <a:effectLst/>
              </a:rPr>
              <a:t>)=&gt;{</a:t>
            </a:r>
          </a:p>
          <a:p>
            <a:pPr algn="l"/>
            <a:r>
              <a:rPr lang="en-IN" dirty="0">
                <a:effectLst/>
              </a:rPr>
              <a:t>    if(error) {</a:t>
            </a:r>
          </a:p>
          <a:p>
            <a:pPr algn="l"/>
            <a:r>
              <a:rPr lang="en-IN" dirty="0">
                <a:effectLst/>
              </a:rPr>
              <a:t>        </a:t>
            </a:r>
            <a:r>
              <a:rPr lang="en-IN" dirty="0" err="1">
                <a:effectLst/>
              </a:rPr>
              <a:t>res.end</a:t>
            </a:r>
            <a:r>
              <a:rPr lang="en-IN" dirty="0">
                <a:effectLst/>
              </a:rPr>
              <a:t>("Error: " + </a:t>
            </a:r>
            <a:r>
              <a:rPr lang="en-IN" dirty="0" err="1">
                <a:effectLst/>
              </a:rPr>
              <a:t>error.message</a:t>
            </a:r>
            <a:r>
              <a:rPr lang="en-IN" dirty="0">
                <a:effectLst/>
              </a:rPr>
              <a:t>);</a:t>
            </a:r>
          </a:p>
          <a:p>
            <a:pPr algn="l"/>
            <a:r>
              <a:rPr lang="en-IN" dirty="0">
                <a:effectLst/>
              </a:rPr>
              <a:t>    }else {</a:t>
            </a:r>
          </a:p>
          <a:p>
            <a:pPr algn="l"/>
            <a:r>
              <a:rPr lang="en-IN" dirty="0">
                <a:effectLst/>
              </a:rPr>
              <a:t>        </a:t>
            </a:r>
            <a:r>
              <a:rPr lang="en-IN" dirty="0" err="1">
                <a:effectLst/>
              </a:rPr>
              <a:t>res.end</a:t>
            </a:r>
            <a:r>
              <a:rPr lang="en-IN" dirty="0">
                <a:effectLst/>
              </a:rPr>
              <a:t>(data)</a:t>
            </a:r>
          </a:p>
          <a:p>
            <a:pPr algn="l"/>
            <a:r>
              <a:rPr lang="en-IN" dirty="0">
                <a:effectLst/>
              </a:rPr>
              <a:t>    }</a:t>
            </a:r>
          </a:p>
          <a:p>
            <a:pPr algn="l"/>
            <a:r>
              <a:rPr lang="en-IN" dirty="0">
                <a:effectLst/>
              </a:rPr>
              <a:t>})</a:t>
            </a:r>
          </a:p>
          <a:p>
            <a:pPr algn="l"/>
            <a:r>
              <a:rPr lang="en-IN" dirty="0">
                <a:effectLst/>
              </a:rPr>
              <a:t>);</a:t>
            </a:r>
          </a:p>
          <a:p>
            <a:pPr algn="l"/>
            <a:r>
              <a:rPr lang="en-IN" dirty="0" err="1">
                <a:effectLst/>
              </a:rPr>
              <a:t>server.listen</a:t>
            </a:r>
            <a:r>
              <a:rPr lang="en-IN" dirty="0">
                <a:effectLst/>
              </a:rPr>
              <a:t>(5000,()=&gt;{</a:t>
            </a:r>
          </a:p>
          <a:p>
            <a:pPr algn="l"/>
            <a:r>
              <a:rPr lang="en-IN" dirty="0">
                <a:effectLst/>
              </a:rPr>
              <a:t>    console.log("started in 5000")</a:t>
            </a:r>
          </a:p>
          <a:p>
            <a:pPr algn="l"/>
            <a:r>
              <a:rPr lang="en-IN" dirty="0">
                <a:effectLst/>
              </a:rPr>
              <a:t>})</a:t>
            </a:r>
          </a:p>
        </p:txBody>
      </p:sp>
      <p:sp>
        <p:nvSpPr>
          <p:cNvPr id="5" name="Text Placeholder 4">
            <a:extLst>
              <a:ext uri="{FF2B5EF4-FFF2-40B4-BE49-F238E27FC236}">
                <a16:creationId xmlns:a16="http://schemas.microsoft.com/office/drawing/2014/main" id="{D1B2D2E9-9EEF-9AF6-818F-966B669B253A}"/>
              </a:ext>
            </a:extLst>
          </p:cNvPr>
          <p:cNvSpPr>
            <a:spLocks noGrp="1"/>
          </p:cNvSpPr>
          <p:nvPr>
            <p:ph type="body" sz="quarter" idx="3"/>
          </p:nvPr>
        </p:nvSpPr>
        <p:spPr>
          <a:xfrm>
            <a:off x="6145309" y="688369"/>
            <a:ext cx="5332286" cy="678095"/>
          </a:xfrm>
        </p:spPr>
        <p:txBody>
          <a:bodyPr/>
          <a:lstStyle/>
          <a:p>
            <a:r>
              <a:rPr lang="en-IN" dirty="0"/>
              <a:t>In home.html</a:t>
            </a:r>
          </a:p>
        </p:txBody>
      </p:sp>
      <p:sp>
        <p:nvSpPr>
          <p:cNvPr id="6" name="Text Placeholder 5">
            <a:extLst>
              <a:ext uri="{FF2B5EF4-FFF2-40B4-BE49-F238E27FC236}">
                <a16:creationId xmlns:a16="http://schemas.microsoft.com/office/drawing/2014/main" id="{2478D98A-6E60-3BAC-AF24-E1197298F281}"/>
              </a:ext>
            </a:extLst>
          </p:cNvPr>
          <p:cNvSpPr>
            <a:spLocks noGrp="1"/>
          </p:cNvSpPr>
          <p:nvPr>
            <p:ph type="body" sz="half" idx="16"/>
          </p:nvPr>
        </p:nvSpPr>
        <p:spPr>
          <a:xfrm>
            <a:off x="5979561" y="1366465"/>
            <a:ext cx="5744616" cy="5188448"/>
          </a:xfrm>
        </p:spPr>
        <p:txBody>
          <a:bodyPr/>
          <a:lstStyle/>
          <a:p>
            <a:pPr algn="l"/>
            <a:r>
              <a:rPr lang="en-IN" dirty="0">
                <a:effectLst/>
              </a:rPr>
              <a:t>&lt;!DOCTYPE html&gt;</a:t>
            </a:r>
          </a:p>
          <a:p>
            <a:pPr algn="l"/>
            <a:r>
              <a:rPr lang="en-IN" dirty="0">
                <a:effectLst/>
              </a:rPr>
              <a:t>&lt;html&gt;</a:t>
            </a:r>
          </a:p>
          <a:p>
            <a:pPr algn="l"/>
            <a:r>
              <a:rPr lang="en-IN" dirty="0">
                <a:effectLst/>
              </a:rPr>
              <a:t>&lt;head&gt;</a:t>
            </a:r>
          </a:p>
          <a:p>
            <a:pPr algn="l"/>
            <a:r>
              <a:rPr lang="en-IN" dirty="0">
                <a:effectLst/>
              </a:rPr>
              <a:t>    &lt;title&gt;Document&lt;/title&gt;</a:t>
            </a:r>
          </a:p>
          <a:p>
            <a:pPr algn="l"/>
            <a:r>
              <a:rPr lang="en-IN" dirty="0">
                <a:effectLst/>
              </a:rPr>
              <a:t>&lt;/head&gt;</a:t>
            </a:r>
          </a:p>
          <a:p>
            <a:pPr algn="l"/>
            <a:r>
              <a:rPr lang="en-IN" dirty="0">
                <a:effectLst/>
              </a:rPr>
              <a:t>&lt;body&gt;</a:t>
            </a:r>
          </a:p>
          <a:p>
            <a:pPr algn="l"/>
            <a:r>
              <a:rPr lang="en-IN" dirty="0">
                <a:effectLst/>
              </a:rPr>
              <a:t>    &lt;h1&gt;hi&lt;/h1&gt;</a:t>
            </a:r>
          </a:p>
          <a:p>
            <a:pPr algn="l"/>
            <a:r>
              <a:rPr lang="en-IN" dirty="0">
                <a:effectLst/>
              </a:rPr>
              <a:t>    &lt;p&gt;Lorem ipsum </a:t>
            </a:r>
            <a:r>
              <a:rPr lang="en-IN" dirty="0" err="1">
                <a:effectLst/>
              </a:rPr>
              <a:t>dolor</a:t>
            </a:r>
            <a:r>
              <a:rPr lang="en-IN" dirty="0">
                <a:effectLst/>
              </a:rPr>
              <a:t>&lt;/p&gt;</a:t>
            </a:r>
          </a:p>
          <a:p>
            <a:pPr algn="l"/>
            <a:r>
              <a:rPr lang="en-IN" dirty="0">
                <a:effectLst/>
              </a:rPr>
              <a:t>    &lt;p&gt;Delete&lt;/p&gt;</a:t>
            </a:r>
          </a:p>
          <a:p>
            <a:pPr algn="l"/>
            <a:r>
              <a:rPr lang="en-IN" dirty="0">
                <a:effectLst/>
              </a:rPr>
              <a:t>&lt;/body&gt;</a:t>
            </a:r>
          </a:p>
          <a:p>
            <a:pPr algn="l"/>
            <a:r>
              <a:rPr lang="en-IN" dirty="0">
                <a:effectLst/>
              </a:rPr>
              <a:t>&lt;/html&gt;</a:t>
            </a:r>
          </a:p>
          <a:p>
            <a:pPr algn="l"/>
            <a:endParaRPr lang="en-IN" dirty="0"/>
          </a:p>
        </p:txBody>
      </p:sp>
    </p:spTree>
    <p:extLst>
      <p:ext uri="{BB962C8B-B14F-4D97-AF65-F5344CB8AC3E}">
        <p14:creationId xmlns:p14="http://schemas.microsoft.com/office/powerpoint/2010/main" val="9980307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423B502E-F3CD-1693-8741-321AEFB0F471}"/>
              </a:ext>
            </a:extLst>
          </p:cNvPr>
          <p:cNvSpPr>
            <a:spLocks noGrp="1"/>
          </p:cNvSpPr>
          <p:nvPr>
            <p:ph type="body" sz="half" idx="2"/>
          </p:nvPr>
        </p:nvSpPr>
        <p:spPr>
          <a:xfrm>
            <a:off x="0" y="-1"/>
            <a:ext cx="12192000" cy="6729573"/>
          </a:xfrm>
        </p:spPr>
        <p:txBody>
          <a:bodyPr anchor="t">
            <a:normAutofit fontScale="77500" lnSpcReduction="20000"/>
          </a:bodyPr>
          <a:lstStyle/>
          <a:p>
            <a:pPr algn="l"/>
            <a:r>
              <a:rPr lang="en-US" sz="2500" dirty="0"/>
              <a:t>How to access the data at backend if the data coming in request body.</a:t>
            </a:r>
            <a:endParaRPr lang="en-IN" sz="2500" dirty="0"/>
          </a:p>
          <a:p>
            <a:pPr algn="l"/>
            <a:r>
              <a:rPr lang="en-IN" sz="2400" dirty="0"/>
              <a:t>If any data coming from the client as a request body in that case node JS internally trigger an event called data.</a:t>
            </a:r>
          </a:p>
          <a:p>
            <a:pPr algn="l"/>
            <a:r>
              <a:rPr lang="en-IN" sz="2400" dirty="0"/>
              <a:t>We have to listen to that event and access the data.</a:t>
            </a:r>
          </a:p>
          <a:p>
            <a:pPr algn="l"/>
            <a:r>
              <a:rPr lang="en-IN" sz="2400" dirty="0">
                <a:solidFill>
                  <a:srgbClr val="00B0F0"/>
                </a:solidFill>
              </a:rPr>
              <a:t>How to listen Events in Nodejs</a:t>
            </a:r>
          </a:p>
          <a:p>
            <a:pPr algn="l"/>
            <a:r>
              <a:rPr lang="en-IN" sz="2400" dirty="0">
                <a:solidFill>
                  <a:srgbClr val="00B0F0"/>
                </a:solidFill>
              </a:rPr>
              <a:t>	</a:t>
            </a:r>
            <a:r>
              <a:rPr lang="en-US" sz="2400" dirty="0"/>
              <a:t> We have multiple ways to listen to events in Node.js.</a:t>
            </a:r>
            <a:br>
              <a:rPr lang="en-US" sz="2400" dirty="0"/>
            </a:br>
            <a:r>
              <a:rPr lang="en-US" sz="2400" dirty="0"/>
              <a:t>		One of the ways is by using the req object, which provides access to the on() function.</a:t>
            </a:r>
          </a:p>
          <a:p>
            <a:pPr algn="l"/>
            <a:r>
              <a:rPr lang="en-US" sz="2400" dirty="0"/>
              <a:t>	The on() function takes two arguments:</a:t>
            </a:r>
          </a:p>
          <a:p>
            <a:pPr algn="l"/>
            <a:r>
              <a:rPr lang="en-US" sz="2400" b="1" dirty="0"/>
              <a:t>				eventName</a:t>
            </a:r>
            <a:r>
              <a:rPr lang="en-US" sz="2400" dirty="0"/>
              <a:t> – the name of the event we want to listen to.</a:t>
            </a:r>
          </a:p>
          <a:p>
            <a:pPr algn="l"/>
            <a:r>
              <a:rPr lang="en-US" sz="2400" b="1" dirty="0"/>
              <a:t>				callback function</a:t>
            </a:r>
            <a:r>
              <a:rPr lang="en-US" sz="2400" dirty="0"/>
              <a:t> – also called the event handler, which takes one parameter.</a:t>
            </a:r>
          </a:p>
          <a:p>
            <a:r>
              <a:rPr lang="en-US" sz="2400" dirty="0"/>
              <a:t>Whenever we call on() and configure the event, the callback function will be executed automatically when that event is triggered. Internally, Node.js copies the data coming from the request body into the parameter of the callback function.</a:t>
            </a:r>
          </a:p>
          <a:p>
            <a:r>
              <a:rPr lang="en-US" sz="2400" b="1" dirty="0">
                <a:solidFill>
                  <a:srgbClr val="F8BCF1"/>
                </a:solidFill>
              </a:rPr>
              <a:t>Note: Whenever the request body receives data, the event gets triggered, and the callback function will execute each time new data is received. This means the callback may be called multiple times depending on how the data is sent in chunks.</a:t>
            </a:r>
          </a:p>
          <a:p>
            <a:pPr algn="l"/>
            <a:r>
              <a:rPr lang="en-US" sz="2000" dirty="0"/>
              <a:t>	</a:t>
            </a:r>
          </a:p>
          <a:p>
            <a:pPr algn="l"/>
            <a:r>
              <a:rPr lang="en-US" sz="2000" dirty="0">
                <a:solidFill>
                  <a:srgbClr val="F8BCF1"/>
                </a:solidFill>
              </a:rPr>
              <a:t>req.on</a:t>
            </a:r>
            <a:r>
              <a:rPr lang="en-US" sz="2000" dirty="0"/>
              <a:t>(</a:t>
            </a:r>
            <a:r>
              <a:rPr lang="en-US" sz="2000" dirty="0">
                <a:solidFill>
                  <a:schemeClr val="accent1">
                    <a:lumMod val="60000"/>
                    <a:lumOff val="40000"/>
                  </a:schemeClr>
                </a:solidFill>
              </a:rPr>
              <a:t>eventName</a:t>
            </a:r>
            <a:r>
              <a:rPr lang="en-US" sz="2000" dirty="0"/>
              <a:t>,</a:t>
            </a:r>
            <a:r>
              <a:rPr lang="en-US" sz="2000" dirty="0">
                <a:solidFill>
                  <a:srgbClr val="FFFF00"/>
                </a:solidFill>
              </a:rPr>
              <a:t>(dataOfEvent)=&gt;{</a:t>
            </a:r>
          </a:p>
          <a:p>
            <a:pPr algn="l"/>
            <a:endParaRPr lang="en-US" sz="2000" dirty="0">
              <a:solidFill>
                <a:srgbClr val="FFFF00"/>
              </a:solidFill>
            </a:endParaRPr>
          </a:p>
          <a:p>
            <a:pPr algn="l"/>
            <a:r>
              <a:rPr lang="en-US" sz="2000" dirty="0">
                <a:solidFill>
                  <a:srgbClr val="FFFF00"/>
                </a:solidFill>
              </a:rPr>
              <a:t> }</a:t>
            </a:r>
          </a:p>
          <a:p>
            <a:pPr algn="l"/>
            <a:endParaRPr lang="en-IN" sz="1800" dirty="0"/>
          </a:p>
        </p:txBody>
      </p:sp>
      <p:sp>
        <p:nvSpPr>
          <p:cNvPr id="4" name="Rectangle 3">
            <a:extLst>
              <a:ext uri="{FF2B5EF4-FFF2-40B4-BE49-F238E27FC236}">
                <a16:creationId xmlns:a16="http://schemas.microsoft.com/office/drawing/2014/main" id="{A2378347-2EEF-E96D-8009-AC435CC71384}"/>
              </a:ext>
            </a:extLst>
          </p:cNvPr>
          <p:cNvSpPr/>
          <p:nvPr/>
        </p:nvSpPr>
        <p:spPr>
          <a:xfrm>
            <a:off x="3503488" y="5424754"/>
            <a:ext cx="4777484" cy="1433245"/>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IN" dirty="0"/>
              <a:t>Copied data will store in Hexadecimal format</a:t>
            </a:r>
          </a:p>
          <a:p>
            <a:pPr algn="ctr"/>
            <a:br>
              <a:rPr lang="en-IN" dirty="0"/>
            </a:br>
            <a:r>
              <a:rPr lang="en-IN" b="1" dirty="0">
                <a:solidFill>
                  <a:srgbClr val="F8BCF1"/>
                </a:solidFill>
              </a:rPr>
              <a:t>so we need to convert as JSON format</a:t>
            </a:r>
          </a:p>
        </p:txBody>
      </p:sp>
      <p:sp>
        <p:nvSpPr>
          <p:cNvPr id="5" name="Arrow: Curved Down 4">
            <a:extLst>
              <a:ext uri="{FF2B5EF4-FFF2-40B4-BE49-F238E27FC236}">
                <a16:creationId xmlns:a16="http://schemas.microsoft.com/office/drawing/2014/main" id="{6E8CE051-99D9-26DD-4D64-EAF9AD6BE05E}"/>
              </a:ext>
            </a:extLst>
          </p:cNvPr>
          <p:cNvSpPr/>
          <p:nvPr/>
        </p:nvSpPr>
        <p:spPr>
          <a:xfrm>
            <a:off x="2137024" y="4741522"/>
            <a:ext cx="2301411" cy="554805"/>
          </a:xfrm>
          <a:prstGeom prst="curvedDown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IN">
              <a:solidFill>
                <a:schemeClr val="tx1"/>
              </a:solidFill>
            </a:endParaRPr>
          </a:p>
        </p:txBody>
      </p:sp>
    </p:spTree>
    <p:extLst>
      <p:ext uri="{BB962C8B-B14F-4D97-AF65-F5344CB8AC3E}">
        <p14:creationId xmlns:p14="http://schemas.microsoft.com/office/powerpoint/2010/main" val="25978575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9117E-2582-E603-4EAA-5EB1A91D28A2}"/>
              </a:ext>
            </a:extLst>
          </p:cNvPr>
          <p:cNvSpPr>
            <a:spLocks noGrp="1"/>
          </p:cNvSpPr>
          <p:nvPr>
            <p:ph type="title"/>
          </p:nvPr>
        </p:nvSpPr>
        <p:spPr>
          <a:xfrm>
            <a:off x="92466" y="82194"/>
            <a:ext cx="11175091" cy="503434"/>
          </a:xfrm>
        </p:spPr>
        <p:txBody>
          <a:bodyPr anchor="t">
            <a:normAutofit fontScale="90000"/>
          </a:bodyPr>
          <a:lstStyle/>
          <a:p>
            <a:pPr algn="l"/>
            <a:r>
              <a:rPr lang="en-IN" sz="2400" dirty="0">
                <a:solidFill>
                  <a:srgbClr val="92D050"/>
                </a:solidFill>
              </a:rPr>
              <a:t>Manage and Create Http Request</a:t>
            </a:r>
            <a:br>
              <a:rPr lang="en-IN" sz="2400" dirty="0">
                <a:solidFill>
                  <a:srgbClr val="92D050"/>
                </a:solidFill>
              </a:rPr>
            </a:br>
            <a:r>
              <a:rPr lang="en-IN" sz="2400" dirty="0">
                <a:solidFill>
                  <a:srgbClr val="92D050"/>
                </a:solidFill>
              </a:rPr>
              <a:t>Manage and Create Http Response</a:t>
            </a:r>
            <a:br>
              <a:rPr lang="en-IN" sz="2400" dirty="0">
                <a:solidFill>
                  <a:srgbClr val="92D050"/>
                </a:solidFill>
              </a:rPr>
            </a:br>
            <a:br>
              <a:rPr lang="en-IN" sz="4800" dirty="0">
                <a:solidFill>
                  <a:srgbClr val="92D050"/>
                </a:solidFill>
              </a:rPr>
            </a:br>
            <a:r>
              <a:rPr lang="en-IN" sz="4800" dirty="0">
                <a:solidFill>
                  <a:srgbClr val="92D050"/>
                </a:solidFill>
              </a:rPr>
              <a:t>	</a:t>
            </a:r>
            <a:endParaRPr lang="en-IN" dirty="0"/>
          </a:p>
        </p:txBody>
      </p:sp>
      <p:sp>
        <p:nvSpPr>
          <p:cNvPr id="3" name="Text Placeholder 2">
            <a:extLst>
              <a:ext uri="{FF2B5EF4-FFF2-40B4-BE49-F238E27FC236}">
                <a16:creationId xmlns:a16="http://schemas.microsoft.com/office/drawing/2014/main" id="{B0950A21-43F1-2A2F-4E78-73DD62C8F9C0}"/>
              </a:ext>
            </a:extLst>
          </p:cNvPr>
          <p:cNvSpPr>
            <a:spLocks noGrp="1"/>
          </p:cNvSpPr>
          <p:nvPr>
            <p:ph type="body" idx="1"/>
          </p:nvPr>
        </p:nvSpPr>
        <p:spPr>
          <a:xfrm>
            <a:off x="819981" y="832489"/>
            <a:ext cx="4990795" cy="692494"/>
          </a:xfrm>
        </p:spPr>
        <p:txBody>
          <a:bodyPr/>
          <a:lstStyle/>
          <a:p>
            <a:r>
              <a:rPr lang="en-IN" dirty="0">
                <a:solidFill>
                  <a:srgbClr val="92D050"/>
                </a:solidFill>
              </a:rPr>
              <a:t> </a:t>
            </a:r>
          </a:p>
          <a:p>
            <a:r>
              <a:rPr lang="en-IN" b="1" dirty="0">
                <a:solidFill>
                  <a:srgbClr val="F8BCF1"/>
                </a:solidFill>
              </a:rPr>
              <a:t>Http request</a:t>
            </a:r>
          </a:p>
        </p:txBody>
      </p:sp>
      <p:sp>
        <p:nvSpPr>
          <p:cNvPr id="4" name="Content Placeholder 3">
            <a:extLst>
              <a:ext uri="{FF2B5EF4-FFF2-40B4-BE49-F238E27FC236}">
                <a16:creationId xmlns:a16="http://schemas.microsoft.com/office/drawing/2014/main" id="{04B2230E-BF0A-6832-0430-CD9B491129A6}"/>
              </a:ext>
            </a:extLst>
          </p:cNvPr>
          <p:cNvSpPr>
            <a:spLocks noGrp="1"/>
          </p:cNvSpPr>
          <p:nvPr>
            <p:ph sz="half" idx="2"/>
          </p:nvPr>
        </p:nvSpPr>
        <p:spPr>
          <a:xfrm>
            <a:off x="819981" y="1532466"/>
            <a:ext cx="5097934" cy="5125188"/>
          </a:xfrm>
        </p:spPr>
        <p:txBody>
          <a:bodyPr/>
          <a:lstStyle/>
          <a:p>
            <a:pPr marL="36900" indent="0">
              <a:buNone/>
            </a:pPr>
            <a:r>
              <a:rPr lang="en-IN" dirty="0">
                <a:solidFill>
                  <a:srgbClr val="FFFF00"/>
                </a:solidFill>
              </a:rPr>
              <a:t>	</a:t>
            </a:r>
            <a:r>
              <a:rPr lang="en-IN" dirty="0"/>
              <a:t>It is a structure or format of a data sent from client app</a:t>
            </a:r>
            <a:r>
              <a:rPr lang="en-IN" dirty="0">
                <a:solidFill>
                  <a:schemeClr val="accent6">
                    <a:lumMod val="60000"/>
                    <a:lumOff val="40000"/>
                  </a:schemeClr>
                </a:solidFill>
              </a:rPr>
              <a:t>(frontend) </a:t>
            </a:r>
            <a:r>
              <a:rPr lang="en-IN" dirty="0"/>
              <a:t>to Server</a:t>
            </a:r>
            <a:r>
              <a:rPr lang="en-IN" dirty="0">
                <a:solidFill>
                  <a:schemeClr val="accent6">
                    <a:lumMod val="60000"/>
                    <a:lumOff val="40000"/>
                  </a:schemeClr>
                </a:solidFill>
              </a:rPr>
              <a:t>(backend) </a:t>
            </a:r>
            <a:r>
              <a:rPr lang="en-IN" dirty="0"/>
              <a:t>app</a:t>
            </a:r>
          </a:p>
          <a:p>
            <a:pPr marL="36900" indent="0">
              <a:buNone/>
            </a:pPr>
            <a:r>
              <a:rPr lang="en-IN" dirty="0"/>
              <a:t>The data should contain below details</a:t>
            </a:r>
          </a:p>
          <a:p>
            <a:pPr lvl="1"/>
            <a:r>
              <a:rPr lang="en-IN" dirty="0"/>
              <a:t>Method: what action we are expecting from the server. (action information)</a:t>
            </a:r>
          </a:p>
          <a:p>
            <a:pPr lvl="1"/>
            <a:r>
              <a:rPr lang="en-IN" dirty="0"/>
              <a:t>url: which resources should access.</a:t>
            </a:r>
          </a:p>
          <a:p>
            <a:pPr lvl="1"/>
            <a:r>
              <a:rPr lang="en-IN" dirty="0"/>
              <a:t>Headers: metadata – inform server which data we are sending. (token)</a:t>
            </a:r>
          </a:p>
          <a:p>
            <a:pPr lvl="1"/>
            <a:r>
              <a:rPr lang="en-IN" dirty="0"/>
              <a:t>Body: actual data in the form of body.</a:t>
            </a:r>
          </a:p>
          <a:p>
            <a:endParaRPr lang="en-IN" dirty="0"/>
          </a:p>
        </p:txBody>
      </p:sp>
      <p:sp>
        <p:nvSpPr>
          <p:cNvPr id="5" name="Text Placeholder 4">
            <a:extLst>
              <a:ext uri="{FF2B5EF4-FFF2-40B4-BE49-F238E27FC236}">
                <a16:creationId xmlns:a16="http://schemas.microsoft.com/office/drawing/2014/main" id="{71938CC5-8A4F-AA49-6AA5-BF860A7E135E}"/>
              </a:ext>
            </a:extLst>
          </p:cNvPr>
          <p:cNvSpPr>
            <a:spLocks noGrp="1"/>
          </p:cNvSpPr>
          <p:nvPr>
            <p:ph type="body" sz="quarter" idx="3"/>
          </p:nvPr>
        </p:nvSpPr>
        <p:spPr>
          <a:xfrm>
            <a:off x="6096000" y="839971"/>
            <a:ext cx="4779582" cy="692495"/>
          </a:xfrm>
        </p:spPr>
        <p:txBody>
          <a:bodyPr/>
          <a:lstStyle/>
          <a:p>
            <a:r>
              <a:rPr lang="en-IN" b="1" dirty="0">
                <a:solidFill>
                  <a:srgbClr val="F8BCF1"/>
                </a:solidFill>
              </a:rPr>
              <a:t>Http Response</a:t>
            </a:r>
          </a:p>
        </p:txBody>
      </p:sp>
      <p:sp>
        <p:nvSpPr>
          <p:cNvPr id="6" name="Content Placeholder 5">
            <a:extLst>
              <a:ext uri="{FF2B5EF4-FFF2-40B4-BE49-F238E27FC236}">
                <a16:creationId xmlns:a16="http://schemas.microsoft.com/office/drawing/2014/main" id="{DB85A0D2-C4C2-2509-842D-B11A088435D6}"/>
              </a:ext>
            </a:extLst>
          </p:cNvPr>
          <p:cNvSpPr>
            <a:spLocks noGrp="1"/>
          </p:cNvSpPr>
          <p:nvPr>
            <p:ph sz="quarter" idx="4"/>
          </p:nvPr>
        </p:nvSpPr>
        <p:spPr>
          <a:xfrm>
            <a:off x="6151953" y="1532465"/>
            <a:ext cx="5220066" cy="5125188"/>
          </a:xfrm>
        </p:spPr>
        <p:txBody>
          <a:bodyPr/>
          <a:lstStyle/>
          <a:p>
            <a:r>
              <a:rPr lang="en-IN" dirty="0">
                <a:solidFill>
                  <a:srgbClr val="92D050"/>
                </a:solidFill>
              </a:rPr>
              <a:t>	</a:t>
            </a:r>
            <a:r>
              <a:rPr lang="en-IN" dirty="0"/>
              <a:t>It is a structure or format of a data sent from Server</a:t>
            </a:r>
            <a:r>
              <a:rPr lang="en-IN" dirty="0">
                <a:solidFill>
                  <a:schemeClr val="accent6">
                    <a:lumMod val="60000"/>
                    <a:lumOff val="40000"/>
                  </a:schemeClr>
                </a:solidFill>
              </a:rPr>
              <a:t>(backend)</a:t>
            </a:r>
            <a:r>
              <a:rPr lang="en-IN" dirty="0"/>
              <a:t> to client app</a:t>
            </a:r>
            <a:r>
              <a:rPr lang="en-IN" dirty="0">
                <a:solidFill>
                  <a:schemeClr val="accent6">
                    <a:lumMod val="60000"/>
                    <a:lumOff val="40000"/>
                  </a:schemeClr>
                </a:solidFill>
              </a:rPr>
              <a:t>(frontend) </a:t>
            </a:r>
            <a:r>
              <a:rPr lang="en-IN" dirty="0"/>
              <a:t>app.</a:t>
            </a:r>
          </a:p>
          <a:p>
            <a:r>
              <a:rPr lang="en-IN" dirty="0"/>
              <a:t>Process the http request and send the response back to client.</a:t>
            </a:r>
          </a:p>
        </p:txBody>
      </p:sp>
    </p:spTree>
    <p:extLst>
      <p:ext uri="{BB962C8B-B14F-4D97-AF65-F5344CB8AC3E}">
        <p14:creationId xmlns:p14="http://schemas.microsoft.com/office/powerpoint/2010/main" val="25348484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lowchart: Process 2">
            <a:extLst>
              <a:ext uri="{FF2B5EF4-FFF2-40B4-BE49-F238E27FC236}">
                <a16:creationId xmlns:a16="http://schemas.microsoft.com/office/drawing/2014/main" id="{909753F3-5E0B-EA09-FD83-53CC16C4A25C}"/>
              </a:ext>
            </a:extLst>
          </p:cNvPr>
          <p:cNvSpPr/>
          <p:nvPr/>
        </p:nvSpPr>
        <p:spPr>
          <a:xfrm>
            <a:off x="570216" y="431514"/>
            <a:ext cx="2404153" cy="1849349"/>
          </a:xfrm>
          <a:prstGeom prst="flowChartProcess">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IN" dirty="0"/>
              <a:t>Post Man /</a:t>
            </a:r>
            <a:br>
              <a:rPr lang="en-IN" dirty="0"/>
            </a:br>
            <a:br>
              <a:rPr lang="en-IN" dirty="0"/>
            </a:br>
            <a:r>
              <a:rPr lang="en-IN" dirty="0"/>
              <a:t>client</a:t>
            </a:r>
          </a:p>
        </p:txBody>
      </p:sp>
      <p:sp>
        <p:nvSpPr>
          <p:cNvPr id="4" name="Flowchart: Process 3">
            <a:extLst>
              <a:ext uri="{FF2B5EF4-FFF2-40B4-BE49-F238E27FC236}">
                <a16:creationId xmlns:a16="http://schemas.microsoft.com/office/drawing/2014/main" id="{7CFE758C-B29D-37BA-CD98-7A09346B597E}"/>
              </a:ext>
            </a:extLst>
          </p:cNvPr>
          <p:cNvSpPr/>
          <p:nvPr/>
        </p:nvSpPr>
        <p:spPr>
          <a:xfrm>
            <a:off x="6224428" y="575353"/>
            <a:ext cx="2404153" cy="1849349"/>
          </a:xfrm>
          <a:prstGeom prst="flowChartProcess">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IN" dirty="0"/>
              <a:t>http server</a:t>
            </a:r>
          </a:p>
        </p:txBody>
      </p:sp>
      <p:sp>
        <p:nvSpPr>
          <p:cNvPr id="5" name="Flowchart: Process 4">
            <a:extLst>
              <a:ext uri="{FF2B5EF4-FFF2-40B4-BE49-F238E27FC236}">
                <a16:creationId xmlns:a16="http://schemas.microsoft.com/office/drawing/2014/main" id="{F45BB575-5B7E-7E81-161A-7DC17F19B85B}"/>
              </a:ext>
            </a:extLst>
          </p:cNvPr>
          <p:cNvSpPr/>
          <p:nvPr/>
        </p:nvSpPr>
        <p:spPr>
          <a:xfrm>
            <a:off x="8887147" y="65070"/>
            <a:ext cx="2280862" cy="1316804"/>
          </a:xfrm>
          <a:prstGeom prst="flowChartProcess">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IN" dirty="0"/>
              <a:t>http server will triggers the callback function</a:t>
            </a:r>
          </a:p>
        </p:txBody>
      </p:sp>
      <p:sp>
        <p:nvSpPr>
          <p:cNvPr id="6" name="Arrow: Right 5">
            <a:extLst>
              <a:ext uri="{FF2B5EF4-FFF2-40B4-BE49-F238E27FC236}">
                <a16:creationId xmlns:a16="http://schemas.microsoft.com/office/drawing/2014/main" id="{BE6AFE11-3DB9-B0FC-D9E2-DB48BA2BA5D2}"/>
              </a:ext>
            </a:extLst>
          </p:cNvPr>
          <p:cNvSpPr/>
          <p:nvPr/>
        </p:nvSpPr>
        <p:spPr>
          <a:xfrm>
            <a:off x="3005191" y="739739"/>
            <a:ext cx="3219237" cy="1284271"/>
          </a:xfrm>
          <a:prstGeom prst="rightArrow">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IN" dirty="0">
                <a:solidFill>
                  <a:srgbClr val="C00000"/>
                </a:solidFill>
              </a:rPr>
              <a:t>Send request to http server</a:t>
            </a:r>
          </a:p>
        </p:txBody>
      </p:sp>
      <p:sp>
        <p:nvSpPr>
          <p:cNvPr id="11" name="Arrow: Left-Up 10">
            <a:extLst>
              <a:ext uri="{FF2B5EF4-FFF2-40B4-BE49-F238E27FC236}">
                <a16:creationId xmlns:a16="http://schemas.microsoft.com/office/drawing/2014/main" id="{429B5E37-77FA-6C30-AECA-5629DB2E942B}"/>
              </a:ext>
            </a:extLst>
          </p:cNvPr>
          <p:cNvSpPr/>
          <p:nvPr/>
        </p:nvSpPr>
        <p:spPr>
          <a:xfrm>
            <a:off x="2038563" y="1340777"/>
            <a:ext cx="9129446" cy="3092521"/>
          </a:xfrm>
          <a:prstGeom prst="lef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From this call back the response will be sent back to client</a:t>
            </a:r>
          </a:p>
        </p:txBody>
      </p:sp>
      <p:sp>
        <p:nvSpPr>
          <p:cNvPr id="12" name="Arrow: Curved Down 11">
            <a:extLst>
              <a:ext uri="{FF2B5EF4-FFF2-40B4-BE49-F238E27FC236}">
                <a16:creationId xmlns:a16="http://schemas.microsoft.com/office/drawing/2014/main" id="{C463BBEA-6733-E8EA-703C-942C9381AFDD}"/>
              </a:ext>
            </a:extLst>
          </p:cNvPr>
          <p:cNvSpPr/>
          <p:nvPr/>
        </p:nvSpPr>
        <p:spPr>
          <a:xfrm>
            <a:off x="7150813" y="65070"/>
            <a:ext cx="1869897" cy="510283"/>
          </a:xfrm>
          <a:prstGeom prst="curvedDown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IN">
              <a:solidFill>
                <a:schemeClr val="tx1"/>
              </a:solidFill>
            </a:endParaRPr>
          </a:p>
        </p:txBody>
      </p:sp>
      <p:sp>
        <p:nvSpPr>
          <p:cNvPr id="7" name="Rectangle 6">
            <a:extLst>
              <a:ext uri="{FF2B5EF4-FFF2-40B4-BE49-F238E27FC236}">
                <a16:creationId xmlns:a16="http://schemas.microsoft.com/office/drawing/2014/main" id="{CEA3B1D5-042F-C2E3-9D02-041A9070EC6D}"/>
              </a:ext>
            </a:extLst>
          </p:cNvPr>
          <p:cNvSpPr/>
          <p:nvPr/>
        </p:nvSpPr>
        <p:spPr>
          <a:xfrm>
            <a:off x="1037690" y="4839128"/>
            <a:ext cx="7027523" cy="18493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rgbClr val="F8BCF1"/>
                </a:solidFill>
              </a:rPr>
              <a:t>HTTP SERVER:</a:t>
            </a:r>
          </a:p>
          <a:p>
            <a:pPr marL="342900" indent="-342900" algn="ctr">
              <a:buAutoNum type="arabicPeriod"/>
            </a:pPr>
            <a:r>
              <a:rPr lang="en-IN" dirty="0"/>
              <a:t>Receive the request</a:t>
            </a:r>
          </a:p>
          <a:p>
            <a:pPr marL="342900" indent="-342900" algn="ctr">
              <a:buAutoNum type="arabicPeriod"/>
            </a:pPr>
            <a:r>
              <a:rPr lang="en-IN" dirty="0"/>
              <a:t>Process the request</a:t>
            </a:r>
          </a:p>
          <a:p>
            <a:pPr marL="342900" indent="-342900" algn="ctr">
              <a:buAutoNum type="arabicPeriod"/>
            </a:pPr>
            <a:r>
              <a:rPr lang="en-IN" dirty="0"/>
              <a:t>Send response back to Client</a:t>
            </a:r>
          </a:p>
        </p:txBody>
      </p:sp>
    </p:spTree>
    <p:extLst>
      <p:ext uri="{BB962C8B-B14F-4D97-AF65-F5344CB8AC3E}">
        <p14:creationId xmlns:p14="http://schemas.microsoft.com/office/powerpoint/2010/main" val="6566218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430DD5-FA4D-6255-BD55-2F1094D6406D}"/>
              </a:ext>
            </a:extLst>
          </p:cNvPr>
          <p:cNvPicPr>
            <a:picLocks noChangeAspect="1"/>
          </p:cNvPicPr>
          <p:nvPr/>
        </p:nvPicPr>
        <p:blipFill>
          <a:blip r:embed="rId2"/>
          <a:stretch>
            <a:fillRect/>
          </a:stretch>
        </p:blipFill>
        <p:spPr>
          <a:xfrm>
            <a:off x="0" y="0"/>
            <a:ext cx="8426883" cy="3010055"/>
          </a:xfrm>
          <a:prstGeom prst="rect">
            <a:avLst/>
          </a:prstGeom>
        </p:spPr>
      </p:pic>
      <p:pic>
        <p:nvPicPr>
          <p:cNvPr id="5" name="Picture 4">
            <a:extLst>
              <a:ext uri="{FF2B5EF4-FFF2-40B4-BE49-F238E27FC236}">
                <a16:creationId xmlns:a16="http://schemas.microsoft.com/office/drawing/2014/main" id="{DA5655CB-D9D0-4065-59D4-F9EC73773094}"/>
              </a:ext>
            </a:extLst>
          </p:cNvPr>
          <p:cNvPicPr>
            <a:picLocks noChangeAspect="1"/>
          </p:cNvPicPr>
          <p:nvPr/>
        </p:nvPicPr>
        <p:blipFill>
          <a:blip r:embed="rId3"/>
          <a:stretch>
            <a:fillRect/>
          </a:stretch>
        </p:blipFill>
        <p:spPr>
          <a:xfrm>
            <a:off x="4125653" y="1771129"/>
            <a:ext cx="7988711" cy="4959605"/>
          </a:xfrm>
          <a:prstGeom prst="rect">
            <a:avLst/>
          </a:prstGeom>
        </p:spPr>
      </p:pic>
    </p:spTree>
    <p:extLst>
      <p:ext uri="{BB962C8B-B14F-4D97-AF65-F5344CB8AC3E}">
        <p14:creationId xmlns:p14="http://schemas.microsoft.com/office/powerpoint/2010/main" val="11967769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VTI">
  <a:themeElements>
    <a:clrScheme name="Blue Green">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Arial Nova">
      <a:majorFont>
        <a:latin typeface="Arial Nova Light"/>
        <a:ea typeface=""/>
        <a:cs typeface=""/>
      </a:majorFont>
      <a:minorFont>
        <a:latin typeface="Arial Nova"/>
        <a:ea typeface=""/>
        <a:cs typeface=""/>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VTI" id="{35C4A07C-0176-4A32-9BCB-B016516853F0}" vid="{9B70D35C-BCA8-4715-BB49-8BE54A7FC07C}"/>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CB38EC-895A-4F8F-8F75-E263501ABB5A}">
  <ds:schemaRefs>
    <ds:schemaRef ds:uri="http://schemas.microsoft.com/sharepoint/v3/contenttype/forms"/>
  </ds:schemaRefs>
</ds:datastoreItem>
</file>

<file path=customXml/itemProps2.xml><?xml version="1.0" encoding="utf-8"?>
<ds:datastoreItem xmlns:ds="http://schemas.openxmlformats.org/officeDocument/2006/customXml" ds:itemID="{F7E70FC5-1855-47AB-8CE1-CB3C873A8988}">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5560E646-30AD-4BA0-97EA-A7A07DF5499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{577E2585-6C44-4861-8299-3E266CE582FB}tf11665031_win32</Template>
  <TotalTime>384</TotalTime>
  <Words>972</Words>
  <Application>Microsoft Office PowerPoint</Application>
  <PresentationFormat>Widescreen</PresentationFormat>
  <Paragraphs>120</Paragraphs>
  <Slides>18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Arial</vt:lpstr>
      <vt:lpstr>Arial Nova</vt:lpstr>
      <vt:lpstr>Arial Nova Light</vt:lpstr>
      <vt:lpstr>fkGrotesk</vt:lpstr>
      <vt:lpstr>fkGroteskNeue</vt:lpstr>
      <vt:lpstr>Wingdings 2</vt:lpstr>
      <vt:lpstr>SlateVTI</vt:lpstr>
      <vt:lpstr>BackEnd</vt:lpstr>
      <vt:lpstr>PowerPoint Presentation</vt:lpstr>
      <vt:lpstr>Object</vt:lpstr>
      <vt:lpstr>CallBack</vt:lpstr>
      <vt:lpstr>Promise</vt:lpstr>
      <vt:lpstr>CallBack Hell</vt:lpstr>
      <vt:lpstr>asynchronous programming</vt:lpstr>
      <vt:lpstr>JavaScript Engine Architecture </vt:lpstr>
      <vt:lpstr>Currying</vt:lpstr>
      <vt:lpstr>COMMON JS MODULE PATTERN </vt:lpstr>
      <vt:lpstr>Data</vt:lpstr>
      <vt:lpstr>How to access data from Request Body of HTTP request </vt:lpstr>
      <vt:lpstr>PowerPoint Presentation</vt:lpstr>
      <vt:lpstr>Letz create a html file and read that content and display in server. </vt:lpstr>
      <vt:lpstr>PowerPoint Presentation</vt:lpstr>
      <vt:lpstr>Manage and Create Http Request Manage and Create Http Response   </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Jhana Karthik</dc:creator>
  <cp:lastModifiedBy>Jhana Karthik</cp:lastModifiedBy>
  <cp:revision>38</cp:revision>
  <dcterms:created xsi:type="dcterms:W3CDTF">2025-11-11T14:15:00Z</dcterms:created>
  <dcterms:modified xsi:type="dcterms:W3CDTF">2025-11-13T15:11:23Z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