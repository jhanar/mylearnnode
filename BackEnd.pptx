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8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7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0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3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8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0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92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09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5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44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 useBgFill="1">
        <p:nvSpPr>
          <p:cNvPr id="96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/>
              <a:t>BackEnd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7306" y="4157933"/>
            <a:ext cx="4100417" cy="1026544"/>
          </a:xfrm>
        </p:spPr>
        <p:txBody>
          <a:bodyPr>
            <a:normAutofit/>
          </a:bodyPr>
          <a:lstStyle/>
          <a:p>
            <a:pPr algn="l"/>
            <a:r>
              <a:rPr lang="en-US" dirty="0" err="1">
                <a:solidFill>
                  <a:srgbClr val="5792BA"/>
                </a:solidFill>
              </a:rPr>
              <a:t>NodeJs</a:t>
            </a:r>
            <a:r>
              <a:rPr lang="en-US" dirty="0">
                <a:solidFill>
                  <a:srgbClr val="5792BA"/>
                </a:solidFill>
              </a:rPr>
              <a:t>, </a:t>
            </a:r>
            <a:r>
              <a:rPr lang="en-US" dirty="0" err="1">
                <a:solidFill>
                  <a:srgbClr val="5792BA"/>
                </a:solidFill>
              </a:rPr>
              <a:t>ExpressJs</a:t>
            </a:r>
            <a:r>
              <a:rPr lang="en-US" dirty="0">
                <a:solidFill>
                  <a:srgbClr val="5792BA"/>
                </a:solidFill>
              </a:rPr>
              <a:t>, MongoDB</a:t>
            </a:r>
            <a:endParaRPr lang="en-US" sz="2300" dirty="0">
              <a:solidFill>
                <a:srgbClr val="5792B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38E1CD2-DC64-76E7-D468-CDF585740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8" y="174625"/>
            <a:ext cx="11196637" cy="5616575"/>
          </a:xfrm>
        </p:spPr>
        <p:txBody>
          <a:bodyPr/>
          <a:lstStyle/>
          <a:p>
            <a:pPr>
              <a:buNone/>
            </a:pPr>
            <a:r>
              <a:rPr lang="en-IN" dirty="0">
                <a:effectLst/>
                <a:latin typeface="fkGrotesk"/>
              </a:rPr>
              <a:t>Refresh JavaScript Concept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fkGroteskNeue"/>
              </a:rPr>
              <a:t>object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fkGroteskNeue"/>
              </a:rPr>
              <a:t>callback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fkGroteskNeue"/>
              </a:rPr>
              <a:t>promises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fkGroteskNeue"/>
              </a:rPr>
              <a:t>callback hell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fkGroteskNeue"/>
              </a:rPr>
              <a:t>asynchronous programming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effectLst/>
                <a:latin typeface="fkGroteskNeue"/>
              </a:rPr>
              <a:t>JavaScript Engine Architecture</a:t>
            </a:r>
          </a:p>
        </p:txBody>
      </p:sp>
    </p:spTree>
    <p:extLst>
      <p:ext uri="{BB962C8B-B14F-4D97-AF65-F5344CB8AC3E}">
        <p14:creationId xmlns:p14="http://schemas.microsoft.com/office/powerpoint/2010/main" val="2455105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44C5F-CC7C-BC68-08D2-B620AF901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5BD4E-DB46-E258-486D-065FADE51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IN" sz="4000" dirty="0">
                <a:solidFill>
                  <a:schemeClr val="tx1">
                    <a:lumMod val="95000"/>
                  </a:schemeClr>
                </a:solidFill>
                <a:effectLst/>
                <a:latin typeface="fkGroteskNeue"/>
              </a:rPr>
              <a:t>O</a:t>
            </a:r>
            <a:r>
              <a:rPr lang="en-US" sz="2400" dirty="0" err="1"/>
              <a:t>bject</a:t>
            </a:r>
            <a:r>
              <a:rPr lang="en-US" sz="2400" dirty="0"/>
              <a:t> is a pattern to store and manage the data</a:t>
            </a:r>
          </a:p>
          <a:p>
            <a:pPr lvl="1"/>
            <a:r>
              <a:rPr lang="en-US" sz="2400" dirty="0"/>
              <a:t>property format (key value pair format)</a:t>
            </a:r>
          </a:p>
          <a:p>
            <a:pPr lvl="1"/>
            <a:r>
              <a:rPr lang="en-US" sz="2400" dirty="0"/>
              <a:t>access, insert, update, remove ✔️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endParaRPr lang="en-IN" dirty="0">
              <a:effectLst/>
              <a:latin typeface="fkGroteskNeu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3039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21309-F66B-9F35-A6EF-F63930B71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CallBack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1658D-1BF0-1904-65B1-D003D7834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791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9DE5-D3CE-7339-D9D5-A645EA020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BABA9-B87A-CD10-F53E-0EAFE4D05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50B20-2D4C-BEF9-F84B-91C33A2B7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6344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F08B9-3C6C-4E17-3E91-6324A8688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CallBack</a:t>
            </a:r>
            <a:r>
              <a:rPr lang="en-IN" dirty="0"/>
              <a:t> 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79AF4-9AFA-D4EF-1770-2B1C0E4A7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058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3D0CF-60A2-B7C8-663C-8F705A229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D3CD42-E0FE-5F39-906A-6688B6C150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873535"/>
            <a:ext cx="10353675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dirty="0">
                <a:effectLst/>
                <a:latin typeface="fkGroteskNeue"/>
              </a:rPr>
              <a:t>asynchronous programming</a:t>
            </a:r>
          </a:p>
        </p:txBody>
      </p:sp>
    </p:spTree>
    <p:extLst>
      <p:ext uri="{BB962C8B-B14F-4D97-AF65-F5344CB8AC3E}">
        <p14:creationId xmlns:p14="http://schemas.microsoft.com/office/powerpoint/2010/main" val="3530850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898FC-C3EF-C392-789F-9CA9F8CED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effectLst/>
                <a:latin typeface="fkGroteskNeue"/>
              </a:rPr>
              <a:t>JavaScript Engine Architecture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9E571-D3AC-36D7-C1C4-DDB1CD129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18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939F3-A1A3-9FD0-812F-12C225642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9ED3BA-F861-1157-167B-15A3A339D0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873535"/>
            <a:ext cx="10353675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dirty="0"/>
              <a:t>Currying</a:t>
            </a:r>
          </a:p>
        </p:txBody>
      </p:sp>
    </p:spTree>
    <p:extLst>
      <p:ext uri="{BB962C8B-B14F-4D97-AF65-F5344CB8AC3E}">
        <p14:creationId xmlns:p14="http://schemas.microsoft.com/office/powerpoint/2010/main" val="38211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20E1C-0DD7-2657-3688-77AB2D388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  <a:latin typeface="fkGroteskNeue"/>
              </a:rPr>
              <a:t>COMMON JS MODULE PATTERN</a:t>
            </a:r>
            <a:br>
              <a:rPr lang="en-US" dirty="0">
                <a:effectLst/>
                <a:latin typeface="fkGroteskNeu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9DE98-1EBB-3C7C-2C9C-22E1D830A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99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FF7C7-191E-059B-0D22-CE43C649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fkGroteskNeue"/>
              </a:rPr>
              <a:t>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35814-93ED-758A-9956-5CFF1CF3E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994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E2F8E-8E09-D940-B3D5-2CD5EBCDD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96" y="98462"/>
            <a:ext cx="10353762" cy="746589"/>
          </a:xfrm>
        </p:spPr>
        <p:txBody>
          <a:bodyPr>
            <a:normAutofit fontScale="90000"/>
          </a:bodyPr>
          <a:lstStyle/>
          <a:p>
            <a:pPr algn="l"/>
            <a:r>
              <a:rPr lang="en-US" sz="3100" dirty="0"/>
              <a:t>How to access data from Request Body of HTTP request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46A0E-B75E-D71A-1EC0-C1E048EBE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80" y="534256"/>
            <a:ext cx="11945420" cy="6102850"/>
          </a:xfrm>
        </p:spPr>
        <p:txBody>
          <a:bodyPr/>
          <a:lstStyle/>
          <a:p>
            <a:r>
              <a:rPr lang="en-US" sz="2000" dirty="0"/>
              <a:t>The client can send requests to the backend/server, and these requests hold the data</a:t>
            </a:r>
          </a:p>
          <a:p>
            <a:pPr lvl="8"/>
            <a:endParaRPr lang="en-IN" dirty="0"/>
          </a:p>
          <a:p>
            <a:pPr marL="2877600" lvl="8" indent="0">
              <a:buNone/>
            </a:pPr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fkGroteskNeue"/>
              </a:rPr>
              <a:t>																																																										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96B666-6905-9833-4D54-B1E032E36438}"/>
              </a:ext>
            </a:extLst>
          </p:cNvPr>
          <p:cNvSpPr/>
          <p:nvPr/>
        </p:nvSpPr>
        <p:spPr>
          <a:xfrm>
            <a:off x="193496" y="1181532"/>
            <a:ext cx="2681555" cy="101714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Client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26F032-0435-5BEA-3DB3-C12B5F48D618}"/>
              </a:ext>
            </a:extLst>
          </p:cNvPr>
          <p:cNvSpPr/>
          <p:nvPr/>
        </p:nvSpPr>
        <p:spPr>
          <a:xfrm>
            <a:off x="9138863" y="1145568"/>
            <a:ext cx="2455524" cy="10171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Backend/ Server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0379764-859C-B593-0EB6-B295035B2162}"/>
              </a:ext>
            </a:extLst>
          </p:cNvPr>
          <p:cNvSpPr/>
          <p:nvPr/>
        </p:nvSpPr>
        <p:spPr>
          <a:xfrm>
            <a:off x="2875051" y="1255159"/>
            <a:ext cx="6340868" cy="7465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kGroteskNeue"/>
              </a:rPr>
              <a:t>req (Holds data)</a:t>
            </a:r>
            <a:r>
              <a:rPr lang="en-US" dirty="0">
                <a:solidFill>
                  <a:srgbClr val="00B0F0"/>
                </a:solidFill>
                <a:latin typeface="fkGroteskNeue"/>
              </a:rPr>
              <a:t>	</a:t>
            </a:r>
            <a:endParaRPr lang="en-IN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70E3FE57-AB57-C60B-8919-3C4546FD01B7}"/>
              </a:ext>
            </a:extLst>
          </p:cNvPr>
          <p:cNvSpPr/>
          <p:nvPr/>
        </p:nvSpPr>
        <p:spPr>
          <a:xfrm>
            <a:off x="4822860" y="1870754"/>
            <a:ext cx="2455524" cy="26199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Path</a:t>
            </a:r>
          </a:p>
          <a:p>
            <a:pPr algn="ctr"/>
            <a:r>
              <a:rPr lang="en-IN" dirty="0"/>
              <a:t>Params</a:t>
            </a:r>
            <a:br>
              <a:rPr lang="en-IN" dirty="0"/>
            </a:br>
            <a:r>
              <a:rPr lang="en-IN" dirty="0">
                <a:solidFill>
                  <a:srgbClr val="C00000"/>
                </a:solidFill>
              </a:rPr>
              <a:t>(</a:t>
            </a:r>
            <a:r>
              <a:rPr lang="en-IN" sz="2000" dirty="0">
                <a:solidFill>
                  <a:schemeClr val="accent3">
                    <a:lumMod val="50000"/>
                  </a:schemeClr>
                </a:solidFill>
                <a:latin typeface="fkGroteskNeue"/>
              </a:rPr>
              <a:t>GET, PUT,</a:t>
            </a:r>
          </a:p>
          <a:p>
            <a:pPr algn="ctr"/>
            <a:r>
              <a:rPr lang="en-IN" sz="2000" dirty="0">
                <a:solidFill>
                  <a:schemeClr val="accent3">
                    <a:lumMod val="50000"/>
                  </a:schemeClr>
                </a:solidFill>
                <a:latin typeface="fkGroteskNeue"/>
              </a:rPr>
              <a:t>DELETE</a:t>
            </a:r>
            <a:r>
              <a:rPr lang="en-IN" sz="2000" dirty="0">
                <a:solidFill>
                  <a:srgbClr val="C00000"/>
                </a:solidFill>
                <a:latin typeface="fkGroteskNeue"/>
              </a:rPr>
              <a:t>)</a:t>
            </a: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3903F0BD-074C-AC00-9BB1-FAB49AE5846D}"/>
              </a:ext>
            </a:extLst>
          </p:cNvPr>
          <p:cNvSpPr/>
          <p:nvPr/>
        </p:nvSpPr>
        <p:spPr>
          <a:xfrm>
            <a:off x="865598" y="2718372"/>
            <a:ext cx="3957262" cy="219010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fkGroteskNeue"/>
              </a:rPr>
              <a:t>Request Body(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fkGroteskNeue"/>
              </a:rPr>
              <a:t>Post &amp; Put</a:t>
            </a:r>
            <a:r>
              <a:rPr lang="en-US" sz="2000" dirty="0">
                <a:solidFill>
                  <a:srgbClr val="C00000"/>
                </a:solidFill>
                <a:latin typeface="fkGroteskNeue"/>
              </a:rPr>
              <a:t>)</a:t>
            </a:r>
            <a:endParaRPr lang="en-IN" sz="2000" dirty="0">
              <a:solidFill>
                <a:srgbClr val="C00000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EB4B8D0-A699-F9F7-6AC2-7EF38F530E9B}"/>
              </a:ext>
            </a:extLst>
          </p:cNvPr>
          <p:cNvSpPr/>
          <p:nvPr/>
        </p:nvSpPr>
        <p:spPr>
          <a:xfrm>
            <a:off x="7134546" y="2671709"/>
            <a:ext cx="4382784" cy="22834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Query Param</a:t>
            </a:r>
            <a:r>
              <a:rPr lang="en-IN" dirty="0">
                <a:solidFill>
                  <a:srgbClr val="C00000"/>
                </a:solidFill>
              </a:rPr>
              <a:t>(</a:t>
            </a:r>
            <a:r>
              <a:rPr lang="en-IN" dirty="0">
                <a:solidFill>
                  <a:schemeClr val="accent3">
                    <a:lumMod val="50000"/>
                  </a:schemeClr>
                </a:solidFill>
                <a:latin typeface="fkGroteskNeue"/>
              </a:rPr>
              <a:t>GET, PUT,DELETE</a:t>
            </a:r>
            <a:r>
              <a:rPr lang="en-IN" dirty="0">
                <a:solidFill>
                  <a:srgbClr val="C00000"/>
                </a:solidFill>
                <a:latin typeface="fkGroteskNeue"/>
              </a:rPr>
              <a:t>)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4872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A6043-A388-E844-633A-A8D15516E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51398"/>
          </a:xfrm>
        </p:spPr>
        <p:txBody>
          <a:bodyPr>
            <a:normAutofit/>
          </a:bodyPr>
          <a:lstStyle/>
          <a:p>
            <a:pPr algn="l"/>
            <a:r>
              <a:rPr lang="en-US" sz="2200" dirty="0"/>
              <a:t>How to access the data at backend if the data coming in request body.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9A678-5601-9E1B-1DFF-9D30969C2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37" y="739739"/>
            <a:ext cx="11805007" cy="6118261"/>
          </a:xfrm>
        </p:spPr>
        <p:txBody>
          <a:bodyPr>
            <a:normAutofit fontScale="62500" lnSpcReduction="20000"/>
          </a:bodyPr>
          <a:lstStyle/>
          <a:p>
            <a:pPr marL="36900" indent="0">
              <a:buNone/>
            </a:pPr>
            <a:r>
              <a:rPr lang="en-US" sz="2900" dirty="0">
                <a:solidFill>
                  <a:schemeClr val="accent6">
                    <a:lumMod val="60000"/>
                    <a:lumOff val="40000"/>
                  </a:schemeClr>
                </a:solidFill>
                <a:latin typeface="fkGroteskNeue"/>
              </a:rPr>
              <a:t>1.Create a backend</a:t>
            </a:r>
          </a:p>
          <a:p>
            <a:pPr marL="36900" indent="0">
              <a:buNone/>
            </a:pPr>
            <a:r>
              <a:rPr lang="en-US" sz="2900" dirty="0">
                <a:solidFill>
                  <a:schemeClr val="accent6">
                    <a:lumMod val="60000"/>
                    <a:lumOff val="40000"/>
                  </a:schemeClr>
                </a:solidFill>
                <a:latin typeface="fkGroteskNeue"/>
              </a:rPr>
              <a:t>		we need HTTP SERVER -&gt; require HTTP module-&gt; in order to use this module we need JavaScript file.</a:t>
            </a:r>
            <a:endParaRPr lang="en-US" sz="2900" dirty="0">
              <a:solidFill>
                <a:srgbClr val="002060"/>
              </a:solidFill>
              <a:latin typeface="fkGroteskNeue"/>
            </a:endParaRPr>
          </a:p>
          <a:p>
            <a:pPr marL="36900" indent="0">
              <a:buNone/>
            </a:pPr>
            <a:r>
              <a:rPr lang="en-US" sz="2900" b="1" dirty="0">
                <a:solidFill>
                  <a:srgbClr val="92D050"/>
                </a:solidFill>
                <a:latin typeface="fkGroteskNeue"/>
              </a:rPr>
              <a:t>// Importing the http module from Node.js</a:t>
            </a:r>
          </a:p>
          <a:p>
            <a:pPr marL="36900" indent="0">
              <a:buNone/>
            </a:pPr>
            <a:r>
              <a:rPr lang="en-US" sz="2900" dirty="0">
                <a:solidFill>
                  <a:schemeClr val="accent5">
                    <a:lumMod val="40000"/>
                    <a:lumOff val="60000"/>
                  </a:schemeClr>
                </a:solidFill>
                <a:latin typeface="fkGroteskNeue"/>
              </a:rPr>
              <a:t>const http = require("http");</a:t>
            </a:r>
          </a:p>
          <a:p>
            <a:pPr marL="36900" indent="0">
              <a:buNone/>
            </a:pPr>
            <a:endParaRPr lang="en-US" sz="2900" dirty="0">
              <a:solidFill>
                <a:srgbClr val="002060"/>
              </a:solidFill>
              <a:latin typeface="fkGroteskNeue"/>
            </a:endParaRPr>
          </a:p>
          <a:p>
            <a:pPr marL="36900" indent="0">
              <a:buNone/>
            </a:pPr>
            <a:r>
              <a:rPr lang="en-US" sz="2900" b="1" dirty="0">
                <a:solidFill>
                  <a:srgbClr val="92D050"/>
                </a:solidFill>
                <a:latin typeface="fkGroteskNeue"/>
              </a:rPr>
              <a:t>// The 'http' module returns an object that allows us to call the </a:t>
            </a:r>
            <a:r>
              <a:rPr lang="en-US" sz="2900" b="1" dirty="0" err="1">
                <a:solidFill>
                  <a:srgbClr val="92D050"/>
                </a:solidFill>
                <a:latin typeface="fkGroteskNeue"/>
              </a:rPr>
              <a:t>createServer</a:t>
            </a:r>
            <a:r>
              <a:rPr lang="en-US" sz="2900" b="1" dirty="0">
                <a:solidFill>
                  <a:srgbClr val="92D050"/>
                </a:solidFill>
                <a:latin typeface="fkGroteskNeue"/>
              </a:rPr>
              <a:t>() function.</a:t>
            </a:r>
          </a:p>
          <a:p>
            <a:pPr marL="36900" indent="0">
              <a:buNone/>
            </a:pPr>
            <a:r>
              <a:rPr lang="en-US" sz="2900" b="1" dirty="0">
                <a:solidFill>
                  <a:srgbClr val="92D050"/>
                </a:solidFill>
                <a:latin typeface="fkGroteskNeue"/>
              </a:rPr>
              <a:t>// It creates an HTTP server that can handle requests with a callback function (req, res).</a:t>
            </a:r>
          </a:p>
          <a:p>
            <a:pPr marL="36900" indent="0">
              <a:buNone/>
            </a:pPr>
            <a:r>
              <a:rPr lang="en-US" sz="2900" dirty="0">
                <a:solidFill>
                  <a:schemeClr val="accent6">
                    <a:lumMod val="60000"/>
                    <a:lumOff val="40000"/>
                  </a:schemeClr>
                </a:solidFill>
                <a:latin typeface="fkGroteskNeue"/>
              </a:rPr>
              <a:t>const server = </a:t>
            </a:r>
            <a:r>
              <a:rPr lang="en-US" sz="29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fkGroteskNeue"/>
              </a:rPr>
              <a:t>http.createServer</a:t>
            </a:r>
            <a:r>
              <a:rPr lang="en-US" sz="2900" dirty="0">
                <a:solidFill>
                  <a:schemeClr val="accent6">
                    <a:lumMod val="60000"/>
                    <a:lumOff val="40000"/>
                  </a:schemeClr>
                </a:solidFill>
                <a:latin typeface="fkGroteskNeue"/>
              </a:rPr>
              <a:t>((req, res) =&gt; {</a:t>
            </a:r>
          </a:p>
          <a:p>
            <a:pPr marL="36900" indent="0">
              <a:buNone/>
            </a:pPr>
            <a:r>
              <a:rPr lang="en-US" sz="2900" dirty="0">
                <a:solidFill>
                  <a:schemeClr val="accent6">
                    <a:lumMod val="60000"/>
                    <a:lumOff val="40000"/>
                  </a:schemeClr>
                </a:solidFill>
                <a:latin typeface="fkGroteskNeue"/>
              </a:rPr>
              <a:t>  </a:t>
            </a:r>
            <a:r>
              <a:rPr lang="en-US" sz="29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fkGroteskNeue"/>
              </a:rPr>
              <a:t>res.writeHead</a:t>
            </a:r>
            <a:r>
              <a:rPr lang="en-US" sz="2900" dirty="0">
                <a:solidFill>
                  <a:schemeClr val="accent6">
                    <a:lumMod val="60000"/>
                    <a:lumOff val="40000"/>
                  </a:schemeClr>
                </a:solidFill>
                <a:latin typeface="fkGroteskNeue"/>
              </a:rPr>
              <a:t>(200, { "Content-Type": "text/plain" });</a:t>
            </a:r>
          </a:p>
          <a:p>
            <a:pPr marL="36900" indent="0">
              <a:buNone/>
            </a:pPr>
            <a:r>
              <a:rPr lang="en-US" sz="2900" dirty="0">
                <a:solidFill>
                  <a:schemeClr val="accent6">
                    <a:lumMod val="60000"/>
                    <a:lumOff val="40000"/>
                  </a:schemeClr>
                </a:solidFill>
                <a:latin typeface="fkGroteskNeue"/>
              </a:rPr>
              <a:t>  </a:t>
            </a:r>
            <a:r>
              <a:rPr lang="en-US" sz="29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fkGroteskNeue"/>
              </a:rPr>
              <a:t>res.end</a:t>
            </a:r>
            <a:r>
              <a:rPr lang="en-US" sz="2900" dirty="0">
                <a:solidFill>
                  <a:schemeClr val="accent6">
                    <a:lumMod val="60000"/>
                    <a:lumOff val="40000"/>
                  </a:schemeClr>
                </a:solidFill>
                <a:latin typeface="fkGroteskNeue"/>
              </a:rPr>
              <a:t>("Hello, World!");</a:t>
            </a:r>
          </a:p>
          <a:p>
            <a:pPr marL="36900" indent="0">
              <a:buNone/>
            </a:pPr>
            <a:r>
              <a:rPr lang="en-US" sz="2900" dirty="0">
                <a:solidFill>
                  <a:schemeClr val="accent6">
                    <a:lumMod val="60000"/>
                    <a:lumOff val="40000"/>
                  </a:schemeClr>
                </a:solidFill>
                <a:latin typeface="fkGroteskNeue"/>
              </a:rPr>
              <a:t>});</a:t>
            </a:r>
          </a:p>
          <a:p>
            <a:pPr marL="36900" indent="0">
              <a:buNone/>
            </a:pPr>
            <a:endParaRPr lang="en-US" sz="2900" dirty="0">
              <a:solidFill>
                <a:srgbClr val="002060"/>
              </a:solidFill>
              <a:latin typeface="fkGroteskNeue"/>
            </a:endParaRPr>
          </a:p>
          <a:p>
            <a:pPr marL="36900" indent="0">
              <a:buNone/>
            </a:pPr>
            <a:r>
              <a:rPr lang="en-US" sz="2900" b="1" dirty="0">
                <a:solidFill>
                  <a:srgbClr val="92D050"/>
                </a:solidFill>
                <a:latin typeface="fkGroteskNeue"/>
              </a:rPr>
              <a:t>// The server object has a listen() function that takes two parameters: port and callback.</a:t>
            </a:r>
          </a:p>
          <a:p>
            <a:pPr marL="36900" indent="0">
              <a:buNone/>
            </a:pPr>
            <a:r>
              <a:rPr lang="en-US" sz="29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fkGroteskNeue"/>
              </a:rPr>
              <a:t>server.listen</a:t>
            </a:r>
            <a:r>
              <a:rPr lang="en-US" sz="2900" dirty="0">
                <a:solidFill>
                  <a:schemeClr val="accent6">
                    <a:lumMod val="60000"/>
                    <a:lumOff val="40000"/>
                  </a:schemeClr>
                </a:solidFill>
                <a:latin typeface="fkGroteskNeue"/>
              </a:rPr>
              <a:t>(3000, () =&gt; {</a:t>
            </a:r>
          </a:p>
          <a:p>
            <a:pPr marL="36900" indent="0">
              <a:buNone/>
            </a:pPr>
            <a:r>
              <a:rPr lang="en-US" sz="2900" dirty="0">
                <a:solidFill>
                  <a:schemeClr val="accent6">
                    <a:lumMod val="60000"/>
                    <a:lumOff val="40000"/>
                  </a:schemeClr>
                </a:solidFill>
                <a:latin typeface="fkGroteskNeue"/>
              </a:rPr>
              <a:t>  console.log("Server started on port 3000");</a:t>
            </a:r>
          </a:p>
          <a:p>
            <a:pPr marL="36900" indent="0">
              <a:buNone/>
            </a:pPr>
            <a:r>
              <a:rPr lang="en-US" sz="2900" dirty="0">
                <a:solidFill>
                  <a:schemeClr val="accent6">
                    <a:lumMod val="60000"/>
                    <a:lumOff val="40000"/>
                  </a:schemeClr>
                </a:solidFill>
                <a:latin typeface="fkGroteskNeue"/>
              </a:rPr>
              <a:t>});</a:t>
            </a:r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2143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909753F3-5E0B-EA09-FD83-53CC16C4A25C}"/>
              </a:ext>
            </a:extLst>
          </p:cNvPr>
          <p:cNvSpPr/>
          <p:nvPr/>
        </p:nvSpPr>
        <p:spPr>
          <a:xfrm>
            <a:off x="570216" y="431514"/>
            <a:ext cx="2404153" cy="1849349"/>
          </a:xfrm>
          <a:prstGeom prst="flowChart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Post Man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client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7CFE758C-B29D-37BA-CD98-7A09346B597E}"/>
              </a:ext>
            </a:extLst>
          </p:cNvPr>
          <p:cNvSpPr/>
          <p:nvPr/>
        </p:nvSpPr>
        <p:spPr>
          <a:xfrm>
            <a:off x="6224428" y="575353"/>
            <a:ext cx="2404153" cy="1849349"/>
          </a:xfrm>
          <a:prstGeom prst="flowChart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http server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F45BB575-5B7E-7E81-161A-7DC17F19B85B}"/>
              </a:ext>
            </a:extLst>
          </p:cNvPr>
          <p:cNvSpPr/>
          <p:nvPr/>
        </p:nvSpPr>
        <p:spPr>
          <a:xfrm>
            <a:off x="8887147" y="65070"/>
            <a:ext cx="2280862" cy="1316804"/>
          </a:xfrm>
          <a:prstGeom prst="flowChart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http server will triggers the callback function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E6AFE11-3DB9-B0FC-D9E2-DB48BA2BA5D2}"/>
              </a:ext>
            </a:extLst>
          </p:cNvPr>
          <p:cNvSpPr/>
          <p:nvPr/>
        </p:nvSpPr>
        <p:spPr>
          <a:xfrm>
            <a:off x="3005191" y="739739"/>
            <a:ext cx="3219237" cy="128427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C00000"/>
                </a:solidFill>
              </a:rPr>
              <a:t>Send request to http server</a:t>
            </a:r>
          </a:p>
        </p:txBody>
      </p:sp>
      <p:sp>
        <p:nvSpPr>
          <p:cNvPr id="11" name="Arrow: Left-Up 10">
            <a:extLst>
              <a:ext uri="{FF2B5EF4-FFF2-40B4-BE49-F238E27FC236}">
                <a16:creationId xmlns:a16="http://schemas.microsoft.com/office/drawing/2014/main" id="{429B5E37-77FA-6C30-AECA-5629DB2E942B}"/>
              </a:ext>
            </a:extLst>
          </p:cNvPr>
          <p:cNvSpPr/>
          <p:nvPr/>
        </p:nvSpPr>
        <p:spPr>
          <a:xfrm>
            <a:off x="2038563" y="1340777"/>
            <a:ext cx="8914543" cy="3092522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From this call back the response will be sent back to client</a:t>
            </a:r>
          </a:p>
        </p:txBody>
      </p:sp>
      <p:sp>
        <p:nvSpPr>
          <p:cNvPr id="12" name="Arrow: Curved Down 11">
            <a:extLst>
              <a:ext uri="{FF2B5EF4-FFF2-40B4-BE49-F238E27FC236}">
                <a16:creationId xmlns:a16="http://schemas.microsoft.com/office/drawing/2014/main" id="{C463BBEA-6733-E8EA-703C-942C9381AFDD}"/>
              </a:ext>
            </a:extLst>
          </p:cNvPr>
          <p:cNvSpPr/>
          <p:nvPr/>
        </p:nvSpPr>
        <p:spPr>
          <a:xfrm>
            <a:off x="7150813" y="65070"/>
            <a:ext cx="1869897" cy="510283"/>
          </a:xfrm>
          <a:prstGeom prst="curved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B42386-9695-7A98-BE5E-0C587D6428D4}"/>
              </a:ext>
            </a:extLst>
          </p:cNvPr>
          <p:cNvSpPr txBox="1"/>
          <p:nvPr/>
        </p:nvSpPr>
        <p:spPr>
          <a:xfrm>
            <a:off x="349321" y="4433299"/>
            <a:ext cx="6146514" cy="226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//importing http module from node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createServer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"Working"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listen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,()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"listening"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656621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776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 Nova">
      <a:majorFont>
        <a:latin typeface="Arial Nova Light"/>
        <a:ea typeface=""/>
        <a:cs typeface=""/>
      </a:majorFont>
      <a:minorFont>
        <a:latin typeface="Arial Nova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{577E2585-6C44-4861-8299-3E266CE582FB}tf11665031_win32</Template>
  <TotalTime>168</TotalTime>
  <Words>441</Words>
  <Application>Microsoft Office PowerPoint</Application>
  <PresentationFormat>Widescreen</PresentationFormat>
  <Paragraphs>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Nova</vt:lpstr>
      <vt:lpstr>Arial Nova Light</vt:lpstr>
      <vt:lpstr>Consolas</vt:lpstr>
      <vt:lpstr>fkGrotesk</vt:lpstr>
      <vt:lpstr>fkGroteskNeue</vt:lpstr>
      <vt:lpstr>Wingdings 2</vt:lpstr>
      <vt:lpstr>SlateVTI</vt:lpstr>
      <vt:lpstr>BackEnd</vt:lpstr>
      <vt:lpstr>PowerPoint Presentation</vt:lpstr>
      <vt:lpstr>Object</vt:lpstr>
      <vt:lpstr>CallBack</vt:lpstr>
      <vt:lpstr>Promise</vt:lpstr>
      <vt:lpstr>CallBack Hell</vt:lpstr>
      <vt:lpstr>asynchronous programming</vt:lpstr>
      <vt:lpstr>JavaScript Engine Architecture </vt:lpstr>
      <vt:lpstr>Currying</vt:lpstr>
      <vt:lpstr>COMMON JS MODULE PATTERN </vt:lpstr>
      <vt:lpstr>Data</vt:lpstr>
      <vt:lpstr>How to access data from Request Body of HTTP request </vt:lpstr>
      <vt:lpstr>How to access the data at backend if the data coming in request body.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Jhana Karthik</dc:creator>
  <cp:lastModifiedBy>Jhana Karthik</cp:lastModifiedBy>
  <cp:revision>4</cp:revision>
  <dcterms:created xsi:type="dcterms:W3CDTF">2025-11-11T14:15:00Z</dcterms:created>
  <dcterms:modified xsi:type="dcterms:W3CDTF">2025-11-11T17:03:55Z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